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6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6256000" cy="9144000"/>
  <p:notesSz cx="9144000" cy="1625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3" Type="http://schemas.openxmlformats.org/officeDocument/2006/relationships/tags" Target="../tags/tag2.xml"/><Relationship Id="rId2" Type="http://schemas.openxmlformats.org/officeDocument/2006/relationships/image" Target="../media/image2.png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jpeg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media.licdn.com/bab076c94521da93f8032e6bca82185286c2629f"/>
          <p:cNvPicPr>
            <a:picLocks noChangeAspect="1"/>
          </p:cNvPicPr>
          <p:nvPr/>
        </p:nvPicPr>
        <p:blipFill>
          <a:blip r:embed="rId1">
            <a:alphaModFix amt="40000"/>
          </a:blip>
          <a:srcRect t="11918" b="11918"/>
          <a:stretch>
            <a:fillRect/>
          </a:stretch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85000"/>
                </a:srgbClr>
              </a:gs>
              <a:gs pos="100000">
                <a:srgbClr val="3D4A5C">
                  <a:alpha val="70000"/>
                </a:srgbClr>
              </a:gs>
            </a:gsLst>
            <a:lin ang="2700000" scaled="1"/>
          </a:gradFill>
        </p:spPr>
      </p:sp>
      <p:sp>
        <p:nvSpPr>
          <p:cNvPr id="4" name="Shape 1"/>
          <p:cNvSpPr/>
          <p:nvPr/>
        </p:nvSpPr>
        <p:spPr>
          <a:xfrm>
            <a:off x="508000" y="508000"/>
            <a:ext cx="50800" cy="812800"/>
          </a:xfrm>
          <a:custGeom>
            <a:avLst/>
            <a:gdLst/>
            <a:ahLst/>
            <a:cxnLst/>
            <a:rect l="l" t="t" r="r" b="b"/>
            <a:pathLst>
              <a:path w="50800" h="812800">
                <a:moveTo>
                  <a:pt x="0" y="0"/>
                </a:moveTo>
                <a:lnTo>
                  <a:pt x="50800" y="0"/>
                </a:lnTo>
                <a:lnTo>
                  <a:pt x="50800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  <a:solidFill>
            <a:srgbClr val="4F9A94"/>
          </a:solidFill>
        </p:spPr>
      </p:sp>
      <p:sp>
        <p:nvSpPr>
          <p:cNvPr id="5" name="Text 2"/>
          <p:cNvSpPr/>
          <p:nvPr/>
        </p:nvSpPr>
        <p:spPr>
          <a:xfrm>
            <a:off x="711200" y="558800"/>
            <a:ext cx="40132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kern="0" spc="90" dirty="0">
                <a:solidFill>
                  <a:srgbClr val="4F9A9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DISTRIBUTED DATABASE SYSTEM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8000" y="2946488"/>
            <a:ext cx="15697200" cy="3429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kern="0" spc="-180" dirty="0">
                <a:solidFill>
                  <a:srgbClr val="E5E7E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异构多活分布式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200" b="1" kern="0" spc="-180" dirty="0">
                <a:solidFill>
                  <a:srgbClr val="4F9A9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数据库同步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200" b="1" kern="0" spc="-180" dirty="0">
                <a:solidFill>
                  <a:srgbClr val="E5E7E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与冲突处理系统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08000" y="6781888"/>
            <a:ext cx="1625600" cy="76200"/>
          </a:xfrm>
          <a:custGeom>
            <a:avLst/>
            <a:gdLst/>
            <a:ahLst/>
            <a:cxnLst/>
            <a:rect l="l" t="t" r="r" b="b"/>
            <a:pathLst>
              <a:path w="1625600" h="76200">
                <a:moveTo>
                  <a:pt x="0" y="0"/>
                </a:moveTo>
                <a:lnTo>
                  <a:pt x="1625600" y="0"/>
                </a:lnTo>
                <a:lnTo>
                  <a:pt x="16256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4F9A94"/>
          </a:solidFill>
        </p:spPr>
      </p:sp>
      <p:sp>
        <p:nvSpPr>
          <p:cNvPr id="9" name="Text 6"/>
          <p:cNvSpPr/>
          <p:nvPr/>
        </p:nvSpPr>
        <p:spPr>
          <a:xfrm>
            <a:off x="508000" y="7264488"/>
            <a:ext cx="153924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E5E7EB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基于 MySQL + MariaDB + PostgreSQL 的三库联动实现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54038" y="79375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00013" y="110728"/>
                </a:moveTo>
                <a:cubicBezTo>
                  <a:pt x="129583" y="110728"/>
                  <a:pt x="153591" y="86721"/>
                  <a:pt x="153591" y="57150"/>
                </a:cubicBezTo>
                <a:cubicBezTo>
                  <a:pt x="153591" y="27579"/>
                  <a:pt x="129583" y="3572"/>
                  <a:pt x="100013" y="3572"/>
                </a:cubicBezTo>
                <a:cubicBezTo>
                  <a:pt x="70442" y="3572"/>
                  <a:pt x="46434" y="27579"/>
                  <a:pt x="46434" y="57150"/>
                </a:cubicBezTo>
                <a:cubicBezTo>
                  <a:pt x="46434" y="86721"/>
                  <a:pt x="70442" y="110728"/>
                  <a:pt x="100012" y="110728"/>
                </a:cubicBezTo>
                <a:close/>
                <a:moveTo>
                  <a:pt x="86752" y="135731"/>
                </a:moveTo>
                <a:cubicBezTo>
                  <a:pt x="42773" y="135731"/>
                  <a:pt x="7144" y="171361"/>
                  <a:pt x="7144" y="215339"/>
                </a:cubicBezTo>
                <a:cubicBezTo>
                  <a:pt x="7144" y="222662"/>
                  <a:pt x="13082" y="228600"/>
                  <a:pt x="20404" y="228600"/>
                </a:cubicBezTo>
                <a:lnTo>
                  <a:pt x="179621" y="228600"/>
                </a:lnTo>
                <a:cubicBezTo>
                  <a:pt x="186943" y="228600"/>
                  <a:pt x="192881" y="222662"/>
                  <a:pt x="192881" y="215339"/>
                </a:cubicBezTo>
                <a:cubicBezTo>
                  <a:pt x="192881" y="171361"/>
                  <a:pt x="157252" y="135731"/>
                  <a:pt x="113273" y="135731"/>
                </a:cubicBezTo>
                <a:lnTo>
                  <a:pt x="86752" y="135731"/>
                </a:lnTo>
                <a:close/>
              </a:path>
            </a:pathLst>
          </a:custGeom>
          <a:solidFill>
            <a:srgbClr val="4F9A94"/>
          </a:solidFill>
        </p:spPr>
      </p:sp>
      <p:sp>
        <p:nvSpPr>
          <p:cNvPr id="11" name="Text 8"/>
          <p:cNvSpPr/>
          <p:nvPr/>
        </p:nvSpPr>
        <p:spPr>
          <a:xfrm>
            <a:off x="895350" y="7874000"/>
            <a:ext cx="171958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6B728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汇报人：</a:t>
            </a:r>
            <a:r>
              <a:rPr lang="zh-CN" altLang="en-US" sz="1800" dirty="0">
                <a:solidFill>
                  <a:srgbClr val="6B728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刘晨杰</a:t>
            </a:r>
            <a:endParaRPr lang="zh-CN" altLang="en-US" sz="1800" dirty="0">
              <a:solidFill>
                <a:srgbClr val="6B7280"/>
              </a:solidFill>
              <a:latin typeface="MiSans" panose="00000500000000000000" pitchFamily="34" charset="-122"/>
              <a:ea typeface="MiSans" panose="00000500000000000000" pitchFamily="34" charset="-122"/>
              <a:cs typeface="MiSans" panose="00000500000000000000" pitchFamily="34" charset="-12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2646627" y="793750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57150" y="42863"/>
                </a:moveTo>
                <a:cubicBezTo>
                  <a:pt x="57150" y="27102"/>
                  <a:pt x="69964" y="14288"/>
                  <a:pt x="85725" y="14288"/>
                </a:cubicBezTo>
                <a:lnTo>
                  <a:pt x="242888" y="14288"/>
                </a:lnTo>
                <a:cubicBezTo>
                  <a:pt x="258648" y="14288"/>
                  <a:pt x="271463" y="27102"/>
                  <a:pt x="271463" y="42863"/>
                </a:cubicBezTo>
                <a:lnTo>
                  <a:pt x="271463" y="150019"/>
                </a:lnTo>
                <a:lnTo>
                  <a:pt x="228600" y="150019"/>
                </a:lnTo>
                <a:lnTo>
                  <a:pt x="228600" y="142875"/>
                </a:lnTo>
                <a:cubicBezTo>
                  <a:pt x="228600" y="134972"/>
                  <a:pt x="222215" y="128588"/>
                  <a:pt x="214313" y="128588"/>
                </a:cubicBezTo>
                <a:lnTo>
                  <a:pt x="185738" y="128588"/>
                </a:lnTo>
                <a:cubicBezTo>
                  <a:pt x="177835" y="128588"/>
                  <a:pt x="171450" y="134972"/>
                  <a:pt x="171450" y="142875"/>
                </a:cubicBezTo>
                <a:lnTo>
                  <a:pt x="171450" y="150019"/>
                </a:lnTo>
                <a:lnTo>
                  <a:pt x="113809" y="150019"/>
                </a:lnTo>
                <a:cubicBezTo>
                  <a:pt x="118676" y="141625"/>
                  <a:pt x="121444" y="131847"/>
                  <a:pt x="121444" y="121444"/>
                </a:cubicBezTo>
                <a:cubicBezTo>
                  <a:pt x="121444" y="89877"/>
                  <a:pt x="95860" y="64294"/>
                  <a:pt x="64294" y="64294"/>
                </a:cubicBezTo>
                <a:cubicBezTo>
                  <a:pt x="61883" y="64294"/>
                  <a:pt x="59472" y="64428"/>
                  <a:pt x="57150" y="64740"/>
                </a:cubicBezTo>
                <a:lnTo>
                  <a:pt x="57150" y="42863"/>
                </a:lnTo>
                <a:close/>
                <a:moveTo>
                  <a:pt x="148679" y="200025"/>
                </a:moveTo>
                <a:cubicBezTo>
                  <a:pt x="146402" y="189220"/>
                  <a:pt x="141402" y="179442"/>
                  <a:pt x="134347" y="171450"/>
                </a:cubicBezTo>
                <a:lnTo>
                  <a:pt x="271463" y="171450"/>
                </a:lnTo>
                <a:cubicBezTo>
                  <a:pt x="271463" y="187211"/>
                  <a:pt x="258648" y="200025"/>
                  <a:pt x="242888" y="200025"/>
                </a:cubicBezTo>
                <a:lnTo>
                  <a:pt x="148679" y="200025"/>
                </a:lnTo>
                <a:close/>
                <a:moveTo>
                  <a:pt x="28575" y="121444"/>
                </a:moveTo>
                <a:cubicBezTo>
                  <a:pt x="28575" y="101730"/>
                  <a:pt x="44580" y="85725"/>
                  <a:pt x="64294" y="85725"/>
                </a:cubicBezTo>
                <a:cubicBezTo>
                  <a:pt x="84007" y="85725"/>
                  <a:pt x="100013" y="101730"/>
                  <a:pt x="100013" y="121444"/>
                </a:cubicBezTo>
                <a:cubicBezTo>
                  <a:pt x="100013" y="141157"/>
                  <a:pt x="84007" y="157163"/>
                  <a:pt x="64294" y="157163"/>
                </a:cubicBezTo>
                <a:cubicBezTo>
                  <a:pt x="44580" y="157163"/>
                  <a:pt x="28575" y="141157"/>
                  <a:pt x="28575" y="121444"/>
                </a:cubicBezTo>
                <a:close/>
                <a:moveTo>
                  <a:pt x="0" y="214313"/>
                </a:moveTo>
                <a:cubicBezTo>
                  <a:pt x="0" y="190649"/>
                  <a:pt x="19199" y="171450"/>
                  <a:pt x="42863" y="171450"/>
                </a:cubicBezTo>
                <a:lnTo>
                  <a:pt x="85725" y="171450"/>
                </a:lnTo>
                <a:cubicBezTo>
                  <a:pt x="109389" y="171450"/>
                  <a:pt x="128588" y="190649"/>
                  <a:pt x="128588" y="214313"/>
                </a:cubicBezTo>
                <a:cubicBezTo>
                  <a:pt x="128588" y="222215"/>
                  <a:pt x="122203" y="228600"/>
                  <a:pt x="114300" y="228600"/>
                </a:cubicBezTo>
                <a:lnTo>
                  <a:pt x="14288" y="228600"/>
                </a:lnTo>
                <a:cubicBezTo>
                  <a:pt x="6385" y="228600"/>
                  <a:pt x="0" y="222215"/>
                  <a:pt x="0" y="214313"/>
                </a:cubicBezTo>
                <a:close/>
              </a:path>
            </a:pathLst>
          </a:custGeom>
          <a:solidFill>
            <a:srgbClr val="4F9A94"/>
          </a:solidFill>
        </p:spPr>
      </p:sp>
      <p:sp>
        <p:nvSpPr>
          <p:cNvPr id="13" name="Text 10"/>
          <p:cNvSpPr/>
          <p:nvPr/>
        </p:nvSpPr>
        <p:spPr>
          <a:xfrm>
            <a:off x="3030802" y="7874000"/>
            <a:ext cx="16891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6B728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指导老师：</a:t>
            </a:r>
            <a:r>
              <a:rPr lang="zh-CN" altLang="en-US" sz="1800" dirty="0">
                <a:solidFill>
                  <a:srgbClr val="6B728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盛羽</a:t>
            </a:r>
            <a:endParaRPr lang="zh-CN" altLang="en-US" sz="1800" dirty="0">
              <a:solidFill>
                <a:srgbClr val="6B7280"/>
              </a:solidFill>
              <a:latin typeface="MiSans" panose="00000500000000000000" pitchFamily="34" charset="-122"/>
              <a:ea typeface="MiSans" panose="00000500000000000000" pitchFamily="34" charset="-122"/>
              <a:cs typeface="MiSans" panose="00000500000000000000" pitchFamily="34" charset="-12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5053542" y="79375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57150" y="0"/>
                </a:moveTo>
                <a:cubicBezTo>
                  <a:pt x="65053" y="0"/>
                  <a:pt x="71438" y="6385"/>
                  <a:pt x="71438" y="14288"/>
                </a:cubicBezTo>
                <a:lnTo>
                  <a:pt x="71438" y="28575"/>
                </a:lnTo>
                <a:lnTo>
                  <a:pt x="128588" y="28575"/>
                </a:lnTo>
                <a:lnTo>
                  <a:pt x="128588" y="14288"/>
                </a:lnTo>
                <a:cubicBezTo>
                  <a:pt x="128588" y="6385"/>
                  <a:pt x="134972" y="0"/>
                  <a:pt x="142875" y="0"/>
                </a:cubicBezTo>
                <a:cubicBezTo>
                  <a:pt x="150778" y="0"/>
                  <a:pt x="157163" y="6385"/>
                  <a:pt x="157163" y="14288"/>
                </a:cubicBezTo>
                <a:lnTo>
                  <a:pt x="157163" y="28575"/>
                </a:lnTo>
                <a:lnTo>
                  <a:pt x="171450" y="28575"/>
                </a:lnTo>
                <a:cubicBezTo>
                  <a:pt x="187211" y="28575"/>
                  <a:pt x="200025" y="41389"/>
                  <a:pt x="200025" y="57150"/>
                </a:cubicBezTo>
                <a:lnTo>
                  <a:pt x="200025" y="185738"/>
                </a:lnTo>
                <a:cubicBezTo>
                  <a:pt x="200025" y="201498"/>
                  <a:pt x="187211" y="214313"/>
                  <a:pt x="171450" y="214313"/>
                </a:cubicBezTo>
                <a:lnTo>
                  <a:pt x="28575" y="214313"/>
                </a:lnTo>
                <a:cubicBezTo>
                  <a:pt x="12814" y="214313"/>
                  <a:pt x="0" y="201498"/>
                  <a:pt x="0" y="185738"/>
                </a:cubicBezTo>
                <a:lnTo>
                  <a:pt x="0" y="57150"/>
                </a:lnTo>
                <a:cubicBezTo>
                  <a:pt x="0" y="41389"/>
                  <a:pt x="12814" y="28575"/>
                  <a:pt x="28575" y="28575"/>
                </a:cubicBezTo>
                <a:lnTo>
                  <a:pt x="42863" y="28575"/>
                </a:lnTo>
                <a:lnTo>
                  <a:pt x="42863" y="14288"/>
                </a:lnTo>
                <a:cubicBezTo>
                  <a:pt x="42863" y="6385"/>
                  <a:pt x="49247" y="0"/>
                  <a:pt x="57150" y="0"/>
                </a:cubicBezTo>
                <a:close/>
                <a:moveTo>
                  <a:pt x="28575" y="107156"/>
                </a:moveTo>
                <a:lnTo>
                  <a:pt x="28575" y="121444"/>
                </a:lnTo>
                <a:cubicBezTo>
                  <a:pt x="28575" y="125373"/>
                  <a:pt x="31790" y="128588"/>
                  <a:pt x="35719" y="128588"/>
                </a:cubicBezTo>
                <a:lnTo>
                  <a:pt x="50006" y="128588"/>
                </a:lnTo>
                <a:cubicBezTo>
                  <a:pt x="53935" y="128588"/>
                  <a:pt x="57150" y="125373"/>
                  <a:pt x="57150" y="121444"/>
                </a:cubicBezTo>
                <a:lnTo>
                  <a:pt x="57150" y="107156"/>
                </a:lnTo>
                <a:cubicBezTo>
                  <a:pt x="57150" y="103227"/>
                  <a:pt x="53935" y="100013"/>
                  <a:pt x="50006" y="100013"/>
                </a:cubicBezTo>
                <a:lnTo>
                  <a:pt x="35719" y="100013"/>
                </a:lnTo>
                <a:cubicBezTo>
                  <a:pt x="31790" y="100013"/>
                  <a:pt x="28575" y="103227"/>
                  <a:pt x="28575" y="107156"/>
                </a:cubicBezTo>
                <a:close/>
                <a:moveTo>
                  <a:pt x="85725" y="107156"/>
                </a:moveTo>
                <a:lnTo>
                  <a:pt x="85725" y="121444"/>
                </a:lnTo>
                <a:cubicBezTo>
                  <a:pt x="85725" y="125373"/>
                  <a:pt x="88940" y="128588"/>
                  <a:pt x="92869" y="128588"/>
                </a:cubicBezTo>
                <a:lnTo>
                  <a:pt x="107156" y="128588"/>
                </a:lnTo>
                <a:cubicBezTo>
                  <a:pt x="111085" y="128588"/>
                  <a:pt x="114300" y="125373"/>
                  <a:pt x="114300" y="121444"/>
                </a:cubicBezTo>
                <a:lnTo>
                  <a:pt x="114300" y="107156"/>
                </a:lnTo>
                <a:cubicBezTo>
                  <a:pt x="114300" y="103227"/>
                  <a:pt x="111085" y="100013"/>
                  <a:pt x="107156" y="100013"/>
                </a:cubicBezTo>
                <a:lnTo>
                  <a:pt x="92869" y="100013"/>
                </a:lnTo>
                <a:cubicBezTo>
                  <a:pt x="88940" y="100013"/>
                  <a:pt x="85725" y="103227"/>
                  <a:pt x="85725" y="107156"/>
                </a:cubicBezTo>
                <a:close/>
                <a:moveTo>
                  <a:pt x="150019" y="100013"/>
                </a:moveTo>
                <a:cubicBezTo>
                  <a:pt x="146090" y="100013"/>
                  <a:pt x="142875" y="103227"/>
                  <a:pt x="142875" y="107156"/>
                </a:cubicBezTo>
                <a:lnTo>
                  <a:pt x="142875" y="121444"/>
                </a:lnTo>
                <a:cubicBezTo>
                  <a:pt x="142875" y="125373"/>
                  <a:pt x="146090" y="128588"/>
                  <a:pt x="150019" y="128588"/>
                </a:cubicBezTo>
                <a:lnTo>
                  <a:pt x="164306" y="128588"/>
                </a:lnTo>
                <a:cubicBezTo>
                  <a:pt x="168235" y="128588"/>
                  <a:pt x="171450" y="125373"/>
                  <a:pt x="171450" y="121444"/>
                </a:cubicBezTo>
                <a:lnTo>
                  <a:pt x="171450" y="107156"/>
                </a:lnTo>
                <a:cubicBezTo>
                  <a:pt x="171450" y="103227"/>
                  <a:pt x="168235" y="100013"/>
                  <a:pt x="164306" y="100013"/>
                </a:cubicBezTo>
                <a:lnTo>
                  <a:pt x="150019" y="100013"/>
                </a:lnTo>
                <a:close/>
                <a:moveTo>
                  <a:pt x="28575" y="164306"/>
                </a:moveTo>
                <a:lnTo>
                  <a:pt x="28575" y="178594"/>
                </a:lnTo>
                <a:cubicBezTo>
                  <a:pt x="28575" y="182523"/>
                  <a:pt x="31790" y="185738"/>
                  <a:pt x="35719" y="185738"/>
                </a:cubicBezTo>
                <a:lnTo>
                  <a:pt x="50006" y="185738"/>
                </a:lnTo>
                <a:cubicBezTo>
                  <a:pt x="53935" y="185738"/>
                  <a:pt x="57150" y="182523"/>
                  <a:pt x="57150" y="178594"/>
                </a:cubicBezTo>
                <a:lnTo>
                  <a:pt x="57150" y="164306"/>
                </a:lnTo>
                <a:cubicBezTo>
                  <a:pt x="57150" y="160377"/>
                  <a:pt x="53935" y="157163"/>
                  <a:pt x="50006" y="157163"/>
                </a:cubicBezTo>
                <a:lnTo>
                  <a:pt x="35719" y="157163"/>
                </a:lnTo>
                <a:cubicBezTo>
                  <a:pt x="31790" y="157163"/>
                  <a:pt x="28575" y="160377"/>
                  <a:pt x="28575" y="164306"/>
                </a:cubicBezTo>
                <a:close/>
                <a:moveTo>
                  <a:pt x="92869" y="157163"/>
                </a:moveTo>
                <a:cubicBezTo>
                  <a:pt x="88940" y="157163"/>
                  <a:pt x="85725" y="160377"/>
                  <a:pt x="85725" y="164306"/>
                </a:cubicBezTo>
                <a:lnTo>
                  <a:pt x="85725" y="178594"/>
                </a:lnTo>
                <a:cubicBezTo>
                  <a:pt x="85725" y="182523"/>
                  <a:pt x="88940" y="185738"/>
                  <a:pt x="92869" y="185738"/>
                </a:cubicBezTo>
                <a:lnTo>
                  <a:pt x="107156" y="185738"/>
                </a:lnTo>
                <a:cubicBezTo>
                  <a:pt x="111085" y="185738"/>
                  <a:pt x="114300" y="182523"/>
                  <a:pt x="114300" y="178594"/>
                </a:cubicBezTo>
                <a:lnTo>
                  <a:pt x="114300" y="164306"/>
                </a:lnTo>
                <a:cubicBezTo>
                  <a:pt x="114300" y="160377"/>
                  <a:pt x="111085" y="157163"/>
                  <a:pt x="107156" y="157163"/>
                </a:cubicBezTo>
                <a:lnTo>
                  <a:pt x="92869" y="157163"/>
                </a:lnTo>
                <a:close/>
                <a:moveTo>
                  <a:pt x="142875" y="164306"/>
                </a:moveTo>
                <a:lnTo>
                  <a:pt x="142875" y="178594"/>
                </a:lnTo>
                <a:cubicBezTo>
                  <a:pt x="142875" y="182523"/>
                  <a:pt x="146090" y="185738"/>
                  <a:pt x="150019" y="185738"/>
                </a:cubicBezTo>
                <a:lnTo>
                  <a:pt x="164306" y="185738"/>
                </a:lnTo>
                <a:cubicBezTo>
                  <a:pt x="168235" y="185738"/>
                  <a:pt x="171450" y="182523"/>
                  <a:pt x="171450" y="178594"/>
                </a:cubicBezTo>
                <a:lnTo>
                  <a:pt x="171450" y="164306"/>
                </a:lnTo>
                <a:cubicBezTo>
                  <a:pt x="171450" y="160377"/>
                  <a:pt x="168235" y="157163"/>
                  <a:pt x="164306" y="157163"/>
                </a:cubicBezTo>
                <a:lnTo>
                  <a:pt x="150019" y="157163"/>
                </a:lnTo>
                <a:cubicBezTo>
                  <a:pt x="146090" y="157163"/>
                  <a:pt x="142875" y="160377"/>
                  <a:pt x="142875" y="164306"/>
                </a:cubicBezTo>
                <a:close/>
              </a:path>
            </a:pathLst>
          </a:custGeom>
          <a:solidFill>
            <a:srgbClr val="4F9A94"/>
          </a:solidFill>
        </p:spPr>
      </p:sp>
      <p:sp>
        <p:nvSpPr>
          <p:cNvPr id="15" name="Text 12"/>
          <p:cNvSpPr/>
          <p:nvPr/>
        </p:nvSpPr>
        <p:spPr>
          <a:xfrm>
            <a:off x="5394854" y="7874000"/>
            <a:ext cx="15621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6B728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2025年1月4日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558800"/>
            <a:ext cx="76200" cy="508000"/>
          </a:xfrm>
          <a:custGeom>
            <a:avLst/>
            <a:gdLst/>
            <a:ahLst/>
            <a:cxnLst/>
            <a:rect l="l" t="t" r="r" b="b"/>
            <a:pathLst>
              <a:path w="76200" h="508000">
                <a:moveTo>
                  <a:pt x="0" y="0"/>
                </a:moveTo>
                <a:lnTo>
                  <a:pt x="76200" y="0"/>
                </a:lnTo>
                <a:lnTo>
                  <a:pt x="762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4F9A94"/>
          </a:solidFill>
        </p:spPr>
      </p:sp>
      <p:sp>
        <p:nvSpPr>
          <p:cNvPr id="3" name="Text 1"/>
          <p:cNvSpPr/>
          <p:nvPr/>
        </p:nvSpPr>
        <p:spPr>
          <a:xfrm>
            <a:off x="736600" y="508000"/>
            <a:ext cx="45720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E5E7E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项目背景与目标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12800" y="1219200"/>
            <a:ext cx="150622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6B728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Project Background and Objectives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33400" y="1879600"/>
            <a:ext cx="15214600" cy="1854200"/>
          </a:xfrm>
          <a:custGeom>
            <a:avLst/>
            <a:gdLst/>
            <a:ahLst/>
            <a:cxnLst/>
            <a:rect l="l" t="t" r="r" b="b"/>
            <a:pathLst>
              <a:path w="15214600" h="1854200">
                <a:moveTo>
                  <a:pt x="0" y="0"/>
                </a:moveTo>
                <a:lnTo>
                  <a:pt x="15113008" y="0"/>
                </a:lnTo>
                <a:cubicBezTo>
                  <a:pt x="15169116" y="0"/>
                  <a:pt x="15214600" y="45484"/>
                  <a:pt x="15214600" y="101592"/>
                </a:cubicBezTo>
                <a:lnTo>
                  <a:pt x="15214600" y="1752608"/>
                </a:lnTo>
                <a:cubicBezTo>
                  <a:pt x="15214600" y="1808716"/>
                  <a:pt x="15169116" y="1854200"/>
                  <a:pt x="15113008" y="1854200"/>
                </a:cubicBezTo>
                <a:lnTo>
                  <a:pt x="0" y="1854200"/>
                </a:lnTo>
                <a:lnTo>
                  <a:pt x="0" y="0"/>
                </a:lnTo>
                <a:close/>
              </a:path>
            </a:pathLst>
          </a:custGeom>
          <a:solidFill>
            <a:srgbClr val="3D4A5C">
              <a:alpha val="30196"/>
            </a:srgbClr>
          </a:solidFill>
        </p:spPr>
      </p:sp>
      <p:sp>
        <p:nvSpPr>
          <p:cNvPr id="6" name="Shape 4"/>
          <p:cNvSpPr/>
          <p:nvPr/>
        </p:nvSpPr>
        <p:spPr>
          <a:xfrm>
            <a:off x="533400" y="1879600"/>
            <a:ext cx="50800" cy="1854200"/>
          </a:xfrm>
          <a:custGeom>
            <a:avLst/>
            <a:gdLst/>
            <a:ahLst/>
            <a:cxnLst/>
            <a:rect l="l" t="t" r="r" b="b"/>
            <a:pathLst>
              <a:path w="50800" h="1854200">
                <a:moveTo>
                  <a:pt x="0" y="0"/>
                </a:moveTo>
                <a:lnTo>
                  <a:pt x="50800" y="0"/>
                </a:lnTo>
                <a:lnTo>
                  <a:pt x="50800" y="1854200"/>
                </a:lnTo>
                <a:lnTo>
                  <a:pt x="0" y="1854200"/>
                </a:lnTo>
                <a:lnTo>
                  <a:pt x="0" y="0"/>
                </a:lnTo>
                <a:close/>
              </a:path>
            </a:pathLst>
          </a:custGeom>
          <a:solidFill>
            <a:srgbClr val="4F9A94"/>
          </a:solidFill>
        </p:spPr>
      </p:sp>
      <p:sp>
        <p:nvSpPr>
          <p:cNvPr id="7" name="Shape 5"/>
          <p:cNvSpPr/>
          <p:nvPr/>
        </p:nvSpPr>
        <p:spPr>
          <a:xfrm>
            <a:off x="863600" y="214621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33375" y="190500"/>
                </a:moveTo>
                <a:cubicBezTo>
                  <a:pt x="333375" y="111645"/>
                  <a:pt x="269355" y="47625"/>
                  <a:pt x="190500" y="47625"/>
                </a:cubicBezTo>
                <a:cubicBezTo>
                  <a:pt x="111645" y="47625"/>
                  <a:pt x="47625" y="111645"/>
                  <a:pt x="47625" y="190500"/>
                </a:cubicBezTo>
                <a:cubicBezTo>
                  <a:pt x="47625" y="269355"/>
                  <a:pt x="111645" y="333375"/>
                  <a:pt x="190500" y="333375"/>
                </a:cubicBezTo>
                <a:cubicBezTo>
                  <a:pt x="269355" y="333375"/>
                  <a:pt x="333375" y="269355"/>
                  <a:pt x="333375" y="190500"/>
                </a:cubicBezTo>
                <a:close/>
                <a:moveTo>
                  <a:pt x="0" y="190500"/>
                </a:moveTo>
                <a:cubicBezTo>
                  <a:pt x="0" y="85360"/>
                  <a:pt x="85360" y="0"/>
                  <a:pt x="190500" y="0"/>
                </a:cubicBezTo>
                <a:cubicBezTo>
                  <a:pt x="295640" y="0"/>
                  <a:pt x="381000" y="85360"/>
                  <a:pt x="381000" y="190500"/>
                </a:cubicBezTo>
                <a:cubicBezTo>
                  <a:pt x="381000" y="295640"/>
                  <a:pt x="295640" y="381000"/>
                  <a:pt x="190500" y="381000"/>
                </a:cubicBezTo>
                <a:cubicBezTo>
                  <a:pt x="85360" y="381000"/>
                  <a:pt x="0" y="295640"/>
                  <a:pt x="0" y="190500"/>
                </a:cubicBezTo>
                <a:close/>
                <a:moveTo>
                  <a:pt x="190500" y="250031"/>
                </a:moveTo>
                <a:cubicBezTo>
                  <a:pt x="223356" y="250031"/>
                  <a:pt x="250031" y="223356"/>
                  <a:pt x="250031" y="190500"/>
                </a:cubicBezTo>
                <a:cubicBezTo>
                  <a:pt x="250031" y="157644"/>
                  <a:pt x="223356" y="130969"/>
                  <a:pt x="190500" y="130969"/>
                </a:cubicBezTo>
                <a:cubicBezTo>
                  <a:pt x="157644" y="130969"/>
                  <a:pt x="130969" y="157644"/>
                  <a:pt x="130969" y="190500"/>
                </a:cubicBezTo>
                <a:cubicBezTo>
                  <a:pt x="130969" y="223356"/>
                  <a:pt x="157644" y="250031"/>
                  <a:pt x="190500" y="250031"/>
                </a:cubicBezTo>
                <a:close/>
                <a:moveTo>
                  <a:pt x="190500" y="83344"/>
                </a:moveTo>
                <a:cubicBezTo>
                  <a:pt x="249641" y="83344"/>
                  <a:pt x="297656" y="131359"/>
                  <a:pt x="297656" y="190500"/>
                </a:cubicBezTo>
                <a:cubicBezTo>
                  <a:pt x="297656" y="249641"/>
                  <a:pt x="249641" y="297656"/>
                  <a:pt x="190500" y="297656"/>
                </a:cubicBezTo>
                <a:cubicBezTo>
                  <a:pt x="131359" y="297656"/>
                  <a:pt x="83344" y="249641"/>
                  <a:pt x="83344" y="190500"/>
                </a:cubicBezTo>
                <a:cubicBezTo>
                  <a:pt x="83344" y="131359"/>
                  <a:pt x="131359" y="83344"/>
                  <a:pt x="190500" y="83344"/>
                </a:cubicBezTo>
                <a:close/>
                <a:moveTo>
                  <a:pt x="166688" y="190500"/>
                </a:moveTo>
                <a:cubicBezTo>
                  <a:pt x="166688" y="177358"/>
                  <a:pt x="177358" y="166688"/>
                  <a:pt x="190500" y="166688"/>
                </a:cubicBezTo>
                <a:cubicBezTo>
                  <a:pt x="203642" y="166688"/>
                  <a:pt x="214313" y="177358"/>
                  <a:pt x="214313" y="190500"/>
                </a:cubicBezTo>
                <a:cubicBezTo>
                  <a:pt x="214313" y="203642"/>
                  <a:pt x="203642" y="214313"/>
                  <a:pt x="190500" y="214313"/>
                </a:cubicBezTo>
                <a:cubicBezTo>
                  <a:pt x="177358" y="214313"/>
                  <a:pt x="166688" y="203642"/>
                  <a:pt x="166688" y="190500"/>
                </a:cubicBezTo>
                <a:close/>
              </a:path>
            </a:pathLst>
          </a:custGeom>
          <a:solidFill>
            <a:srgbClr val="4F9A94"/>
          </a:solidFill>
        </p:spPr>
      </p:sp>
      <p:sp>
        <p:nvSpPr>
          <p:cNvPr id="8" name="Text 6"/>
          <p:cNvSpPr/>
          <p:nvPr/>
        </p:nvSpPr>
        <p:spPr>
          <a:xfrm>
            <a:off x="1441450" y="2133600"/>
            <a:ext cx="13716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5E7E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核心目标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12800" y="2793912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4F9A94">
              <a:alpha val="20000"/>
            </a:srgbClr>
          </a:solidFill>
        </p:spPr>
      </p:sp>
      <p:sp>
        <p:nvSpPr>
          <p:cNvPr id="10" name="Text 8"/>
          <p:cNvSpPr/>
          <p:nvPr/>
        </p:nvSpPr>
        <p:spPr>
          <a:xfrm>
            <a:off x="971021" y="2819312"/>
            <a:ext cx="2032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4F9A9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2622550"/>
            <a:ext cx="6991350" cy="749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E5E7EB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实现</a:t>
            </a:r>
            <a:r>
              <a:rPr lang="en-US" sz="1800" b="1" dirty="0">
                <a:solidFill>
                  <a:srgbClr val="4F9A9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异构数据库</a:t>
            </a:r>
            <a:r>
              <a:rPr lang="en-US" sz="1800" dirty="0">
                <a:solidFill>
                  <a:srgbClr val="E5E7EB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（MySQL / MariaDB / PostgreSQL）间的</a:t>
            </a:r>
            <a:r>
              <a:rPr lang="en-US" sz="1800" b="1" dirty="0">
                <a:solidFill>
                  <a:srgbClr val="4F9A9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双向同步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686800" y="2793912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4F9A94">
              <a:alpha val="20000"/>
            </a:srgbClr>
          </a:solidFill>
        </p:spPr>
      </p:sp>
      <p:sp>
        <p:nvSpPr>
          <p:cNvPr id="13" name="Text 11"/>
          <p:cNvSpPr/>
          <p:nvPr/>
        </p:nvSpPr>
        <p:spPr>
          <a:xfrm>
            <a:off x="8825706" y="2819312"/>
            <a:ext cx="2413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4F9A9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380220" y="2793912"/>
            <a:ext cx="4686300" cy="368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E5E7EB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解决</a:t>
            </a:r>
            <a:r>
              <a:rPr lang="en-US" sz="1800" b="1" dirty="0">
                <a:solidFill>
                  <a:srgbClr val="4F9A9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多活架构</a:t>
            </a:r>
            <a:r>
              <a:rPr lang="en-US" sz="1800" dirty="0">
                <a:solidFill>
                  <a:srgbClr val="E5E7EB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下的</a:t>
            </a:r>
            <a:r>
              <a:rPr lang="en-US" sz="1800" b="1" dirty="0">
                <a:solidFill>
                  <a:srgbClr val="4F9A9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数据一致性</a:t>
            </a:r>
            <a:r>
              <a:rPr lang="en-US" sz="1800" dirty="0">
                <a:solidFill>
                  <a:srgbClr val="E5E7EB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与</a:t>
            </a:r>
            <a:r>
              <a:rPr lang="en-US" sz="1800" b="1" dirty="0">
                <a:solidFill>
                  <a:srgbClr val="4F9A9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冲突处理</a:t>
            </a:r>
            <a:r>
              <a:rPr lang="en-US" sz="1800" dirty="0">
                <a:solidFill>
                  <a:srgbClr val="E5E7EB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难题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33400" y="3994062"/>
            <a:ext cx="15214600" cy="1625600"/>
          </a:xfrm>
          <a:custGeom>
            <a:avLst/>
            <a:gdLst/>
            <a:ahLst/>
            <a:cxnLst/>
            <a:rect l="l" t="t" r="r" b="b"/>
            <a:pathLst>
              <a:path w="15214600" h="1625600">
                <a:moveTo>
                  <a:pt x="0" y="0"/>
                </a:moveTo>
                <a:lnTo>
                  <a:pt x="15113000" y="0"/>
                </a:lnTo>
                <a:cubicBezTo>
                  <a:pt x="15169075" y="0"/>
                  <a:pt x="15214600" y="45525"/>
                  <a:pt x="15214600" y="101600"/>
                </a:cubicBezTo>
                <a:lnTo>
                  <a:pt x="15214600" y="1524000"/>
                </a:lnTo>
                <a:cubicBezTo>
                  <a:pt x="15214600" y="1580075"/>
                  <a:pt x="15169075" y="1625600"/>
                  <a:pt x="15113000" y="1625600"/>
                </a:cubicBezTo>
                <a:lnTo>
                  <a:pt x="0" y="1625600"/>
                </a:lnTo>
                <a:lnTo>
                  <a:pt x="0" y="0"/>
                </a:lnTo>
                <a:close/>
              </a:path>
            </a:pathLst>
          </a:custGeom>
          <a:solidFill>
            <a:srgbClr val="3D4A5C">
              <a:alpha val="30196"/>
            </a:srgbClr>
          </a:solidFill>
        </p:spPr>
      </p:sp>
      <p:sp>
        <p:nvSpPr>
          <p:cNvPr id="16" name="Shape 14"/>
          <p:cNvSpPr/>
          <p:nvPr/>
        </p:nvSpPr>
        <p:spPr>
          <a:xfrm>
            <a:off x="533400" y="3994062"/>
            <a:ext cx="50800" cy="1625600"/>
          </a:xfrm>
          <a:custGeom>
            <a:avLst/>
            <a:gdLst/>
            <a:ahLst/>
            <a:cxnLst/>
            <a:rect l="l" t="t" r="r" b="b"/>
            <a:pathLst>
              <a:path w="50800" h="1625600">
                <a:moveTo>
                  <a:pt x="0" y="0"/>
                </a:moveTo>
                <a:lnTo>
                  <a:pt x="50800" y="0"/>
                </a:lnTo>
                <a:lnTo>
                  <a:pt x="50800" y="1625600"/>
                </a:lnTo>
                <a:lnTo>
                  <a:pt x="0" y="1625600"/>
                </a:lnTo>
                <a:lnTo>
                  <a:pt x="0" y="0"/>
                </a:lnTo>
                <a:close/>
              </a:path>
            </a:pathLst>
          </a:custGeom>
          <a:solidFill>
            <a:srgbClr val="6B7280"/>
          </a:solidFill>
        </p:spPr>
      </p:sp>
      <p:sp>
        <p:nvSpPr>
          <p:cNvPr id="17" name="Shape 15"/>
          <p:cNvSpPr/>
          <p:nvPr/>
        </p:nvSpPr>
        <p:spPr>
          <a:xfrm>
            <a:off x="863600" y="426067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22845" y="53801"/>
                </a:moveTo>
                <a:cubicBezTo>
                  <a:pt x="27980" y="36016"/>
                  <a:pt x="44276" y="23812"/>
                  <a:pt x="62805" y="23812"/>
                </a:cubicBezTo>
                <a:lnTo>
                  <a:pt x="318790" y="23812"/>
                </a:lnTo>
                <a:cubicBezTo>
                  <a:pt x="337319" y="23812"/>
                  <a:pt x="353616" y="36016"/>
                  <a:pt x="358825" y="53801"/>
                </a:cubicBezTo>
                <a:lnTo>
                  <a:pt x="376238" y="113481"/>
                </a:lnTo>
                <a:cubicBezTo>
                  <a:pt x="385762" y="146000"/>
                  <a:pt x="361280" y="178594"/>
                  <a:pt x="327422" y="178594"/>
                </a:cubicBezTo>
                <a:cubicBezTo>
                  <a:pt x="307851" y="178594"/>
                  <a:pt x="290661" y="167506"/>
                  <a:pt x="282178" y="150986"/>
                </a:cubicBezTo>
                <a:cubicBezTo>
                  <a:pt x="273546" y="167283"/>
                  <a:pt x="256431" y="178594"/>
                  <a:pt x="236488" y="178594"/>
                </a:cubicBezTo>
                <a:cubicBezTo>
                  <a:pt x="216694" y="178594"/>
                  <a:pt x="199504" y="167432"/>
                  <a:pt x="190872" y="151061"/>
                </a:cubicBezTo>
                <a:cubicBezTo>
                  <a:pt x="182240" y="167432"/>
                  <a:pt x="165050" y="178594"/>
                  <a:pt x="145256" y="178594"/>
                </a:cubicBezTo>
                <a:cubicBezTo>
                  <a:pt x="125313" y="178594"/>
                  <a:pt x="108198" y="167357"/>
                  <a:pt x="99566" y="150986"/>
                </a:cubicBezTo>
                <a:cubicBezTo>
                  <a:pt x="91083" y="167432"/>
                  <a:pt x="73893" y="178594"/>
                  <a:pt x="54322" y="178594"/>
                </a:cubicBezTo>
                <a:cubicBezTo>
                  <a:pt x="20389" y="178594"/>
                  <a:pt x="-4018" y="146075"/>
                  <a:pt x="5507" y="113481"/>
                </a:cubicBezTo>
                <a:lnTo>
                  <a:pt x="22845" y="53801"/>
                </a:lnTo>
                <a:close/>
                <a:moveTo>
                  <a:pt x="71735" y="261938"/>
                </a:moveTo>
                <a:lnTo>
                  <a:pt x="309860" y="261938"/>
                </a:lnTo>
                <a:lnTo>
                  <a:pt x="309860" y="212527"/>
                </a:lnTo>
                <a:cubicBezTo>
                  <a:pt x="315516" y="213717"/>
                  <a:pt x="321394" y="214313"/>
                  <a:pt x="327347" y="214313"/>
                </a:cubicBezTo>
                <a:cubicBezTo>
                  <a:pt x="337989" y="214313"/>
                  <a:pt x="348183" y="212378"/>
                  <a:pt x="357485" y="208955"/>
                </a:cubicBezTo>
                <a:lnTo>
                  <a:pt x="357485" y="321469"/>
                </a:lnTo>
                <a:cubicBezTo>
                  <a:pt x="357485" y="341188"/>
                  <a:pt x="341486" y="357188"/>
                  <a:pt x="321766" y="357188"/>
                </a:cubicBezTo>
                <a:lnTo>
                  <a:pt x="59829" y="357188"/>
                </a:lnTo>
                <a:cubicBezTo>
                  <a:pt x="40109" y="357188"/>
                  <a:pt x="24110" y="341188"/>
                  <a:pt x="24110" y="321469"/>
                </a:cubicBezTo>
                <a:lnTo>
                  <a:pt x="24110" y="208955"/>
                </a:lnTo>
                <a:cubicBezTo>
                  <a:pt x="33412" y="212378"/>
                  <a:pt x="43532" y="214313"/>
                  <a:pt x="54248" y="214313"/>
                </a:cubicBezTo>
                <a:cubicBezTo>
                  <a:pt x="60275" y="214313"/>
                  <a:pt x="66080" y="213717"/>
                  <a:pt x="71735" y="212527"/>
                </a:cubicBezTo>
                <a:lnTo>
                  <a:pt x="71735" y="261938"/>
                </a:lnTo>
                <a:close/>
              </a:path>
            </a:pathLst>
          </a:custGeom>
          <a:solidFill>
            <a:srgbClr val="6B7280"/>
          </a:solidFill>
        </p:spPr>
      </p:sp>
      <p:sp>
        <p:nvSpPr>
          <p:cNvPr id="18" name="Text 16"/>
          <p:cNvSpPr/>
          <p:nvPr/>
        </p:nvSpPr>
        <p:spPr>
          <a:xfrm>
            <a:off x="1441450" y="4248062"/>
            <a:ext cx="13716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5E7E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业务场景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12800" y="4857573"/>
            <a:ext cx="2032000" cy="508000"/>
          </a:xfrm>
          <a:custGeom>
            <a:avLst/>
            <a:gdLst/>
            <a:ahLst/>
            <a:cxnLst/>
            <a:rect l="l" t="t" r="r" b="b"/>
            <a:pathLst>
              <a:path w="2032000" h="508000">
                <a:moveTo>
                  <a:pt x="101600" y="0"/>
                </a:moveTo>
                <a:lnTo>
                  <a:pt x="1930400" y="0"/>
                </a:lnTo>
                <a:cubicBezTo>
                  <a:pt x="1986475" y="0"/>
                  <a:pt x="2032000" y="45525"/>
                  <a:pt x="2032000" y="101600"/>
                </a:cubicBezTo>
                <a:lnTo>
                  <a:pt x="2032000" y="406400"/>
                </a:lnTo>
                <a:cubicBezTo>
                  <a:pt x="2032000" y="462475"/>
                  <a:pt x="1986475" y="508000"/>
                  <a:pt x="1930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4F9A94">
              <a:alpha val="20000"/>
            </a:srgbClr>
          </a:solidFill>
        </p:spPr>
      </p:sp>
      <p:sp>
        <p:nvSpPr>
          <p:cNvPr id="20" name="Text 18"/>
          <p:cNvSpPr/>
          <p:nvPr/>
        </p:nvSpPr>
        <p:spPr>
          <a:xfrm>
            <a:off x="1016000" y="4959173"/>
            <a:ext cx="17272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4F9A9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校园二手交易平台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048000" y="4882973"/>
            <a:ext cx="1066800" cy="457200"/>
          </a:xfrm>
          <a:custGeom>
            <a:avLst/>
            <a:gdLst/>
            <a:ahLst/>
            <a:cxnLst/>
            <a:rect l="l" t="t" r="r" b="b"/>
            <a:pathLst>
              <a:path w="1066800" h="457200">
                <a:moveTo>
                  <a:pt x="228600" y="0"/>
                </a:moveTo>
                <a:lnTo>
                  <a:pt x="838200" y="0"/>
                </a:lnTo>
                <a:cubicBezTo>
                  <a:pt x="964368" y="0"/>
                  <a:pt x="1066800" y="102432"/>
                  <a:pt x="1066800" y="228600"/>
                </a:cubicBezTo>
                <a:lnTo>
                  <a:pt x="1066800" y="228600"/>
                </a:lnTo>
                <a:cubicBezTo>
                  <a:pt x="1066800" y="354768"/>
                  <a:pt x="964368" y="457200"/>
                  <a:pt x="8382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3D4A5C">
              <a:alpha val="50196"/>
            </a:srgbClr>
          </a:solidFill>
        </p:spPr>
      </p:sp>
      <p:sp>
        <p:nvSpPr>
          <p:cNvPr id="22" name="Shape 20"/>
          <p:cNvSpPr/>
          <p:nvPr/>
        </p:nvSpPr>
        <p:spPr>
          <a:xfrm>
            <a:off x="3238500" y="4998686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88900" y="98425"/>
                </a:moveTo>
                <a:cubicBezTo>
                  <a:pt x="115185" y="98425"/>
                  <a:pt x="136525" y="77085"/>
                  <a:pt x="136525" y="50800"/>
                </a:cubicBezTo>
                <a:cubicBezTo>
                  <a:pt x="136525" y="24515"/>
                  <a:pt x="115185" y="3175"/>
                  <a:pt x="88900" y="3175"/>
                </a:cubicBezTo>
                <a:cubicBezTo>
                  <a:pt x="62615" y="3175"/>
                  <a:pt x="41275" y="24515"/>
                  <a:pt x="41275" y="50800"/>
                </a:cubicBezTo>
                <a:cubicBezTo>
                  <a:pt x="41275" y="77085"/>
                  <a:pt x="62615" y="98425"/>
                  <a:pt x="88900" y="98425"/>
                </a:cubicBezTo>
                <a:close/>
                <a:moveTo>
                  <a:pt x="77113" y="120650"/>
                </a:moveTo>
                <a:cubicBezTo>
                  <a:pt x="38021" y="120650"/>
                  <a:pt x="6350" y="152321"/>
                  <a:pt x="6350" y="191413"/>
                </a:cubicBezTo>
                <a:cubicBezTo>
                  <a:pt x="6350" y="197922"/>
                  <a:pt x="11628" y="203200"/>
                  <a:pt x="18137" y="203200"/>
                </a:cubicBezTo>
                <a:lnTo>
                  <a:pt x="159663" y="203200"/>
                </a:lnTo>
                <a:cubicBezTo>
                  <a:pt x="166172" y="203200"/>
                  <a:pt x="171450" y="197922"/>
                  <a:pt x="171450" y="191413"/>
                </a:cubicBezTo>
                <a:cubicBezTo>
                  <a:pt x="171450" y="152321"/>
                  <a:pt x="139779" y="120650"/>
                  <a:pt x="100687" y="120650"/>
                </a:cubicBezTo>
                <a:lnTo>
                  <a:pt x="77113" y="120650"/>
                </a:lnTo>
                <a:close/>
              </a:path>
            </a:pathLst>
          </a:custGeom>
          <a:solidFill>
            <a:srgbClr val="4F9A94"/>
          </a:solidFill>
        </p:spPr>
      </p:sp>
      <p:sp>
        <p:nvSpPr>
          <p:cNvPr id="23" name="Text 21"/>
          <p:cNvSpPr/>
          <p:nvPr/>
        </p:nvSpPr>
        <p:spPr>
          <a:xfrm>
            <a:off x="3403600" y="4882973"/>
            <a:ext cx="812800" cy="457200"/>
          </a:xfrm>
          <a:prstGeom prst="rect">
            <a:avLst/>
          </a:prstGeom>
          <a:noFill/>
        </p:spPr>
        <p:txBody>
          <a:bodyPr wrap="square" lIns="152400" tIns="76200" rIns="152400" bIns="7620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5E7E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用户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267200" y="4882973"/>
            <a:ext cx="1066800" cy="457200"/>
          </a:xfrm>
          <a:custGeom>
            <a:avLst/>
            <a:gdLst/>
            <a:ahLst/>
            <a:cxnLst/>
            <a:rect l="l" t="t" r="r" b="b"/>
            <a:pathLst>
              <a:path w="1066800" h="457200">
                <a:moveTo>
                  <a:pt x="228600" y="0"/>
                </a:moveTo>
                <a:lnTo>
                  <a:pt x="838200" y="0"/>
                </a:lnTo>
                <a:cubicBezTo>
                  <a:pt x="964368" y="0"/>
                  <a:pt x="1066800" y="102432"/>
                  <a:pt x="1066800" y="228600"/>
                </a:cubicBezTo>
                <a:lnTo>
                  <a:pt x="1066800" y="228600"/>
                </a:lnTo>
                <a:cubicBezTo>
                  <a:pt x="1066800" y="354768"/>
                  <a:pt x="964368" y="457200"/>
                  <a:pt x="8382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3D4A5C">
              <a:alpha val="50196"/>
            </a:srgbClr>
          </a:solidFill>
        </p:spPr>
      </p:sp>
      <p:sp>
        <p:nvSpPr>
          <p:cNvPr id="25" name="Shape 23"/>
          <p:cNvSpPr/>
          <p:nvPr/>
        </p:nvSpPr>
        <p:spPr>
          <a:xfrm>
            <a:off x="4457700" y="4998686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46606" y="50800"/>
                </a:moveTo>
                <a:lnTo>
                  <a:pt x="132993" y="31750"/>
                </a:lnTo>
                <a:lnTo>
                  <a:pt x="44847" y="31750"/>
                </a:lnTo>
                <a:lnTo>
                  <a:pt x="31234" y="50800"/>
                </a:lnTo>
                <a:lnTo>
                  <a:pt x="146606" y="50800"/>
                </a:lnTo>
                <a:close/>
                <a:moveTo>
                  <a:pt x="0" y="58936"/>
                </a:moveTo>
                <a:cubicBezTo>
                  <a:pt x="0" y="53657"/>
                  <a:pt x="1667" y="48498"/>
                  <a:pt x="4723" y="44172"/>
                </a:cubicBezTo>
                <a:lnTo>
                  <a:pt x="24170" y="16986"/>
                </a:lnTo>
                <a:cubicBezTo>
                  <a:pt x="28932" y="10319"/>
                  <a:pt x="36632" y="6350"/>
                  <a:pt x="44807" y="6350"/>
                </a:cubicBezTo>
                <a:lnTo>
                  <a:pt x="132953" y="6350"/>
                </a:lnTo>
                <a:cubicBezTo>
                  <a:pt x="141168" y="6350"/>
                  <a:pt x="148868" y="10319"/>
                  <a:pt x="153630" y="16986"/>
                </a:cubicBezTo>
                <a:lnTo>
                  <a:pt x="173038" y="44172"/>
                </a:lnTo>
                <a:cubicBezTo>
                  <a:pt x="176133" y="48498"/>
                  <a:pt x="177760" y="53657"/>
                  <a:pt x="177760" y="58936"/>
                </a:cubicBezTo>
                <a:lnTo>
                  <a:pt x="177800" y="165100"/>
                </a:lnTo>
                <a:cubicBezTo>
                  <a:pt x="177800" y="179110"/>
                  <a:pt x="166410" y="190500"/>
                  <a:pt x="152400" y="190500"/>
                </a:cubicBezTo>
                <a:lnTo>
                  <a:pt x="25400" y="190500"/>
                </a:lnTo>
                <a:cubicBezTo>
                  <a:pt x="11390" y="190500"/>
                  <a:pt x="0" y="179110"/>
                  <a:pt x="0" y="165100"/>
                </a:cubicBezTo>
                <a:lnTo>
                  <a:pt x="0" y="58936"/>
                </a:lnTo>
                <a:close/>
              </a:path>
            </a:pathLst>
          </a:custGeom>
          <a:solidFill>
            <a:srgbClr val="4F9A94"/>
          </a:solidFill>
        </p:spPr>
      </p:sp>
      <p:sp>
        <p:nvSpPr>
          <p:cNvPr id="26" name="Text 24"/>
          <p:cNvSpPr/>
          <p:nvPr/>
        </p:nvSpPr>
        <p:spPr>
          <a:xfrm>
            <a:off x="4622800" y="4882973"/>
            <a:ext cx="812800" cy="457200"/>
          </a:xfrm>
          <a:prstGeom prst="rect">
            <a:avLst/>
          </a:prstGeom>
          <a:noFill/>
        </p:spPr>
        <p:txBody>
          <a:bodyPr wrap="square" lIns="152400" tIns="76200" rIns="152400" bIns="7620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5E7E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商品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486400" y="4882973"/>
            <a:ext cx="1066800" cy="457200"/>
          </a:xfrm>
          <a:custGeom>
            <a:avLst/>
            <a:gdLst/>
            <a:ahLst/>
            <a:cxnLst/>
            <a:rect l="l" t="t" r="r" b="b"/>
            <a:pathLst>
              <a:path w="1066800" h="457200">
                <a:moveTo>
                  <a:pt x="228600" y="0"/>
                </a:moveTo>
                <a:lnTo>
                  <a:pt x="838200" y="0"/>
                </a:lnTo>
                <a:cubicBezTo>
                  <a:pt x="964368" y="0"/>
                  <a:pt x="1066800" y="102432"/>
                  <a:pt x="1066800" y="228600"/>
                </a:cubicBezTo>
                <a:lnTo>
                  <a:pt x="1066800" y="228600"/>
                </a:lnTo>
                <a:cubicBezTo>
                  <a:pt x="1066800" y="354768"/>
                  <a:pt x="964368" y="457200"/>
                  <a:pt x="8382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3D4A5C">
              <a:alpha val="50196"/>
            </a:srgbClr>
          </a:solidFill>
        </p:spPr>
      </p:sp>
      <p:sp>
        <p:nvSpPr>
          <p:cNvPr id="28" name="Shape 26"/>
          <p:cNvSpPr/>
          <p:nvPr/>
        </p:nvSpPr>
        <p:spPr>
          <a:xfrm>
            <a:off x="5664200" y="4998686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99469" y="59769"/>
                </a:moveTo>
                <a:lnTo>
                  <a:pt x="161369" y="97869"/>
                </a:lnTo>
                <a:cubicBezTo>
                  <a:pt x="157718" y="101521"/>
                  <a:pt x="152281" y="102592"/>
                  <a:pt x="147518" y="100608"/>
                </a:cubicBezTo>
                <a:cubicBezTo>
                  <a:pt x="142756" y="98623"/>
                  <a:pt x="139700" y="94020"/>
                  <a:pt x="139700" y="88900"/>
                </a:cubicBezTo>
                <a:lnTo>
                  <a:pt x="139700" y="63500"/>
                </a:lnTo>
                <a:lnTo>
                  <a:pt x="12700" y="63500"/>
                </a:lnTo>
                <a:cubicBezTo>
                  <a:pt x="5675" y="63500"/>
                  <a:pt x="0" y="57825"/>
                  <a:pt x="0" y="50800"/>
                </a:cubicBezTo>
                <a:cubicBezTo>
                  <a:pt x="0" y="43775"/>
                  <a:pt x="5675" y="38100"/>
                  <a:pt x="12700" y="38100"/>
                </a:cubicBezTo>
                <a:lnTo>
                  <a:pt x="139700" y="38100"/>
                </a:lnTo>
                <a:lnTo>
                  <a:pt x="139700" y="12700"/>
                </a:lnTo>
                <a:cubicBezTo>
                  <a:pt x="139700" y="7580"/>
                  <a:pt x="142796" y="2937"/>
                  <a:pt x="147558" y="952"/>
                </a:cubicBezTo>
                <a:cubicBezTo>
                  <a:pt x="152321" y="-1032"/>
                  <a:pt x="157758" y="79"/>
                  <a:pt x="161409" y="3691"/>
                </a:cubicBezTo>
                <a:lnTo>
                  <a:pt x="199509" y="41791"/>
                </a:lnTo>
                <a:cubicBezTo>
                  <a:pt x="204470" y="46752"/>
                  <a:pt x="204470" y="54808"/>
                  <a:pt x="199509" y="59769"/>
                </a:cubicBezTo>
                <a:close/>
                <a:moveTo>
                  <a:pt x="41791" y="199469"/>
                </a:moveTo>
                <a:lnTo>
                  <a:pt x="3691" y="161369"/>
                </a:lnTo>
                <a:cubicBezTo>
                  <a:pt x="-1270" y="156408"/>
                  <a:pt x="-1270" y="148352"/>
                  <a:pt x="3691" y="143391"/>
                </a:cubicBezTo>
                <a:lnTo>
                  <a:pt x="41791" y="105291"/>
                </a:lnTo>
                <a:cubicBezTo>
                  <a:pt x="45442" y="101640"/>
                  <a:pt x="50879" y="100568"/>
                  <a:pt x="55642" y="102553"/>
                </a:cubicBezTo>
                <a:cubicBezTo>
                  <a:pt x="60404" y="104537"/>
                  <a:pt x="63500" y="109180"/>
                  <a:pt x="63500" y="114300"/>
                </a:cubicBezTo>
                <a:lnTo>
                  <a:pt x="63500" y="139700"/>
                </a:lnTo>
                <a:lnTo>
                  <a:pt x="190500" y="139700"/>
                </a:lnTo>
                <a:cubicBezTo>
                  <a:pt x="197525" y="139700"/>
                  <a:pt x="203200" y="145375"/>
                  <a:pt x="203200" y="152400"/>
                </a:cubicBezTo>
                <a:cubicBezTo>
                  <a:pt x="203200" y="159425"/>
                  <a:pt x="197525" y="165100"/>
                  <a:pt x="190500" y="165100"/>
                </a:cubicBezTo>
                <a:lnTo>
                  <a:pt x="63500" y="165100"/>
                </a:lnTo>
                <a:lnTo>
                  <a:pt x="63500" y="190500"/>
                </a:lnTo>
                <a:cubicBezTo>
                  <a:pt x="63500" y="195620"/>
                  <a:pt x="60404" y="200263"/>
                  <a:pt x="55642" y="202248"/>
                </a:cubicBezTo>
                <a:cubicBezTo>
                  <a:pt x="50879" y="204232"/>
                  <a:pt x="45442" y="203121"/>
                  <a:pt x="41791" y="199509"/>
                </a:cubicBezTo>
                <a:close/>
              </a:path>
            </a:pathLst>
          </a:custGeom>
          <a:solidFill>
            <a:srgbClr val="4F9A94"/>
          </a:solidFill>
        </p:spPr>
      </p:sp>
      <p:sp>
        <p:nvSpPr>
          <p:cNvPr id="29" name="Text 27"/>
          <p:cNvSpPr/>
          <p:nvPr/>
        </p:nvSpPr>
        <p:spPr>
          <a:xfrm>
            <a:off x="5842000" y="4882973"/>
            <a:ext cx="812800" cy="457200"/>
          </a:xfrm>
          <a:prstGeom prst="rect">
            <a:avLst/>
          </a:prstGeom>
          <a:noFill/>
        </p:spPr>
        <p:txBody>
          <a:bodyPr wrap="square" lIns="152400" tIns="76200" rIns="152400" bIns="7620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5E7E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交易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705600" y="4882973"/>
            <a:ext cx="1066800" cy="457200"/>
          </a:xfrm>
          <a:custGeom>
            <a:avLst/>
            <a:gdLst/>
            <a:ahLst/>
            <a:cxnLst/>
            <a:rect l="l" t="t" r="r" b="b"/>
            <a:pathLst>
              <a:path w="1066800" h="457200">
                <a:moveTo>
                  <a:pt x="228600" y="0"/>
                </a:moveTo>
                <a:lnTo>
                  <a:pt x="838200" y="0"/>
                </a:lnTo>
                <a:cubicBezTo>
                  <a:pt x="964368" y="0"/>
                  <a:pt x="1066800" y="102432"/>
                  <a:pt x="1066800" y="228600"/>
                </a:cubicBezTo>
                <a:lnTo>
                  <a:pt x="1066800" y="228600"/>
                </a:lnTo>
                <a:cubicBezTo>
                  <a:pt x="1066800" y="354768"/>
                  <a:pt x="964368" y="457200"/>
                  <a:pt x="8382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3D4A5C">
              <a:alpha val="50196"/>
            </a:srgbClr>
          </a:solidFill>
        </p:spPr>
      </p:sp>
      <p:sp>
        <p:nvSpPr>
          <p:cNvPr id="31" name="Shape 29"/>
          <p:cNvSpPr/>
          <p:nvPr/>
        </p:nvSpPr>
        <p:spPr>
          <a:xfrm>
            <a:off x="6883400" y="4998686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9050" y="25400"/>
                </a:moveTo>
                <a:cubicBezTo>
                  <a:pt x="8533" y="25400"/>
                  <a:pt x="0" y="33933"/>
                  <a:pt x="0" y="44450"/>
                </a:cubicBezTo>
                <a:cubicBezTo>
                  <a:pt x="0" y="50443"/>
                  <a:pt x="2818" y="56078"/>
                  <a:pt x="7620" y="59690"/>
                </a:cubicBezTo>
                <a:lnTo>
                  <a:pt x="90170" y="121603"/>
                </a:lnTo>
                <a:cubicBezTo>
                  <a:pt x="96957" y="126683"/>
                  <a:pt x="106243" y="126683"/>
                  <a:pt x="113030" y="121603"/>
                </a:cubicBezTo>
                <a:lnTo>
                  <a:pt x="195580" y="59690"/>
                </a:lnTo>
                <a:cubicBezTo>
                  <a:pt x="200382" y="56078"/>
                  <a:pt x="203200" y="50443"/>
                  <a:pt x="203200" y="44450"/>
                </a:cubicBezTo>
                <a:cubicBezTo>
                  <a:pt x="203200" y="33933"/>
                  <a:pt x="194667" y="25400"/>
                  <a:pt x="184150" y="25400"/>
                </a:cubicBezTo>
                <a:lnTo>
                  <a:pt x="19050" y="25400"/>
                </a:lnTo>
                <a:close/>
                <a:moveTo>
                  <a:pt x="0" y="77788"/>
                </a:moveTo>
                <a:lnTo>
                  <a:pt x="0" y="152400"/>
                </a:lnTo>
                <a:cubicBezTo>
                  <a:pt x="0" y="166410"/>
                  <a:pt x="11390" y="177800"/>
                  <a:pt x="25400" y="177800"/>
                </a:cubicBezTo>
                <a:lnTo>
                  <a:pt x="177800" y="177800"/>
                </a:lnTo>
                <a:cubicBezTo>
                  <a:pt x="191810" y="177800"/>
                  <a:pt x="203200" y="166410"/>
                  <a:pt x="203200" y="152400"/>
                </a:cubicBezTo>
                <a:lnTo>
                  <a:pt x="203200" y="77788"/>
                </a:lnTo>
                <a:lnTo>
                  <a:pt x="124460" y="136843"/>
                </a:lnTo>
                <a:cubicBezTo>
                  <a:pt x="110927" y="147003"/>
                  <a:pt x="92273" y="147003"/>
                  <a:pt x="78740" y="136843"/>
                </a:cubicBezTo>
                <a:lnTo>
                  <a:pt x="0" y="77788"/>
                </a:lnTo>
                <a:close/>
              </a:path>
            </a:pathLst>
          </a:custGeom>
          <a:solidFill>
            <a:srgbClr val="4F9A94"/>
          </a:solidFill>
        </p:spPr>
      </p:sp>
      <p:sp>
        <p:nvSpPr>
          <p:cNvPr id="32" name="Text 30"/>
          <p:cNvSpPr/>
          <p:nvPr/>
        </p:nvSpPr>
        <p:spPr>
          <a:xfrm>
            <a:off x="7061200" y="4882973"/>
            <a:ext cx="812800" cy="457200"/>
          </a:xfrm>
          <a:prstGeom prst="rect">
            <a:avLst/>
          </a:prstGeom>
          <a:noFill/>
        </p:spPr>
        <p:txBody>
          <a:bodyPr wrap="square" lIns="152400" tIns="76200" rIns="152400" bIns="7620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5E7E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消息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33400" y="5873573"/>
            <a:ext cx="15214600" cy="1981200"/>
          </a:xfrm>
          <a:custGeom>
            <a:avLst/>
            <a:gdLst/>
            <a:ahLst/>
            <a:cxnLst/>
            <a:rect l="l" t="t" r="r" b="b"/>
            <a:pathLst>
              <a:path w="15214600" h="1981200">
                <a:moveTo>
                  <a:pt x="0" y="0"/>
                </a:moveTo>
                <a:lnTo>
                  <a:pt x="15113004" y="0"/>
                </a:lnTo>
                <a:cubicBezTo>
                  <a:pt x="15169114" y="0"/>
                  <a:pt x="15214600" y="45486"/>
                  <a:pt x="15214600" y="101596"/>
                </a:cubicBezTo>
                <a:lnTo>
                  <a:pt x="15214600" y="1879604"/>
                </a:lnTo>
                <a:cubicBezTo>
                  <a:pt x="15214600" y="1935714"/>
                  <a:pt x="15169114" y="1981200"/>
                  <a:pt x="15113004" y="1981200"/>
                </a:cubicBezTo>
                <a:lnTo>
                  <a:pt x="0" y="1981200"/>
                </a:lnTo>
                <a:lnTo>
                  <a:pt x="0" y="0"/>
                </a:lnTo>
                <a:close/>
              </a:path>
            </a:pathLst>
          </a:custGeom>
          <a:solidFill>
            <a:srgbClr val="3D4A5C">
              <a:alpha val="30196"/>
            </a:srgbClr>
          </a:solidFill>
        </p:spPr>
      </p:sp>
      <p:sp>
        <p:nvSpPr>
          <p:cNvPr id="37" name="Shape 35"/>
          <p:cNvSpPr/>
          <p:nvPr/>
        </p:nvSpPr>
        <p:spPr>
          <a:xfrm>
            <a:off x="533400" y="5873573"/>
            <a:ext cx="50800" cy="1981200"/>
          </a:xfrm>
          <a:custGeom>
            <a:avLst/>
            <a:gdLst/>
            <a:ahLst/>
            <a:cxnLst/>
            <a:rect l="l" t="t" r="r" b="b"/>
            <a:pathLst>
              <a:path w="50800" h="1981200">
                <a:moveTo>
                  <a:pt x="0" y="0"/>
                </a:moveTo>
                <a:lnTo>
                  <a:pt x="50800" y="0"/>
                </a:lnTo>
                <a:lnTo>
                  <a:pt x="50800" y="1981200"/>
                </a:lnTo>
                <a:lnTo>
                  <a:pt x="0" y="1981200"/>
                </a:lnTo>
                <a:lnTo>
                  <a:pt x="0" y="0"/>
                </a:lnTo>
                <a:close/>
              </a:path>
            </a:pathLst>
          </a:custGeom>
          <a:solidFill>
            <a:srgbClr val="4F9A94"/>
          </a:solidFill>
        </p:spPr>
      </p:sp>
      <p:sp>
        <p:nvSpPr>
          <p:cNvPr id="38" name="Shape 36"/>
          <p:cNvSpPr/>
          <p:nvPr/>
        </p:nvSpPr>
        <p:spPr>
          <a:xfrm>
            <a:off x="863600" y="614018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381000"/>
                </a:moveTo>
                <a:cubicBezTo>
                  <a:pt x="295640" y="381000"/>
                  <a:pt x="381000" y="295640"/>
                  <a:pt x="381000" y="190500"/>
                </a:cubicBezTo>
                <a:cubicBezTo>
                  <a:pt x="381000" y="85360"/>
                  <a:pt x="295640" y="0"/>
                  <a:pt x="190500" y="0"/>
                </a:cubicBezTo>
                <a:cubicBezTo>
                  <a:pt x="85360" y="0"/>
                  <a:pt x="0" y="85360"/>
                  <a:pt x="0" y="190500"/>
                </a:cubicBezTo>
                <a:cubicBezTo>
                  <a:pt x="0" y="295640"/>
                  <a:pt x="85360" y="381000"/>
                  <a:pt x="190500" y="381000"/>
                </a:cubicBezTo>
                <a:close/>
                <a:moveTo>
                  <a:pt x="253305" y="158279"/>
                </a:moveTo>
                <a:lnTo>
                  <a:pt x="193774" y="253529"/>
                </a:lnTo>
                <a:cubicBezTo>
                  <a:pt x="190649" y="258514"/>
                  <a:pt x="185291" y="261640"/>
                  <a:pt x="179412" y="261938"/>
                </a:cubicBezTo>
                <a:cubicBezTo>
                  <a:pt x="173534" y="262235"/>
                  <a:pt x="167878" y="259556"/>
                  <a:pt x="164381" y="254794"/>
                </a:cubicBezTo>
                <a:lnTo>
                  <a:pt x="128662" y="207169"/>
                </a:lnTo>
                <a:cubicBezTo>
                  <a:pt x="122709" y="199281"/>
                  <a:pt x="124346" y="188119"/>
                  <a:pt x="132234" y="182166"/>
                </a:cubicBezTo>
                <a:cubicBezTo>
                  <a:pt x="140122" y="176212"/>
                  <a:pt x="151284" y="177850"/>
                  <a:pt x="157237" y="185738"/>
                </a:cubicBezTo>
                <a:lnTo>
                  <a:pt x="177329" y="212527"/>
                </a:lnTo>
                <a:lnTo>
                  <a:pt x="223019" y="139378"/>
                </a:lnTo>
                <a:cubicBezTo>
                  <a:pt x="228228" y="131043"/>
                  <a:pt x="239241" y="128439"/>
                  <a:pt x="247650" y="133722"/>
                </a:cubicBezTo>
                <a:cubicBezTo>
                  <a:pt x="256059" y="139005"/>
                  <a:pt x="258589" y="149944"/>
                  <a:pt x="253305" y="158353"/>
                </a:cubicBezTo>
                <a:close/>
              </a:path>
            </a:pathLst>
          </a:custGeom>
          <a:solidFill>
            <a:srgbClr val="4F9A94"/>
          </a:solidFill>
        </p:spPr>
      </p:sp>
      <p:sp>
        <p:nvSpPr>
          <p:cNvPr id="39" name="Text 37"/>
          <p:cNvSpPr/>
          <p:nvPr/>
        </p:nvSpPr>
        <p:spPr>
          <a:xfrm>
            <a:off x="1441450" y="6127573"/>
            <a:ext cx="19812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5E7E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实验要求达成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69950" y="6762485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266700" y="122515"/>
                </a:moveTo>
                <a:cubicBezTo>
                  <a:pt x="257889" y="128349"/>
                  <a:pt x="247769" y="133052"/>
                  <a:pt x="237232" y="136803"/>
                </a:cubicBezTo>
                <a:cubicBezTo>
                  <a:pt x="209252" y="146804"/>
                  <a:pt x="172522" y="152400"/>
                  <a:pt x="133350" y="152400"/>
                </a:cubicBezTo>
                <a:cubicBezTo>
                  <a:pt x="94178" y="152400"/>
                  <a:pt x="57388" y="146745"/>
                  <a:pt x="29468" y="136803"/>
                </a:cubicBezTo>
                <a:cubicBezTo>
                  <a:pt x="18990" y="133052"/>
                  <a:pt x="8811" y="128349"/>
                  <a:pt x="0" y="122515"/>
                </a:cubicBezTo>
                <a:lnTo>
                  <a:pt x="0" y="171450"/>
                </a:lnTo>
                <a:cubicBezTo>
                  <a:pt x="0" y="197763"/>
                  <a:pt x="59710" y="219075"/>
                  <a:pt x="133350" y="219075"/>
                </a:cubicBezTo>
                <a:cubicBezTo>
                  <a:pt x="206990" y="219075"/>
                  <a:pt x="266700" y="197763"/>
                  <a:pt x="266700" y="171450"/>
                </a:cubicBezTo>
                <a:lnTo>
                  <a:pt x="266700" y="122515"/>
                </a:lnTo>
                <a:close/>
                <a:moveTo>
                  <a:pt x="266700" y="76200"/>
                </a:moveTo>
                <a:lnTo>
                  <a:pt x="266700" y="47625"/>
                </a:lnTo>
                <a:cubicBezTo>
                  <a:pt x="266700" y="21312"/>
                  <a:pt x="206990" y="0"/>
                  <a:pt x="133350" y="0"/>
                </a:cubicBezTo>
                <a:cubicBezTo>
                  <a:pt x="59710" y="0"/>
                  <a:pt x="0" y="21312"/>
                  <a:pt x="0" y="47625"/>
                </a:cubicBezTo>
                <a:lnTo>
                  <a:pt x="0" y="76200"/>
                </a:lnTo>
                <a:cubicBezTo>
                  <a:pt x="0" y="102513"/>
                  <a:pt x="59710" y="123825"/>
                  <a:pt x="133350" y="123825"/>
                </a:cubicBezTo>
                <a:cubicBezTo>
                  <a:pt x="206990" y="123825"/>
                  <a:pt x="266700" y="102513"/>
                  <a:pt x="266700" y="76200"/>
                </a:cubicBezTo>
                <a:close/>
                <a:moveTo>
                  <a:pt x="237232" y="232053"/>
                </a:moveTo>
                <a:cubicBezTo>
                  <a:pt x="209312" y="241995"/>
                  <a:pt x="172581" y="247650"/>
                  <a:pt x="133350" y="247650"/>
                </a:cubicBezTo>
                <a:cubicBezTo>
                  <a:pt x="94119" y="247650"/>
                  <a:pt x="57388" y="241995"/>
                  <a:pt x="29468" y="232053"/>
                </a:cubicBezTo>
                <a:cubicBezTo>
                  <a:pt x="18990" y="228302"/>
                  <a:pt x="8811" y="223599"/>
                  <a:pt x="0" y="217765"/>
                </a:cubicBezTo>
                <a:lnTo>
                  <a:pt x="0" y="257175"/>
                </a:lnTo>
                <a:cubicBezTo>
                  <a:pt x="0" y="283488"/>
                  <a:pt x="59710" y="304800"/>
                  <a:pt x="133350" y="304800"/>
                </a:cubicBezTo>
                <a:cubicBezTo>
                  <a:pt x="206990" y="304800"/>
                  <a:pt x="266700" y="283488"/>
                  <a:pt x="266700" y="257175"/>
                </a:cubicBezTo>
                <a:lnTo>
                  <a:pt x="266700" y="217765"/>
                </a:lnTo>
                <a:cubicBezTo>
                  <a:pt x="257889" y="223599"/>
                  <a:pt x="247769" y="228302"/>
                  <a:pt x="237232" y="232053"/>
                </a:cubicBezTo>
                <a:close/>
              </a:path>
            </a:pathLst>
          </a:custGeom>
          <a:solidFill>
            <a:srgbClr val="4F9A94"/>
          </a:solidFill>
        </p:spPr>
      </p:sp>
      <p:sp>
        <p:nvSpPr>
          <p:cNvPr id="41" name="Text 39"/>
          <p:cNvSpPr/>
          <p:nvPr/>
        </p:nvSpPr>
        <p:spPr>
          <a:xfrm>
            <a:off x="1346200" y="6737085"/>
            <a:ext cx="60833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4F9A9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三种不同数据库内核 </a:t>
            </a:r>
            <a:r>
              <a:rPr lang="en-US" sz="1800" dirty="0">
                <a:solidFill>
                  <a:srgbClr val="E5E7EB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MySQL + MariaDB + PostgreSQL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362950" y="6762485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152400" y="95250"/>
                </a:moveTo>
                <a:lnTo>
                  <a:pt x="152400" y="152400"/>
                </a:lnTo>
                <a:lnTo>
                  <a:pt x="228600" y="152400"/>
                </a:lnTo>
                <a:lnTo>
                  <a:pt x="228600" y="95250"/>
                </a:lnTo>
                <a:lnTo>
                  <a:pt x="152400" y="95250"/>
                </a:lnTo>
                <a:close/>
                <a:moveTo>
                  <a:pt x="114300" y="95250"/>
                </a:moveTo>
                <a:lnTo>
                  <a:pt x="38100" y="95250"/>
                </a:lnTo>
                <a:lnTo>
                  <a:pt x="38100" y="152400"/>
                </a:lnTo>
                <a:lnTo>
                  <a:pt x="114300" y="152400"/>
                </a:lnTo>
                <a:lnTo>
                  <a:pt x="114300" y="95250"/>
                </a:lnTo>
                <a:close/>
                <a:moveTo>
                  <a:pt x="0" y="190500"/>
                </a:moveTo>
                <a:lnTo>
                  <a:pt x="0" y="57150"/>
                </a:lnTo>
                <a:cubicBezTo>
                  <a:pt x="0" y="36135"/>
                  <a:pt x="17085" y="19050"/>
                  <a:pt x="38100" y="19050"/>
                </a:cubicBezTo>
                <a:lnTo>
                  <a:pt x="228600" y="19050"/>
                </a:lnTo>
                <a:cubicBezTo>
                  <a:pt x="249615" y="19050"/>
                  <a:pt x="266700" y="36135"/>
                  <a:pt x="266700" y="57150"/>
                </a:cubicBezTo>
                <a:lnTo>
                  <a:pt x="266700" y="247650"/>
                </a:lnTo>
                <a:cubicBezTo>
                  <a:pt x="266700" y="268665"/>
                  <a:pt x="249615" y="285750"/>
                  <a:pt x="228600" y="285750"/>
                </a:cubicBezTo>
                <a:lnTo>
                  <a:pt x="38100" y="285750"/>
                </a:lnTo>
                <a:cubicBezTo>
                  <a:pt x="17085" y="285750"/>
                  <a:pt x="0" y="268665"/>
                  <a:pt x="0" y="247650"/>
                </a:cubicBezTo>
                <a:lnTo>
                  <a:pt x="0" y="190500"/>
                </a:lnTo>
                <a:close/>
                <a:moveTo>
                  <a:pt x="228600" y="190500"/>
                </a:moveTo>
                <a:lnTo>
                  <a:pt x="152400" y="190500"/>
                </a:lnTo>
                <a:lnTo>
                  <a:pt x="152400" y="247650"/>
                </a:lnTo>
                <a:lnTo>
                  <a:pt x="228600" y="247650"/>
                </a:lnTo>
                <a:lnTo>
                  <a:pt x="228600" y="190500"/>
                </a:lnTo>
                <a:close/>
                <a:moveTo>
                  <a:pt x="114300" y="247650"/>
                </a:moveTo>
                <a:lnTo>
                  <a:pt x="114300" y="190500"/>
                </a:lnTo>
                <a:lnTo>
                  <a:pt x="38100" y="190500"/>
                </a:lnTo>
                <a:lnTo>
                  <a:pt x="38100" y="247650"/>
                </a:lnTo>
                <a:lnTo>
                  <a:pt x="114300" y="247650"/>
                </a:lnTo>
                <a:close/>
              </a:path>
            </a:pathLst>
          </a:custGeom>
          <a:solidFill>
            <a:srgbClr val="4F9A94"/>
          </a:solidFill>
        </p:spPr>
      </p:sp>
      <p:sp>
        <p:nvSpPr>
          <p:cNvPr id="43" name="Text 41"/>
          <p:cNvSpPr/>
          <p:nvPr/>
        </p:nvSpPr>
        <p:spPr>
          <a:xfrm>
            <a:off x="8839200" y="6737350"/>
            <a:ext cx="5697855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4F9A9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≥5 张业务表 </a:t>
            </a:r>
            <a:r>
              <a:rPr lang="en-US" sz="1800" dirty="0">
                <a:solidFill>
                  <a:srgbClr val="E5E7EB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用户、商品、交易、消息、</a:t>
            </a:r>
            <a:r>
              <a:rPr lang="zh-CN" altLang="en-US" sz="1800" dirty="0">
                <a:solidFill>
                  <a:srgbClr val="E5E7EB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购物车</a:t>
            </a:r>
            <a:r>
              <a:rPr lang="en-US" altLang="zh-CN" sz="1800" dirty="0">
                <a:solidFill>
                  <a:srgbClr val="E5E7EB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......</a:t>
            </a:r>
            <a:endParaRPr lang="zh-CN" altLang="en-US" sz="1800" dirty="0">
              <a:solidFill>
                <a:srgbClr val="E5E7EB">
                  <a:alpha val="90000"/>
                </a:srgbClr>
              </a:solidFill>
              <a:latin typeface="MiSans" panose="00000500000000000000" pitchFamily="34" charset="-122"/>
              <a:ea typeface="MiSans" panose="00000500000000000000" pitchFamily="34" charset="-122"/>
              <a:cs typeface="MiSans" panose="00000500000000000000" pitchFamily="34" charset="-120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831850" y="7270485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214789" y="714"/>
                </a:moveTo>
                <a:cubicBezTo>
                  <a:pt x="204668" y="-2203"/>
                  <a:pt x="194131" y="3691"/>
                  <a:pt x="191214" y="13811"/>
                </a:cubicBezTo>
                <a:lnTo>
                  <a:pt x="115014" y="280511"/>
                </a:lnTo>
                <a:cubicBezTo>
                  <a:pt x="112097" y="290632"/>
                  <a:pt x="117991" y="301169"/>
                  <a:pt x="128111" y="304086"/>
                </a:cubicBezTo>
                <a:cubicBezTo>
                  <a:pt x="138232" y="307003"/>
                  <a:pt x="148769" y="301109"/>
                  <a:pt x="151686" y="290989"/>
                </a:cubicBezTo>
                <a:lnTo>
                  <a:pt x="227886" y="24289"/>
                </a:lnTo>
                <a:cubicBezTo>
                  <a:pt x="230803" y="14168"/>
                  <a:pt x="224909" y="3631"/>
                  <a:pt x="214789" y="714"/>
                </a:cubicBezTo>
                <a:close/>
                <a:moveTo>
                  <a:pt x="253246" y="81736"/>
                </a:moveTo>
                <a:cubicBezTo>
                  <a:pt x="245805" y="89178"/>
                  <a:pt x="245805" y="101263"/>
                  <a:pt x="253246" y="108704"/>
                </a:cubicBezTo>
                <a:lnTo>
                  <a:pt x="296942" y="152400"/>
                </a:lnTo>
                <a:lnTo>
                  <a:pt x="253246" y="196096"/>
                </a:lnTo>
                <a:cubicBezTo>
                  <a:pt x="245805" y="203537"/>
                  <a:pt x="245805" y="215622"/>
                  <a:pt x="253246" y="223064"/>
                </a:cubicBezTo>
                <a:cubicBezTo>
                  <a:pt x="260687" y="230505"/>
                  <a:pt x="272772" y="230505"/>
                  <a:pt x="280214" y="223064"/>
                </a:cubicBezTo>
                <a:lnTo>
                  <a:pt x="337364" y="165914"/>
                </a:lnTo>
                <a:cubicBezTo>
                  <a:pt x="344805" y="158472"/>
                  <a:pt x="344805" y="146387"/>
                  <a:pt x="337364" y="138946"/>
                </a:cubicBezTo>
                <a:lnTo>
                  <a:pt x="280214" y="81796"/>
                </a:lnTo>
                <a:cubicBezTo>
                  <a:pt x="272772" y="74355"/>
                  <a:pt x="260687" y="74355"/>
                  <a:pt x="253246" y="81796"/>
                </a:cubicBezTo>
                <a:close/>
                <a:moveTo>
                  <a:pt x="89714" y="81736"/>
                </a:moveTo>
                <a:cubicBezTo>
                  <a:pt x="82272" y="74295"/>
                  <a:pt x="70187" y="74295"/>
                  <a:pt x="62746" y="81736"/>
                </a:cubicBezTo>
                <a:lnTo>
                  <a:pt x="5596" y="138886"/>
                </a:lnTo>
                <a:cubicBezTo>
                  <a:pt x="-1845" y="146328"/>
                  <a:pt x="-1845" y="158413"/>
                  <a:pt x="5596" y="165854"/>
                </a:cubicBezTo>
                <a:lnTo>
                  <a:pt x="62746" y="223004"/>
                </a:lnTo>
                <a:cubicBezTo>
                  <a:pt x="70187" y="230445"/>
                  <a:pt x="82272" y="230445"/>
                  <a:pt x="89714" y="223004"/>
                </a:cubicBezTo>
                <a:cubicBezTo>
                  <a:pt x="97155" y="215563"/>
                  <a:pt x="97155" y="203478"/>
                  <a:pt x="89714" y="196036"/>
                </a:cubicBezTo>
                <a:lnTo>
                  <a:pt x="46018" y="152400"/>
                </a:lnTo>
                <a:lnTo>
                  <a:pt x="89654" y="108704"/>
                </a:lnTo>
                <a:cubicBezTo>
                  <a:pt x="97095" y="101263"/>
                  <a:pt x="97095" y="89178"/>
                  <a:pt x="89654" y="81736"/>
                </a:cubicBezTo>
                <a:close/>
              </a:path>
            </a:pathLst>
          </a:custGeom>
          <a:solidFill>
            <a:srgbClr val="4F9A94"/>
          </a:solidFill>
        </p:spPr>
      </p:sp>
      <p:sp>
        <p:nvSpPr>
          <p:cNvPr id="45" name="Text 43"/>
          <p:cNvSpPr/>
          <p:nvPr/>
        </p:nvSpPr>
        <p:spPr>
          <a:xfrm>
            <a:off x="1346200" y="7245085"/>
            <a:ext cx="53721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4F9A9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复杂 SQL 与索引优化 </a:t>
            </a:r>
            <a:r>
              <a:rPr lang="en-US" sz="1800" dirty="0">
                <a:solidFill>
                  <a:srgbClr val="E5E7EB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多表 JOIN、子查询、</a:t>
            </a:r>
            <a:r>
              <a:rPr lang="en-US" sz="1800" dirty="0">
                <a:solidFill>
                  <a:srgbClr val="E5E7EB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cte</a:t>
            </a:r>
            <a:endParaRPr lang="en-US" sz="1800" dirty="0">
              <a:solidFill>
                <a:srgbClr val="E5E7EB">
                  <a:alpha val="90000"/>
                </a:srgbClr>
              </a:solidFill>
              <a:latin typeface="MiSans" panose="00000500000000000000" pitchFamily="34" charset="-122"/>
              <a:ea typeface="MiSans" panose="00000500000000000000" pitchFamily="34" charset="-122"/>
              <a:cs typeface="MiSans" panose="00000500000000000000" pitchFamily="34" charset="-120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8343900" y="727048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161151" y="0"/>
                  <a:pt x="169188" y="4822"/>
                  <a:pt x="173355" y="12502"/>
                </a:cubicBezTo>
                <a:lnTo>
                  <a:pt x="301943" y="250627"/>
                </a:lnTo>
                <a:cubicBezTo>
                  <a:pt x="305931" y="258008"/>
                  <a:pt x="305753" y="266938"/>
                  <a:pt x="301466" y="274141"/>
                </a:cubicBezTo>
                <a:cubicBezTo>
                  <a:pt x="297180" y="281345"/>
                  <a:pt x="289381" y="285750"/>
                  <a:pt x="280987" y="285750"/>
                </a:cubicBezTo>
                <a:lnTo>
                  <a:pt x="23813" y="285750"/>
                </a:lnTo>
                <a:cubicBezTo>
                  <a:pt x="15419" y="285750"/>
                  <a:pt x="7680" y="281345"/>
                  <a:pt x="3334" y="274141"/>
                </a:cubicBezTo>
                <a:cubicBezTo>
                  <a:pt x="-1012" y="266938"/>
                  <a:pt x="-1131" y="258008"/>
                  <a:pt x="2858" y="250627"/>
                </a:cubicBezTo>
                <a:lnTo>
                  <a:pt x="131445" y="12502"/>
                </a:lnTo>
                <a:cubicBezTo>
                  <a:pt x="135612" y="4822"/>
                  <a:pt x="143649" y="0"/>
                  <a:pt x="152400" y="0"/>
                </a:cubicBezTo>
                <a:close/>
                <a:moveTo>
                  <a:pt x="152400" y="100013"/>
                </a:moveTo>
                <a:cubicBezTo>
                  <a:pt x="144482" y="100013"/>
                  <a:pt x="138113" y="106382"/>
                  <a:pt x="138113" y="114300"/>
                </a:cubicBezTo>
                <a:lnTo>
                  <a:pt x="138113" y="180975"/>
                </a:lnTo>
                <a:cubicBezTo>
                  <a:pt x="138113" y="188893"/>
                  <a:pt x="144482" y="195263"/>
                  <a:pt x="152400" y="195263"/>
                </a:cubicBezTo>
                <a:cubicBezTo>
                  <a:pt x="160318" y="195263"/>
                  <a:pt x="166688" y="188893"/>
                  <a:pt x="166688" y="180975"/>
                </a:cubicBezTo>
                <a:lnTo>
                  <a:pt x="166688" y="114300"/>
                </a:lnTo>
                <a:cubicBezTo>
                  <a:pt x="166688" y="106382"/>
                  <a:pt x="160318" y="100013"/>
                  <a:pt x="152400" y="100013"/>
                </a:cubicBezTo>
                <a:close/>
                <a:moveTo>
                  <a:pt x="168295" y="228600"/>
                </a:moveTo>
                <a:cubicBezTo>
                  <a:pt x="168656" y="222700"/>
                  <a:pt x="165714" y="217087"/>
                  <a:pt x="160656" y="214027"/>
                </a:cubicBezTo>
                <a:cubicBezTo>
                  <a:pt x="155599" y="210968"/>
                  <a:pt x="149261" y="210968"/>
                  <a:pt x="144203" y="214027"/>
                </a:cubicBezTo>
                <a:cubicBezTo>
                  <a:pt x="139145" y="217087"/>
                  <a:pt x="136203" y="222700"/>
                  <a:pt x="136565" y="228600"/>
                </a:cubicBezTo>
                <a:cubicBezTo>
                  <a:pt x="136203" y="234500"/>
                  <a:pt x="139145" y="240113"/>
                  <a:pt x="144203" y="243173"/>
                </a:cubicBezTo>
                <a:cubicBezTo>
                  <a:pt x="149261" y="246232"/>
                  <a:pt x="155599" y="246232"/>
                  <a:pt x="160656" y="243173"/>
                </a:cubicBezTo>
                <a:cubicBezTo>
                  <a:pt x="165714" y="240113"/>
                  <a:pt x="168656" y="234500"/>
                  <a:pt x="168295" y="228600"/>
                </a:cubicBezTo>
                <a:close/>
              </a:path>
            </a:pathLst>
          </a:custGeom>
          <a:solidFill>
            <a:srgbClr val="4F9A94"/>
          </a:solidFill>
        </p:spPr>
      </p:sp>
      <p:sp>
        <p:nvSpPr>
          <p:cNvPr id="47" name="Text 45"/>
          <p:cNvSpPr/>
          <p:nvPr/>
        </p:nvSpPr>
        <p:spPr>
          <a:xfrm>
            <a:off x="8839200" y="7245085"/>
            <a:ext cx="4953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4F9A9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冲突检测与人工闭环 </a:t>
            </a:r>
            <a:r>
              <a:rPr lang="en-US" sz="1800" dirty="0">
                <a:solidFill>
                  <a:srgbClr val="FF0000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向量时钟</a:t>
            </a:r>
            <a:r>
              <a:rPr lang="en-US" sz="1800" dirty="0">
                <a:solidFill>
                  <a:srgbClr val="E5E7EB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 +</a:t>
            </a:r>
            <a:r>
              <a:rPr lang="zh-CN" altLang="en-US" sz="1800" dirty="0">
                <a:solidFill>
                  <a:srgbClr val="E5E7EB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不双向同步</a:t>
            </a:r>
            <a:r>
              <a:rPr lang="en-US" altLang="zh-CN" sz="1800" dirty="0">
                <a:solidFill>
                  <a:srgbClr val="E5E7EB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+</a:t>
            </a:r>
            <a:r>
              <a:rPr lang="en-US" sz="1800" dirty="0">
                <a:solidFill>
                  <a:srgbClr val="E5E7EB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 SMTP 通知.....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5610" y="545171"/>
            <a:ext cx="74341" cy="495610"/>
          </a:xfrm>
          <a:custGeom>
            <a:avLst/>
            <a:gdLst/>
            <a:ahLst/>
            <a:cxnLst/>
            <a:rect l="l" t="t" r="r" b="b"/>
            <a:pathLst>
              <a:path w="74341" h="495610">
                <a:moveTo>
                  <a:pt x="0" y="0"/>
                </a:moveTo>
                <a:lnTo>
                  <a:pt x="74341" y="0"/>
                </a:lnTo>
                <a:lnTo>
                  <a:pt x="74341" y="495610"/>
                </a:lnTo>
                <a:lnTo>
                  <a:pt x="0" y="495610"/>
                </a:lnTo>
                <a:lnTo>
                  <a:pt x="0" y="0"/>
                </a:lnTo>
                <a:close/>
              </a:path>
            </a:pathLst>
          </a:custGeom>
          <a:solidFill>
            <a:srgbClr val="4F9A94"/>
          </a:solidFill>
        </p:spPr>
      </p:sp>
      <p:sp>
        <p:nvSpPr>
          <p:cNvPr id="3" name="Text 1"/>
          <p:cNvSpPr/>
          <p:nvPr/>
        </p:nvSpPr>
        <p:spPr>
          <a:xfrm>
            <a:off x="718634" y="495610"/>
            <a:ext cx="3865756" cy="5947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685" b="1" dirty="0">
                <a:solidFill>
                  <a:srgbClr val="E5E7E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总体架构设计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92976" y="1214244"/>
            <a:ext cx="1610732" cy="3469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50" dirty="0">
                <a:solidFill>
                  <a:srgbClr val="6B728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星型拓扑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478049" y="1189463"/>
            <a:ext cx="1524000" cy="396488"/>
          </a:xfrm>
          <a:custGeom>
            <a:avLst/>
            <a:gdLst/>
            <a:ahLst/>
            <a:cxnLst/>
            <a:rect l="l" t="t" r="r" b="b"/>
            <a:pathLst>
              <a:path w="1524000" h="396488">
                <a:moveTo>
                  <a:pt x="198244" y="0"/>
                </a:moveTo>
                <a:lnTo>
                  <a:pt x="1325756" y="0"/>
                </a:lnTo>
                <a:cubicBezTo>
                  <a:pt x="1435170" y="0"/>
                  <a:pt x="1524000" y="88830"/>
                  <a:pt x="1524000" y="198244"/>
                </a:cubicBezTo>
                <a:lnTo>
                  <a:pt x="1524000" y="198244"/>
                </a:lnTo>
                <a:cubicBezTo>
                  <a:pt x="1524000" y="307658"/>
                  <a:pt x="1435170" y="396488"/>
                  <a:pt x="1325756" y="396488"/>
                </a:cubicBezTo>
                <a:lnTo>
                  <a:pt x="198244" y="396488"/>
                </a:lnTo>
                <a:cubicBezTo>
                  <a:pt x="88830" y="396488"/>
                  <a:pt x="0" y="307658"/>
                  <a:pt x="0" y="198244"/>
                </a:cubicBezTo>
                <a:lnTo>
                  <a:pt x="0" y="198244"/>
                </a:lnTo>
                <a:cubicBezTo>
                  <a:pt x="0" y="88830"/>
                  <a:pt x="88830" y="0"/>
                  <a:pt x="198244" y="0"/>
                </a:cubicBezTo>
                <a:close/>
              </a:path>
            </a:pathLst>
          </a:custGeom>
          <a:solidFill>
            <a:srgbClr val="4F9A94">
              <a:alpha val="20000"/>
            </a:srgbClr>
          </a:solidFill>
        </p:spPr>
      </p:sp>
      <p:sp>
        <p:nvSpPr>
          <p:cNvPr id="6" name="Text 4"/>
          <p:cNvSpPr/>
          <p:nvPr/>
        </p:nvSpPr>
        <p:spPr>
          <a:xfrm>
            <a:off x="2477770" y="1189355"/>
            <a:ext cx="2176780" cy="396240"/>
          </a:xfrm>
          <a:prstGeom prst="rect">
            <a:avLst/>
          </a:prstGeom>
          <a:noFill/>
        </p:spPr>
        <p:txBody>
          <a:bodyPr wrap="square" lIns="148683" tIns="49561" rIns="148683" bIns="49561" rtlCol="0" anchor="ctr"/>
          <a:lstStyle/>
          <a:p>
            <a:pPr>
              <a:lnSpc>
                <a:spcPct val="130000"/>
              </a:lnSpc>
            </a:pPr>
            <a:r>
              <a:rPr lang="en-US" sz="1560" dirty="0">
                <a:solidFill>
                  <a:srgbClr val="4F9A9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Star Topology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8650" y="2595066"/>
            <a:ext cx="297366" cy="297366"/>
          </a:xfrm>
          <a:custGeom>
            <a:avLst/>
            <a:gdLst/>
            <a:ahLst/>
            <a:cxnLst/>
            <a:rect l="l" t="t" r="r" b="b"/>
            <a:pathLst>
              <a:path w="297366" h="297366">
                <a:moveTo>
                  <a:pt x="111512" y="37171"/>
                </a:moveTo>
                <a:cubicBezTo>
                  <a:pt x="111512" y="26891"/>
                  <a:pt x="119818" y="18585"/>
                  <a:pt x="130098" y="18585"/>
                </a:cubicBezTo>
                <a:lnTo>
                  <a:pt x="167268" y="18585"/>
                </a:lnTo>
                <a:cubicBezTo>
                  <a:pt x="177548" y="18585"/>
                  <a:pt x="185854" y="26891"/>
                  <a:pt x="185854" y="37171"/>
                </a:cubicBezTo>
                <a:lnTo>
                  <a:pt x="185854" y="74341"/>
                </a:lnTo>
                <a:cubicBezTo>
                  <a:pt x="185854" y="84621"/>
                  <a:pt x="177548" y="92927"/>
                  <a:pt x="167268" y="92927"/>
                </a:cubicBezTo>
                <a:lnTo>
                  <a:pt x="162622" y="92927"/>
                </a:lnTo>
                <a:lnTo>
                  <a:pt x="162622" y="130098"/>
                </a:lnTo>
                <a:lnTo>
                  <a:pt x="232317" y="130098"/>
                </a:lnTo>
                <a:cubicBezTo>
                  <a:pt x="255433" y="130098"/>
                  <a:pt x="274134" y="148799"/>
                  <a:pt x="274134" y="171915"/>
                </a:cubicBezTo>
                <a:lnTo>
                  <a:pt x="274134" y="204439"/>
                </a:lnTo>
                <a:lnTo>
                  <a:pt x="278780" y="204439"/>
                </a:lnTo>
                <a:cubicBezTo>
                  <a:pt x="289061" y="204439"/>
                  <a:pt x="297366" y="212744"/>
                  <a:pt x="297366" y="223024"/>
                </a:cubicBezTo>
                <a:lnTo>
                  <a:pt x="297366" y="260195"/>
                </a:lnTo>
                <a:cubicBezTo>
                  <a:pt x="297366" y="270475"/>
                  <a:pt x="289061" y="278780"/>
                  <a:pt x="278780" y="278780"/>
                </a:cubicBezTo>
                <a:lnTo>
                  <a:pt x="241610" y="278780"/>
                </a:lnTo>
                <a:cubicBezTo>
                  <a:pt x="231330" y="278780"/>
                  <a:pt x="223024" y="270475"/>
                  <a:pt x="223024" y="260195"/>
                </a:cubicBezTo>
                <a:lnTo>
                  <a:pt x="223024" y="223024"/>
                </a:lnTo>
                <a:cubicBezTo>
                  <a:pt x="223024" y="212744"/>
                  <a:pt x="231330" y="204439"/>
                  <a:pt x="241610" y="204439"/>
                </a:cubicBezTo>
                <a:lnTo>
                  <a:pt x="246256" y="204439"/>
                </a:lnTo>
                <a:lnTo>
                  <a:pt x="246256" y="171915"/>
                </a:lnTo>
                <a:cubicBezTo>
                  <a:pt x="246256" y="164190"/>
                  <a:pt x="240042" y="157976"/>
                  <a:pt x="232317" y="157976"/>
                </a:cubicBezTo>
                <a:lnTo>
                  <a:pt x="162622" y="157976"/>
                </a:lnTo>
                <a:lnTo>
                  <a:pt x="162622" y="204439"/>
                </a:lnTo>
                <a:lnTo>
                  <a:pt x="167268" y="204439"/>
                </a:lnTo>
                <a:cubicBezTo>
                  <a:pt x="177548" y="204439"/>
                  <a:pt x="185854" y="212744"/>
                  <a:pt x="185854" y="223024"/>
                </a:cubicBezTo>
                <a:lnTo>
                  <a:pt x="185854" y="260195"/>
                </a:lnTo>
                <a:cubicBezTo>
                  <a:pt x="185854" y="270475"/>
                  <a:pt x="177548" y="278780"/>
                  <a:pt x="167268" y="278780"/>
                </a:cubicBezTo>
                <a:lnTo>
                  <a:pt x="130098" y="278780"/>
                </a:lnTo>
                <a:cubicBezTo>
                  <a:pt x="119818" y="278780"/>
                  <a:pt x="111512" y="270475"/>
                  <a:pt x="111512" y="260195"/>
                </a:cubicBezTo>
                <a:lnTo>
                  <a:pt x="111512" y="223024"/>
                </a:lnTo>
                <a:cubicBezTo>
                  <a:pt x="111512" y="212744"/>
                  <a:pt x="119818" y="204439"/>
                  <a:pt x="130098" y="204439"/>
                </a:cubicBezTo>
                <a:lnTo>
                  <a:pt x="134744" y="204439"/>
                </a:lnTo>
                <a:lnTo>
                  <a:pt x="134744" y="157976"/>
                </a:lnTo>
                <a:lnTo>
                  <a:pt x="65049" y="157976"/>
                </a:lnTo>
                <a:cubicBezTo>
                  <a:pt x="57324" y="157976"/>
                  <a:pt x="51110" y="164190"/>
                  <a:pt x="51110" y="171915"/>
                </a:cubicBezTo>
                <a:lnTo>
                  <a:pt x="51110" y="204439"/>
                </a:lnTo>
                <a:lnTo>
                  <a:pt x="55756" y="204439"/>
                </a:lnTo>
                <a:cubicBezTo>
                  <a:pt x="66036" y="204439"/>
                  <a:pt x="74341" y="212744"/>
                  <a:pt x="74341" y="223024"/>
                </a:cubicBezTo>
                <a:lnTo>
                  <a:pt x="74341" y="260195"/>
                </a:lnTo>
                <a:cubicBezTo>
                  <a:pt x="74341" y="270475"/>
                  <a:pt x="66036" y="278780"/>
                  <a:pt x="55756" y="278780"/>
                </a:cubicBezTo>
                <a:lnTo>
                  <a:pt x="18585" y="278780"/>
                </a:lnTo>
                <a:cubicBezTo>
                  <a:pt x="8305" y="278780"/>
                  <a:pt x="0" y="270475"/>
                  <a:pt x="0" y="260195"/>
                </a:cubicBezTo>
                <a:lnTo>
                  <a:pt x="0" y="223024"/>
                </a:lnTo>
                <a:cubicBezTo>
                  <a:pt x="0" y="212744"/>
                  <a:pt x="8305" y="204439"/>
                  <a:pt x="18585" y="204439"/>
                </a:cubicBezTo>
                <a:lnTo>
                  <a:pt x="23232" y="204439"/>
                </a:lnTo>
                <a:lnTo>
                  <a:pt x="23232" y="171915"/>
                </a:lnTo>
                <a:cubicBezTo>
                  <a:pt x="23232" y="148799"/>
                  <a:pt x="41933" y="130098"/>
                  <a:pt x="65049" y="130098"/>
                </a:cubicBezTo>
                <a:lnTo>
                  <a:pt x="134744" y="130098"/>
                </a:lnTo>
                <a:lnTo>
                  <a:pt x="134744" y="92927"/>
                </a:lnTo>
                <a:lnTo>
                  <a:pt x="130098" y="92927"/>
                </a:lnTo>
                <a:cubicBezTo>
                  <a:pt x="119818" y="92927"/>
                  <a:pt x="111512" y="84621"/>
                  <a:pt x="111512" y="74341"/>
                </a:cubicBezTo>
                <a:lnTo>
                  <a:pt x="111512" y="37171"/>
                </a:lnTo>
                <a:close/>
              </a:path>
            </a:pathLst>
          </a:custGeom>
          <a:solidFill>
            <a:srgbClr val="4F9A94"/>
          </a:solidFill>
        </p:spPr>
      </p:sp>
      <p:sp>
        <p:nvSpPr>
          <p:cNvPr id="8" name="Text 6"/>
          <p:cNvSpPr/>
          <p:nvPr/>
        </p:nvSpPr>
        <p:spPr>
          <a:xfrm>
            <a:off x="843280" y="2545715"/>
            <a:ext cx="1547495" cy="396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340" b="1" dirty="0">
                <a:solidFill>
                  <a:srgbClr val="4F9A9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拓扑节点</a:t>
            </a:r>
            <a:endParaRPr lang="en-US" sz="1600" dirty="0"/>
          </a:p>
        </p:txBody>
      </p:sp>
      <p:grpSp>
        <p:nvGrpSpPr>
          <p:cNvPr id="63" name="组合 62"/>
          <p:cNvGrpSpPr/>
          <p:nvPr/>
        </p:nvGrpSpPr>
        <p:grpSpPr>
          <a:xfrm>
            <a:off x="633095" y="3162300"/>
            <a:ext cx="4410075" cy="1845310"/>
            <a:chOff x="780" y="3746"/>
            <a:chExt cx="6134" cy="2906"/>
          </a:xfrm>
        </p:grpSpPr>
        <p:sp>
          <p:nvSpPr>
            <p:cNvPr id="15" name="Text 13"/>
            <p:cNvSpPr/>
            <p:nvPr/>
          </p:nvSpPr>
          <p:spPr>
            <a:xfrm>
              <a:off x="1194" y="5259"/>
              <a:ext cx="5067" cy="48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560" b="1" dirty="0">
                  <a:solidFill>
                    <a:srgbClr val="4F9A94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DB:</a:t>
              </a:r>
              <a:r>
                <a:rPr lang="en-US" sz="1560" dirty="0">
                  <a:solidFill>
                    <a:srgbClr val="E5E7EB">
                      <a:alpha val="90000"/>
                    </a:srgbClr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 MariaDB </a:t>
              </a:r>
              <a:r>
                <a:rPr lang="en-US" sz="1560" dirty="0">
                  <a:solidFill>
                    <a:srgbClr val="E5E7EB">
                      <a:alpha val="90000"/>
                    </a:srgbClr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(WorkerID=1)</a:t>
              </a:r>
              <a:endParaRPr lang="en-US" sz="16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780" y="3746"/>
              <a:ext cx="6135" cy="2907"/>
            </a:xfrm>
            <a:custGeom>
              <a:avLst/>
              <a:gdLst/>
              <a:ahLst/>
              <a:cxnLst/>
              <a:rect l="l" t="t" r="r" b="b"/>
              <a:pathLst>
                <a:path w="5959707" h="1846146">
                  <a:moveTo>
                    <a:pt x="0" y="0"/>
                  </a:moveTo>
                  <a:lnTo>
                    <a:pt x="5860588" y="0"/>
                  </a:lnTo>
                  <a:cubicBezTo>
                    <a:pt x="5915330" y="0"/>
                    <a:pt x="5959707" y="44377"/>
                    <a:pt x="5959707" y="99120"/>
                  </a:cubicBezTo>
                  <a:lnTo>
                    <a:pt x="5959707" y="1747027"/>
                  </a:lnTo>
                  <a:cubicBezTo>
                    <a:pt x="5959707" y="1801769"/>
                    <a:pt x="5915330" y="1846146"/>
                    <a:pt x="5860588" y="1846146"/>
                  </a:cubicBezTo>
                  <a:lnTo>
                    <a:pt x="0" y="18461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4A5C">
                <a:alpha val="30196"/>
              </a:srgbClr>
            </a:solidFill>
          </p:spPr>
          <p:txBody>
            <a:bodyPr/>
            <a:p>
              <a:endParaRPr lang="zh-CN" altLang="en-US"/>
            </a:p>
          </p:txBody>
        </p:sp>
        <p:sp>
          <p:nvSpPr>
            <p:cNvPr id="10" name="Shape 8"/>
            <p:cNvSpPr/>
            <p:nvPr/>
          </p:nvSpPr>
          <p:spPr>
            <a:xfrm>
              <a:off x="820" y="3746"/>
              <a:ext cx="78" cy="2907"/>
            </a:xfrm>
            <a:custGeom>
              <a:avLst/>
              <a:gdLst/>
              <a:ahLst/>
              <a:cxnLst/>
              <a:rect l="l" t="t" r="r" b="b"/>
              <a:pathLst>
                <a:path w="49561" h="1846146">
                  <a:moveTo>
                    <a:pt x="0" y="0"/>
                  </a:moveTo>
                  <a:lnTo>
                    <a:pt x="49561" y="0"/>
                  </a:lnTo>
                  <a:lnTo>
                    <a:pt x="49561" y="1846146"/>
                  </a:lnTo>
                  <a:lnTo>
                    <a:pt x="0" y="18461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9A94"/>
            </a:solidFill>
          </p:spPr>
        </p:sp>
        <p:sp>
          <p:nvSpPr>
            <p:cNvPr id="11" name="Shape 9"/>
            <p:cNvSpPr/>
            <p:nvPr/>
          </p:nvSpPr>
          <p:spPr>
            <a:xfrm>
              <a:off x="1171" y="4136"/>
              <a:ext cx="780" cy="780"/>
            </a:xfrm>
            <a:custGeom>
              <a:avLst/>
              <a:gdLst/>
              <a:ahLst/>
              <a:cxnLst/>
              <a:rect l="l" t="t" r="r" b="b"/>
              <a:pathLst>
                <a:path w="495610" h="495610">
                  <a:moveTo>
                    <a:pt x="247805" y="0"/>
                  </a:moveTo>
                  <a:lnTo>
                    <a:pt x="247805" y="0"/>
                  </a:lnTo>
                  <a:cubicBezTo>
                    <a:pt x="384572" y="0"/>
                    <a:pt x="495610" y="111038"/>
                    <a:pt x="495610" y="247805"/>
                  </a:cubicBezTo>
                  <a:lnTo>
                    <a:pt x="495610" y="247805"/>
                  </a:lnTo>
                  <a:cubicBezTo>
                    <a:pt x="495610" y="384572"/>
                    <a:pt x="384572" y="495610"/>
                    <a:pt x="247805" y="495610"/>
                  </a:cubicBezTo>
                  <a:lnTo>
                    <a:pt x="247805" y="495610"/>
                  </a:lnTo>
                  <a:cubicBezTo>
                    <a:pt x="111038" y="495610"/>
                    <a:pt x="0" y="384572"/>
                    <a:pt x="0" y="247805"/>
                  </a:cubicBezTo>
                  <a:lnTo>
                    <a:pt x="0" y="247805"/>
                  </a:lnTo>
                  <a:cubicBezTo>
                    <a:pt x="0" y="111038"/>
                    <a:pt x="111038" y="0"/>
                    <a:pt x="247805" y="0"/>
                  </a:cubicBezTo>
                  <a:close/>
                </a:path>
              </a:pathLst>
            </a:custGeom>
            <a:solidFill>
              <a:srgbClr val="4F9A94"/>
            </a:solidFill>
          </p:spPr>
        </p:sp>
        <p:sp>
          <p:nvSpPr>
            <p:cNvPr id="12" name="Shape 10"/>
            <p:cNvSpPr/>
            <p:nvPr/>
          </p:nvSpPr>
          <p:spPr>
            <a:xfrm>
              <a:off x="1390" y="4332"/>
              <a:ext cx="341" cy="390"/>
            </a:xfrm>
            <a:custGeom>
              <a:avLst/>
              <a:gdLst/>
              <a:ahLst/>
              <a:cxnLst/>
              <a:rect l="l" t="t" r="r" b="b"/>
              <a:pathLst>
                <a:path w="216829" h="247805">
                  <a:moveTo>
                    <a:pt x="216829" y="99606"/>
                  </a:moveTo>
                  <a:cubicBezTo>
                    <a:pt x="209666" y="104349"/>
                    <a:pt x="201438" y="108173"/>
                    <a:pt x="192872" y="111222"/>
                  </a:cubicBezTo>
                  <a:cubicBezTo>
                    <a:pt x="170124" y="119353"/>
                    <a:pt x="140261" y="123902"/>
                    <a:pt x="108415" y="123902"/>
                  </a:cubicBezTo>
                  <a:cubicBezTo>
                    <a:pt x="76568" y="123902"/>
                    <a:pt x="46657" y="119304"/>
                    <a:pt x="23958" y="111222"/>
                  </a:cubicBezTo>
                  <a:cubicBezTo>
                    <a:pt x="15439" y="108173"/>
                    <a:pt x="7163" y="104349"/>
                    <a:pt x="0" y="99606"/>
                  </a:cubicBezTo>
                  <a:lnTo>
                    <a:pt x="0" y="139390"/>
                  </a:lnTo>
                  <a:cubicBezTo>
                    <a:pt x="0" y="160783"/>
                    <a:pt x="48545" y="178110"/>
                    <a:pt x="108415" y="178110"/>
                  </a:cubicBezTo>
                  <a:cubicBezTo>
                    <a:pt x="168285" y="178110"/>
                    <a:pt x="216829" y="160783"/>
                    <a:pt x="216829" y="139390"/>
                  </a:cubicBezTo>
                  <a:lnTo>
                    <a:pt x="216829" y="99606"/>
                  </a:lnTo>
                  <a:close/>
                  <a:moveTo>
                    <a:pt x="216829" y="61951"/>
                  </a:moveTo>
                  <a:lnTo>
                    <a:pt x="216829" y="38720"/>
                  </a:lnTo>
                  <a:cubicBezTo>
                    <a:pt x="216829" y="17327"/>
                    <a:pt x="168285" y="0"/>
                    <a:pt x="108415" y="0"/>
                  </a:cubicBezTo>
                  <a:cubicBezTo>
                    <a:pt x="48545" y="0"/>
                    <a:pt x="0" y="17327"/>
                    <a:pt x="0" y="38720"/>
                  </a:cubicBezTo>
                  <a:lnTo>
                    <a:pt x="0" y="61951"/>
                  </a:lnTo>
                  <a:cubicBezTo>
                    <a:pt x="0" y="83344"/>
                    <a:pt x="48545" y="100671"/>
                    <a:pt x="108415" y="100671"/>
                  </a:cubicBezTo>
                  <a:cubicBezTo>
                    <a:pt x="168285" y="100671"/>
                    <a:pt x="216829" y="83344"/>
                    <a:pt x="216829" y="61951"/>
                  </a:cubicBezTo>
                  <a:close/>
                  <a:moveTo>
                    <a:pt x="192872" y="188661"/>
                  </a:moveTo>
                  <a:cubicBezTo>
                    <a:pt x="170172" y="196744"/>
                    <a:pt x="140310" y="201341"/>
                    <a:pt x="108415" y="201341"/>
                  </a:cubicBezTo>
                  <a:cubicBezTo>
                    <a:pt x="76519" y="201341"/>
                    <a:pt x="46657" y="196744"/>
                    <a:pt x="23958" y="188661"/>
                  </a:cubicBezTo>
                  <a:cubicBezTo>
                    <a:pt x="15439" y="185612"/>
                    <a:pt x="7163" y="181788"/>
                    <a:pt x="0" y="177045"/>
                  </a:cubicBezTo>
                  <a:lnTo>
                    <a:pt x="0" y="209085"/>
                  </a:lnTo>
                  <a:cubicBezTo>
                    <a:pt x="0" y="230478"/>
                    <a:pt x="48545" y="247805"/>
                    <a:pt x="108415" y="247805"/>
                  </a:cubicBezTo>
                  <a:cubicBezTo>
                    <a:pt x="168285" y="247805"/>
                    <a:pt x="216829" y="230478"/>
                    <a:pt x="216829" y="209085"/>
                  </a:cubicBezTo>
                  <a:lnTo>
                    <a:pt x="216829" y="177045"/>
                  </a:lnTo>
                  <a:cubicBezTo>
                    <a:pt x="209666" y="181788"/>
                    <a:pt x="201438" y="185612"/>
                    <a:pt x="192872" y="188661"/>
                  </a:cubicBezTo>
                  <a:close/>
                </a:path>
              </a:pathLst>
            </a:custGeom>
            <a:solidFill>
              <a:srgbClr val="1A1D21"/>
            </a:solidFill>
          </p:spPr>
        </p:sp>
        <p:sp>
          <p:nvSpPr>
            <p:cNvPr id="13" name="Text 11"/>
            <p:cNvSpPr/>
            <p:nvPr/>
          </p:nvSpPr>
          <p:spPr>
            <a:xfrm>
              <a:off x="2185" y="4058"/>
              <a:ext cx="2010" cy="54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755" b="1" dirty="0">
                  <a:solidFill>
                    <a:srgbClr val="E5E7EB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Edge North</a:t>
              </a:r>
              <a:endParaRPr lang="en-US" sz="16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2185" y="4605"/>
              <a:ext cx="1971" cy="39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365" dirty="0">
                  <a:solidFill>
                    <a:srgbClr val="6B7280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本部数据中心</a:t>
              </a:r>
              <a:endParaRPr lang="en-US" sz="16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1249" y="5940"/>
              <a:ext cx="234" cy="312"/>
            </a:xfrm>
            <a:custGeom>
              <a:avLst/>
              <a:gdLst/>
              <a:ahLst/>
              <a:cxnLst/>
              <a:rect l="l" t="t" r="r" b="b"/>
              <a:pathLst>
                <a:path w="148683" h="198244">
                  <a:moveTo>
                    <a:pt x="0" y="73025"/>
                  </a:moveTo>
                  <a:cubicBezTo>
                    <a:pt x="0" y="32679"/>
                    <a:pt x="33299" y="0"/>
                    <a:pt x="74341" y="0"/>
                  </a:cubicBezTo>
                  <a:cubicBezTo>
                    <a:pt x="115384" y="0"/>
                    <a:pt x="148683" y="32679"/>
                    <a:pt x="148683" y="73025"/>
                  </a:cubicBezTo>
                  <a:cubicBezTo>
                    <a:pt x="148683" y="119217"/>
                    <a:pt x="102142" y="174586"/>
                    <a:pt x="82705" y="195688"/>
                  </a:cubicBezTo>
                  <a:cubicBezTo>
                    <a:pt x="78136" y="200645"/>
                    <a:pt x="70508" y="200645"/>
                    <a:pt x="65939" y="195688"/>
                  </a:cubicBezTo>
                  <a:cubicBezTo>
                    <a:pt x="46502" y="174586"/>
                    <a:pt x="-39" y="119217"/>
                    <a:pt x="-39" y="73025"/>
                  </a:cubicBezTo>
                  <a:close/>
                  <a:moveTo>
                    <a:pt x="74341" y="99122"/>
                  </a:moveTo>
                  <a:cubicBezTo>
                    <a:pt x="88018" y="99122"/>
                    <a:pt x="99122" y="88018"/>
                    <a:pt x="99122" y="74341"/>
                  </a:cubicBezTo>
                  <a:cubicBezTo>
                    <a:pt x="99122" y="60665"/>
                    <a:pt x="88018" y="49561"/>
                    <a:pt x="74341" y="49561"/>
                  </a:cubicBezTo>
                  <a:cubicBezTo>
                    <a:pt x="60665" y="49561"/>
                    <a:pt x="49561" y="60665"/>
                    <a:pt x="49561" y="74341"/>
                  </a:cubicBezTo>
                  <a:cubicBezTo>
                    <a:pt x="49561" y="88018"/>
                    <a:pt x="60665" y="99122"/>
                    <a:pt x="74341" y="99122"/>
                  </a:cubicBezTo>
                  <a:close/>
                </a:path>
              </a:pathLst>
            </a:custGeom>
            <a:solidFill>
              <a:srgbClr val="4F9A94"/>
            </a:solidFill>
          </p:spPr>
        </p:sp>
        <p:sp>
          <p:nvSpPr>
            <p:cNvPr id="17" name="Text 15"/>
            <p:cNvSpPr/>
            <p:nvPr/>
          </p:nvSpPr>
          <p:spPr>
            <a:xfrm>
              <a:off x="1713" y="5898"/>
              <a:ext cx="4751" cy="46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560" dirty="0">
                  <a:solidFill>
                    <a:srgbClr val="E5E7EB">
                      <a:alpha val="80000"/>
                    </a:srgbClr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就近读写，低延迟</a:t>
              </a:r>
              <a:endParaRPr lang="en-US" sz="1600" dirty="0"/>
            </a:p>
          </p:txBody>
        </p:sp>
      </p:grpSp>
      <p:grpSp>
        <p:nvGrpSpPr>
          <p:cNvPr id="64" name="组合 63"/>
          <p:cNvGrpSpPr/>
          <p:nvPr/>
        </p:nvGrpSpPr>
        <p:grpSpPr>
          <a:xfrm>
            <a:off x="5891530" y="3162300"/>
            <a:ext cx="4616450" cy="1845945"/>
            <a:chOff x="10173" y="3646"/>
            <a:chExt cx="7120" cy="2907"/>
          </a:xfrm>
        </p:grpSpPr>
        <p:sp>
          <p:nvSpPr>
            <p:cNvPr id="18" name="Shape 16"/>
            <p:cNvSpPr/>
            <p:nvPr/>
          </p:nvSpPr>
          <p:spPr>
            <a:xfrm>
              <a:off x="10173" y="3646"/>
              <a:ext cx="7120" cy="2907"/>
            </a:xfrm>
            <a:custGeom>
              <a:avLst/>
              <a:gdLst/>
              <a:ahLst/>
              <a:cxnLst/>
              <a:rect l="l" t="t" r="r" b="b"/>
              <a:pathLst>
                <a:path w="5959707" h="1846146">
                  <a:moveTo>
                    <a:pt x="0" y="0"/>
                  </a:moveTo>
                  <a:lnTo>
                    <a:pt x="5860588" y="0"/>
                  </a:lnTo>
                  <a:cubicBezTo>
                    <a:pt x="5915330" y="0"/>
                    <a:pt x="5959707" y="44377"/>
                    <a:pt x="5959707" y="99120"/>
                  </a:cubicBezTo>
                  <a:lnTo>
                    <a:pt x="5959707" y="1747027"/>
                  </a:lnTo>
                  <a:cubicBezTo>
                    <a:pt x="5959707" y="1801769"/>
                    <a:pt x="5915330" y="1846146"/>
                    <a:pt x="5860588" y="1846146"/>
                  </a:cubicBezTo>
                  <a:lnTo>
                    <a:pt x="0" y="18461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4A5C">
                <a:alpha val="30196"/>
              </a:srgbClr>
            </a:solidFill>
          </p:spPr>
        </p:sp>
        <p:sp>
          <p:nvSpPr>
            <p:cNvPr id="19" name="Shape 17"/>
            <p:cNvSpPr/>
            <p:nvPr/>
          </p:nvSpPr>
          <p:spPr>
            <a:xfrm>
              <a:off x="10173" y="3646"/>
              <a:ext cx="78" cy="2907"/>
            </a:xfrm>
            <a:custGeom>
              <a:avLst/>
              <a:gdLst/>
              <a:ahLst/>
              <a:cxnLst/>
              <a:rect l="l" t="t" r="r" b="b"/>
              <a:pathLst>
                <a:path w="49561" h="1846146">
                  <a:moveTo>
                    <a:pt x="0" y="0"/>
                  </a:moveTo>
                  <a:lnTo>
                    <a:pt x="49561" y="0"/>
                  </a:lnTo>
                  <a:lnTo>
                    <a:pt x="49561" y="1846146"/>
                  </a:lnTo>
                  <a:lnTo>
                    <a:pt x="0" y="18461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B7280"/>
            </a:solidFill>
          </p:spPr>
        </p:sp>
        <p:sp>
          <p:nvSpPr>
            <p:cNvPr id="20" name="Shape 18"/>
            <p:cNvSpPr/>
            <p:nvPr/>
          </p:nvSpPr>
          <p:spPr>
            <a:xfrm>
              <a:off x="10524" y="4036"/>
              <a:ext cx="780" cy="780"/>
            </a:xfrm>
            <a:custGeom>
              <a:avLst/>
              <a:gdLst/>
              <a:ahLst/>
              <a:cxnLst/>
              <a:rect l="l" t="t" r="r" b="b"/>
              <a:pathLst>
                <a:path w="495610" h="495610">
                  <a:moveTo>
                    <a:pt x="247805" y="0"/>
                  </a:moveTo>
                  <a:lnTo>
                    <a:pt x="247805" y="0"/>
                  </a:lnTo>
                  <a:cubicBezTo>
                    <a:pt x="384572" y="0"/>
                    <a:pt x="495610" y="111038"/>
                    <a:pt x="495610" y="247805"/>
                  </a:cubicBezTo>
                  <a:lnTo>
                    <a:pt x="495610" y="247805"/>
                  </a:lnTo>
                  <a:cubicBezTo>
                    <a:pt x="495610" y="384572"/>
                    <a:pt x="384572" y="495610"/>
                    <a:pt x="247805" y="495610"/>
                  </a:cubicBezTo>
                  <a:lnTo>
                    <a:pt x="247805" y="495610"/>
                  </a:lnTo>
                  <a:cubicBezTo>
                    <a:pt x="111038" y="495610"/>
                    <a:pt x="0" y="384572"/>
                    <a:pt x="0" y="247805"/>
                  </a:cubicBezTo>
                  <a:lnTo>
                    <a:pt x="0" y="247805"/>
                  </a:lnTo>
                  <a:cubicBezTo>
                    <a:pt x="0" y="111038"/>
                    <a:pt x="111038" y="0"/>
                    <a:pt x="247805" y="0"/>
                  </a:cubicBezTo>
                  <a:close/>
                </a:path>
              </a:pathLst>
            </a:custGeom>
            <a:solidFill>
              <a:srgbClr val="6B7280"/>
            </a:solidFill>
          </p:spPr>
        </p:sp>
        <p:sp>
          <p:nvSpPr>
            <p:cNvPr id="21" name="Shape 19"/>
            <p:cNvSpPr/>
            <p:nvPr/>
          </p:nvSpPr>
          <p:spPr>
            <a:xfrm>
              <a:off x="10743" y="4232"/>
              <a:ext cx="341" cy="390"/>
            </a:xfrm>
            <a:custGeom>
              <a:avLst/>
              <a:gdLst/>
              <a:ahLst/>
              <a:cxnLst/>
              <a:rect l="l" t="t" r="r" b="b"/>
              <a:pathLst>
                <a:path w="216829" h="247805">
                  <a:moveTo>
                    <a:pt x="216829" y="99606"/>
                  </a:moveTo>
                  <a:cubicBezTo>
                    <a:pt x="209666" y="104349"/>
                    <a:pt x="201438" y="108173"/>
                    <a:pt x="192872" y="111222"/>
                  </a:cubicBezTo>
                  <a:cubicBezTo>
                    <a:pt x="170124" y="119353"/>
                    <a:pt x="140261" y="123902"/>
                    <a:pt x="108415" y="123902"/>
                  </a:cubicBezTo>
                  <a:cubicBezTo>
                    <a:pt x="76568" y="123902"/>
                    <a:pt x="46657" y="119304"/>
                    <a:pt x="23958" y="111222"/>
                  </a:cubicBezTo>
                  <a:cubicBezTo>
                    <a:pt x="15439" y="108173"/>
                    <a:pt x="7163" y="104349"/>
                    <a:pt x="0" y="99606"/>
                  </a:cubicBezTo>
                  <a:lnTo>
                    <a:pt x="0" y="139390"/>
                  </a:lnTo>
                  <a:cubicBezTo>
                    <a:pt x="0" y="160783"/>
                    <a:pt x="48545" y="178110"/>
                    <a:pt x="108415" y="178110"/>
                  </a:cubicBezTo>
                  <a:cubicBezTo>
                    <a:pt x="168285" y="178110"/>
                    <a:pt x="216829" y="160783"/>
                    <a:pt x="216829" y="139390"/>
                  </a:cubicBezTo>
                  <a:lnTo>
                    <a:pt x="216829" y="99606"/>
                  </a:lnTo>
                  <a:close/>
                  <a:moveTo>
                    <a:pt x="216829" y="61951"/>
                  </a:moveTo>
                  <a:lnTo>
                    <a:pt x="216829" y="38720"/>
                  </a:lnTo>
                  <a:cubicBezTo>
                    <a:pt x="216829" y="17327"/>
                    <a:pt x="168285" y="0"/>
                    <a:pt x="108415" y="0"/>
                  </a:cubicBezTo>
                  <a:cubicBezTo>
                    <a:pt x="48545" y="0"/>
                    <a:pt x="0" y="17327"/>
                    <a:pt x="0" y="38720"/>
                  </a:cubicBezTo>
                  <a:lnTo>
                    <a:pt x="0" y="61951"/>
                  </a:lnTo>
                  <a:cubicBezTo>
                    <a:pt x="0" y="83344"/>
                    <a:pt x="48545" y="100671"/>
                    <a:pt x="108415" y="100671"/>
                  </a:cubicBezTo>
                  <a:cubicBezTo>
                    <a:pt x="168285" y="100671"/>
                    <a:pt x="216829" y="83344"/>
                    <a:pt x="216829" y="61951"/>
                  </a:cubicBezTo>
                  <a:close/>
                  <a:moveTo>
                    <a:pt x="192872" y="188661"/>
                  </a:moveTo>
                  <a:cubicBezTo>
                    <a:pt x="170172" y="196744"/>
                    <a:pt x="140310" y="201341"/>
                    <a:pt x="108415" y="201341"/>
                  </a:cubicBezTo>
                  <a:cubicBezTo>
                    <a:pt x="76519" y="201341"/>
                    <a:pt x="46657" y="196744"/>
                    <a:pt x="23958" y="188661"/>
                  </a:cubicBezTo>
                  <a:cubicBezTo>
                    <a:pt x="15439" y="185612"/>
                    <a:pt x="7163" y="181788"/>
                    <a:pt x="0" y="177045"/>
                  </a:cubicBezTo>
                  <a:lnTo>
                    <a:pt x="0" y="209085"/>
                  </a:lnTo>
                  <a:cubicBezTo>
                    <a:pt x="0" y="230478"/>
                    <a:pt x="48545" y="247805"/>
                    <a:pt x="108415" y="247805"/>
                  </a:cubicBezTo>
                  <a:cubicBezTo>
                    <a:pt x="168285" y="247805"/>
                    <a:pt x="216829" y="230478"/>
                    <a:pt x="216829" y="209085"/>
                  </a:cubicBezTo>
                  <a:lnTo>
                    <a:pt x="216829" y="177045"/>
                  </a:lnTo>
                  <a:cubicBezTo>
                    <a:pt x="209666" y="181788"/>
                    <a:pt x="201438" y="185612"/>
                    <a:pt x="192872" y="188661"/>
                  </a:cubicBezTo>
                  <a:close/>
                </a:path>
              </a:pathLst>
            </a:custGeom>
            <a:solidFill>
              <a:srgbClr val="E5E7EB"/>
            </a:solidFill>
          </p:spPr>
        </p:sp>
        <p:sp>
          <p:nvSpPr>
            <p:cNvPr id="22" name="Text 20"/>
            <p:cNvSpPr/>
            <p:nvPr/>
          </p:nvSpPr>
          <p:spPr>
            <a:xfrm>
              <a:off x="11538" y="3958"/>
              <a:ext cx="2049" cy="54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755" b="1" dirty="0">
                  <a:solidFill>
                    <a:srgbClr val="E5E7EB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Edge South</a:t>
              </a:r>
              <a:endParaRPr lang="en-US" sz="16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11538" y="4505"/>
              <a:ext cx="2010" cy="39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365" dirty="0">
                  <a:solidFill>
                    <a:srgbClr val="6B7280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南校数据中心</a:t>
              </a:r>
              <a:endParaRPr lang="en-US" sz="160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10524" y="5066"/>
              <a:ext cx="5027" cy="48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560" b="1" dirty="0">
                  <a:solidFill>
                    <a:srgbClr val="6B7280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DB:</a:t>
              </a:r>
              <a:r>
                <a:rPr lang="en-US" sz="1560" dirty="0">
                  <a:solidFill>
                    <a:srgbClr val="E5E7EB">
                      <a:alpha val="90000"/>
                    </a:srgbClr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 PostgreSQL </a:t>
              </a:r>
              <a:r>
                <a:rPr lang="en-US" sz="1560" dirty="0">
                  <a:solidFill>
                    <a:srgbClr val="E5E7EB">
                      <a:alpha val="90000"/>
                    </a:srgbClr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(WorkerID=2)</a:t>
              </a:r>
              <a:endParaRPr lang="en-US" sz="16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10602" y="5840"/>
              <a:ext cx="234" cy="312"/>
            </a:xfrm>
            <a:custGeom>
              <a:avLst/>
              <a:gdLst/>
              <a:ahLst/>
              <a:cxnLst/>
              <a:rect l="l" t="t" r="r" b="b"/>
              <a:pathLst>
                <a:path w="148683" h="198244">
                  <a:moveTo>
                    <a:pt x="0" y="73025"/>
                  </a:moveTo>
                  <a:cubicBezTo>
                    <a:pt x="0" y="32679"/>
                    <a:pt x="33299" y="0"/>
                    <a:pt x="74341" y="0"/>
                  </a:cubicBezTo>
                  <a:cubicBezTo>
                    <a:pt x="115384" y="0"/>
                    <a:pt x="148683" y="32679"/>
                    <a:pt x="148683" y="73025"/>
                  </a:cubicBezTo>
                  <a:cubicBezTo>
                    <a:pt x="148683" y="119217"/>
                    <a:pt x="102142" y="174586"/>
                    <a:pt x="82705" y="195688"/>
                  </a:cubicBezTo>
                  <a:cubicBezTo>
                    <a:pt x="78136" y="200645"/>
                    <a:pt x="70508" y="200645"/>
                    <a:pt x="65939" y="195688"/>
                  </a:cubicBezTo>
                  <a:cubicBezTo>
                    <a:pt x="46502" y="174586"/>
                    <a:pt x="-39" y="119217"/>
                    <a:pt x="-39" y="73025"/>
                  </a:cubicBezTo>
                  <a:close/>
                  <a:moveTo>
                    <a:pt x="74341" y="99122"/>
                  </a:moveTo>
                  <a:cubicBezTo>
                    <a:pt x="88018" y="99122"/>
                    <a:pt x="99122" y="88018"/>
                    <a:pt x="99122" y="74341"/>
                  </a:cubicBezTo>
                  <a:cubicBezTo>
                    <a:pt x="99122" y="60665"/>
                    <a:pt x="88018" y="49561"/>
                    <a:pt x="74341" y="49561"/>
                  </a:cubicBezTo>
                  <a:cubicBezTo>
                    <a:pt x="60665" y="49561"/>
                    <a:pt x="49561" y="60665"/>
                    <a:pt x="49561" y="74341"/>
                  </a:cubicBezTo>
                  <a:cubicBezTo>
                    <a:pt x="49561" y="88018"/>
                    <a:pt x="60665" y="99122"/>
                    <a:pt x="74341" y="99122"/>
                  </a:cubicBezTo>
                  <a:close/>
                </a:path>
              </a:pathLst>
            </a:custGeom>
            <a:solidFill>
              <a:srgbClr val="6B7280"/>
            </a:solidFill>
          </p:spPr>
        </p:sp>
        <p:sp>
          <p:nvSpPr>
            <p:cNvPr id="26" name="Text 24"/>
            <p:cNvSpPr/>
            <p:nvPr/>
          </p:nvSpPr>
          <p:spPr>
            <a:xfrm>
              <a:off x="11187" y="5724"/>
              <a:ext cx="3681" cy="46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560" dirty="0">
                  <a:solidFill>
                    <a:srgbClr val="E5E7EB">
                      <a:alpha val="80000"/>
                    </a:srgbClr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就近读写，低延迟</a:t>
              </a:r>
              <a:endParaRPr lang="en-US" sz="1600" dirty="0"/>
            </a:p>
          </p:txBody>
        </p:sp>
      </p:grpSp>
      <p:grpSp>
        <p:nvGrpSpPr>
          <p:cNvPr id="89" name="组合 88"/>
          <p:cNvGrpSpPr/>
          <p:nvPr/>
        </p:nvGrpSpPr>
        <p:grpSpPr>
          <a:xfrm>
            <a:off x="11347450" y="3162300"/>
            <a:ext cx="4613910" cy="1845310"/>
            <a:chOff x="17782" y="4980"/>
            <a:chExt cx="7266" cy="2906"/>
          </a:xfrm>
        </p:grpSpPr>
        <p:sp>
          <p:nvSpPr>
            <p:cNvPr id="27" name="Shape 25"/>
            <p:cNvSpPr/>
            <p:nvPr/>
          </p:nvSpPr>
          <p:spPr>
            <a:xfrm>
              <a:off x="17782" y="4980"/>
              <a:ext cx="7267" cy="2907"/>
            </a:xfrm>
            <a:custGeom>
              <a:avLst/>
              <a:gdLst/>
              <a:ahLst/>
              <a:cxnLst/>
              <a:rect l="l" t="t" r="r" b="b"/>
              <a:pathLst>
                <a:path w="5959707" h="1846146">
                  <a:moveTo>
                    <a:pt x="0" y="0"/>
                  </a:moveTo>
                  <a:lnTo>
                    <a:pt x="5860588" y="0"/>
                  </a:lnTo>
                  <a:cubicBezTo>
                    <a:pt x="5915330" y="0"/>
                    <a:pt x="5959707" y="44377"/>
                    <a:pt x="5959707" y="99120"/>
                  </a:cubicBezTo>
                  <a:lnTo>
                    <a:pt x="5959707" y="1747027"/>
                  </a:lnTo>
                  <a:cubicBezTo>
                    <a:pt x="5959707" y="1801769"/>
                    <a:pt x="5915330" y="1846146"/>
                    <a:pt x="5860588" y="1846146"/>
                  </a:cubicBezTo>
                  <a:lnTo>
                    <a:pt x="0" y="18461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4A5C">
                <a:alpha val="30196"/>
              </a:srgbClr>
            </a:solidFill>
          </p:spPr>
          <p:txBody>
            <a:bodyPr/>
            <a:p>
              <a:endParaRPr lang="zh-CN" altLang="en-US"/>
            </a:p>
          </p:txBody>
        </p:sp>
        <p:sp>
          <p:nvSpPr>
            <p:cNvPr id="28" name="Shape 26"/>
            <p:cNvSpPr/>
            <p:nvPr/>
          </p:nvSpPr>
          <p:spPr>
            <a:xfrm>
              <a:off x="17842" y="4980"/>
              <a:ext cx="87" cy="2907"/>
            </a:xfrm>
            <a:custGeom>
              <a:avLst/>
              <a:gdLst/>
              <a:ahLst/>
              <a:cxnLst/>
              <a:rect l="l" t="t" r="r" b="b"/>
              <a:pathLst>
                <a:path w="49561" h="1846146">
                  <a:moveTo>
                    <a:pt x="0" y="0"/>
                  </a:moveTo>
                  <a:lnTo>
                    <a:pt x="49561" y="0"/>
                  </a:lnTo>
                  <a:lnTo>
                    <a:pt x="49561" y="1846146"/>
                  </a:lnTo>
                  <a:lnTo>
                    <a:pt x="0" y="18461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9A94"/>
            </a:solidFill>
          </p:spPr>
          <p:txBody>
            <a:bodyPr/>
            <a:p>
              <a:endParaRPr lang="zh-CN" altLang="en-US"/>
            </a:p>
          </p:txBody>
        </p:sp>
        <p:sp>
          <p:nvSpPr>
            <p:cNvPr id="29" name="Shape 27"/>
            <p:cNvSpPr/>
            <p:nvPr/>
          </p:nvSpPr>
          <p:spPr>
            <a:xfrm>
              <a:off x="18233" y="5370"/>
              <a:ext cx="869" cy="780"/>
            </a:xfrm>
            <a:custGeom>
              <a:avLst/>
              <a:gdLst/>
              <a:ahLst/>
              <a:cxnLst/>
              <a:rect l="l" t="t" r="r" b="b"/>
              <a:pathLst>
                <a:path w="495610" h="495610">
                  <a:moveTo>
                    <a:pt x="247805" y="0"/>
                  </a:moveTo>
                  <a:lnTo>
                    <a:pt x="247805" y="0"/>
                  </a:lnTo>
                  <a:cubicBezTo>
                    <a:pt x="384572" y="0"/>
                    <a:pt x="495610" y="111038"/>
                    <a:pt x="495610" y="247805"/>
                  </a:cubicBezTo>
                  <a:lnTo>
                    <a:pt x="495610" y="247805"/>
                  </a:lnTo>
                  <a:cubicBezTo>
                    <a:pt x="495610" y="384572"/>
                    <a:pt x="384572" y="495610"/>
                    <a:pt x="247805" y="495610"/>
                  </a:cubicBezTo>
                  <a:lnTo>
                    <a:pt x="247805" y="495610"/>
                  </a:lnTo>
                  <a:cubicBezTo>
                    <a:pt x="111038" y="495610"/>
                    <a:pt x="0" y="384572"/>
                    <a:pt x="0" y="247805"/>
                  </a:cubicBezTo>
                  <a:lnTo>
                    <a:pt x="0" y="247805"/>
                  </a:lnTo>
                  <a:cubicBezTo>
                    <a:pt x="0" y="111038"/>
                    <a:pt x="111038" y="0"/>
                    <a:pt x="247805" y="0"/>
                  </a:cubicBezTo>
                  <a:close/>
                </a:path>
              </a:pathLst>
            </a:custGeom>
            <a:solidFill>
              <a:srgbClr val="4F9A94"/>
            </a:solidFill>
          </p:spPr>
        </p:sp>
        <p:sp>
          <p:nvSpPr>
            <p:cNvPr id="30" name="Shape 28"/>
            <p:cNvSpPr/>
            <p:nvPr/>
          </p:nvSpPr>
          <p:spPr>
            <a:xfrm>
              <a:off x="18477" y="5566"/>
              <a:ext cx="380" cy="390"/>
            </a:xfrm>
            <a:custGeom>
              <a:avLst/>
              <a:gdLst/>
              <a:ahLst/>
              <a:cxnLst/>
              <a:rect l="l" t="t" r="r" b="b"/>
              <a:pathLst>
                <a:path w="216829" h="247805">
                  <a:moveTo>
                    <a:pt x="30976" y="15488"/>
                  </a:moveTo>
                  <a:cubicBezTo>
                    <a:pt x="13891" y="15488"/>
                    <a:pt x="0" y="29378"/>
                    <a:pt x="0" y="46463"/>
                  </a:cubicBezTo>
                  <a:lnTo>
                    <a:pt x="0" y="77439"/>
                  </a:lnTo>
                  <a:cubicBezTo>
                    <a:pt x="0" y="94524"/>
                    <a:pt x="13891" y="108415"/>
                    <a:pt x="30976" y="108415"/>
                  </a:cubicBezTo>
                  <a:lnTo>
                    <a:pt x="185854" y="108415"/>
                  </a:lnTo>
                  <a:cubicBezTo>
                    <a:pt x="202939" y="108415"/>
                    <a:pt x="216829" y="94524"/>
                    <a:pt x="216829" y="77439"/>
                  </a:cubicBezTo>
                  <a:lnTo>
                    <a:pt x="216829" y="46463"/>
                  </a:lnTo>
                  <a:cubicBezTo>
                    <a:pt x="216829" y="29378"/>
                    <a:pt x="202939" y="15488"/>
                    <a:pt x="185854" y="15488"/>
                  </a:cubicBezTo>
                  <a:lnTo>
                    <a:pt x="30976" y="15488"/>
                  </a:lnTo>
                  <a:close/>
                  <a:moveTo>
                    <a:pt x="135518" y="50335"/>
                  </a:moveTo>
                  <a:cubicBezTo>
                    <a:pt x="141929" y="50335"/>
                    <a:pt x="147134" y="55540"/>
                    <a:pt x="147134" y="61951"/>
                  </a:cubicBezTo>
                  <a:cubicBezTo>
                    <a:pt x="147134" y="68362"/>
                    <a:pt x="141929" y="73567"/>
                    <a:pt x="135518" y="73567"/>
                  </a:cubicBezTo>
                  <a:cubicBezTo>
                    <a:pt x="129107" y="73567"/>
                    <a:pt x="123902" y="68362"/>
                    <a:pt x="123902" y="61951"/>
                  </a:cubicBezTo>
                  <a:cubicBezTo>
                    <a:pt x="123902" y="55540"/>
                    <a:pt x="129107" y="50335"/>
                    <a:pt x="135518" y="50335"/>
                  </a:cubicBezTo>
                  <a:close/>
                  <a:moveTo>
                    <a:pt x="162622" y="61951"/>
                  </a:moveTo>
                  <a:cubicBezTo>
                    <a:pt x="162622" y="55540"/>
                    <a:pt x="167827" y="50335"/>
                    <a:pt x="174238" y="50335"/>
                  </a:cubicBezTo>
                  <a:cubicBezTo>
                    <a:pt x="180649" y="50335"/>
                    <a:pt x="185854" y="55540"/>
                    <a:pt x="185854" y="61951"/>
                  </a:cubicBezTo>
                  <a:cubicBezTo>
                    <a:pt x="185854" y="68362"/>
                    <a:pt x="180649" y="73567"/>
                    <a:pt x="174238" y="73567"/>
                  </a:cubicBezTo>
                  <a:cubicBezTo>
                    <a:pt x="167827" y="73567"/>
                    <a:pt x="162622" y="68362"/>
                    <a:pt x="162622" y="61951"/>
                  </a:cubicBezTo>
                  <a:close/>
                  <a:moveTo>
                    <a:pt x="30976" y="139390"/>
                  </a:moveTo>
                  <a:cubicBezTo>
                    <a:pt x="13891" y="139390"/>
                    <a:pt x="0" y="153281"/>
                    <a:pt x="0" y="170366"/>
                  </a:cubicBezTo>
                  <a:lnTo>
                    <a:pt x="0" y="201341"/>
                  </a:lnTo>
                  <a:cubicBezTo>
                    <a:pt x="0" y="218426"/>
                    <a:pt x="13891" y="232317"/>
                    <a:pt x="30976" y="232317"/>
                  </a:cubicBezTo>
                  <a:lnTo>
                    <a:pt x="185854" y="232317"/>
                  </a:lnTo>
                  <a:cubicBezTo>
                    <a:pt x="202939" y="232317"/>
                    <a:pt x="216829" y="218426"/>
                    <a:pt x="216829" y="201341"/>
                  </a:cubicBezTo>
                  <a:lnTo>
                    <a:pt x="216829" y="170366"/>
                  </a:lnTo>
                  <a:cubicBezTo>
                    <a:pt x="216829" y="153281"/>
                    <a:pt x="202939" y="139390"/>
                    <a:pt x="185854" y="139390"/>
                  </a:cubicBezTo>
                  <a:lnTo>
                    <a:pt x="30976" y="139390"/>
                  </a:lnTo>
                  <a:close/>
                  <a:moveTo>
                    <a:pt x="135518" y="174238"/>
                  </a:moveTo>
                  <a:cubicBezTo>
                    <a:pt x="141929" y="174238"/>
                    <a:pt x="147134" y="179443"/>
                    <a:pt x="147134" y="185854"/>
                  </a:cubicBezTo>
                  <a:cubicBezTo>
                    <a:pt x="147134" y="192265"/>
                    <a:pt x="141929" y="197470"/>
                    <a:pt x="135518" y="197470"/>
                  </a:cubicBezTo>
                  <a:cubicBezTo>
                    <a:pt x="129107" y="197470"/>
                    <a:pt x="123902" y="192265"/>
                    <a:pt x="123902" y="185854"/>
                  </a:cubicBezTo>
                  <a:cubicBezTo>
                    <a:pt x="123902" y="179443"/>
                    <a:pt x="129107" y="174238"/>
                    <a:pt x="135518" y="174238"/>
                  </a:cubicBezTo>
                  <a:close/>
                  <a:moveTo>
                    <a:pt x="162622" y="185854"/>
                  </a:moveTo>
                  <a:cubicBezTo>
                    <a:pt x="162622" y="179443"/>
                    <a:pt x="167827" y="174238"/>
                    <a:pt x="174238" y="174238"/>
                  </a:cubicBezTo>
                  <a:cubicBezTo>
                    <a:pt x="180649" y="174238"/>
                    <a:pt x="185854" y="179443"/>
                    <a:pt x="185854" y="185854"/>
                  </a:cubicBezTo>
                  <a:cubicBezTo>
                    <a:pt x="185854" y="192265"/>
                    <a:pt x="180649" y="197470"/>
                    <a:pt x="174238" y="197470"/>
                  </a:cubicBezTo>
                  <a:cubicBezTo>
                    <a:pt x="167827" y="197470"/>
                    <a:pt x="162622" y="192265"/>
                    <a:pt x="162622" y="185854"/>
                  </a:cubicBezTo>
                  <a:close/>
                </a:path>
              </a:pathLst>
            </a:custGeom>
            <a:solidFill>
              <a:srgbClr val="1A1D21"/>
            </a:solidFill>
          </p:spPr>
          <p:txBody>
            <a:bodyPr/>
            <a:p>
              <a:endParaRPr lang="zh-CN" altLang="en-US"/>
            </a:p>
          </p:txBody>
        </p:sp>
        <p:sp>
          <p:nvSpPr>
            <p:cNvPr id="31" name="Text 29"/>
            <p:cNvSpPr/>
            <p:nvPr/>
          </p:nvSpPr>
          <p:spPr>
            <a:xfrm>
              <a:off x="19362" y="5292"/>
              <a:ext cx="2347" cy="54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755" b="1" dirty="0">
                  <a:solidFill>
                    <a:srgbClr val="E5E7EB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Central Hub</a:t>
              </a:r>
              <a:endParaRPr lang="en-US" sz="1600" dirty="0"/>
            </a:p>
          </p:txBody>
        </p:sp>
        <p:sp>
          <p:nvSpPr>
            <p:cNvPr id="32" name="Text 30"/>
            <p:cNvSpPr/>
            <p:nvPr/>
          </p:nvSpPr>
          <p:spPr>
            <a:xfrm>
              <a:off x="19362" y="5839"/>
              <a:ext cx="2304" cy="39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365" dirty="0">
                  <a:solidFill>
                    <a:srgbClr val="6B7280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云端协调中心</a:t>
              </a:r>
              <a:endParaRPr lang="en-US" sz="1600" dirty="0"/>
            </a:p>
          </p:txBody>
        </p:sp>
        <p:sp>
          <p:nvSpPr>
            <p:cNvPr id="33" name="Text 31"/>
            <p:cNvSpPr/>
            <p:nvPr/>
          </p:nvSpPr>
          <p:spPr>
            <a:xfrm>
              <a:off x="18233" y="6463"/>
              <a:ext cx="6337" cy="48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560" b="1" dirty="0">
                  <a:solidFill>
                    <a:srgbClr val="4F9A94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DB:</a:t>
              </a:r>
              <a:r>
                <a:rPr lang="en-US" sz="1560" dirty="0">
                  <a:solidFill>
                    <a:srgbClr val="E5E7EB">
                      <a:alpha val="90000"/>
                    </a:srgbClr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 MySQL </a:t>
              </a:r>
              <a:r>
                <a:rPr lang="en-US" sz="1560" dirty="0">
                  <a:solidFill>
                    <a:srgbClr val="E5E7EB">
                      <a:alpha val="90000"/>
                    </a:srgbClr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(OLAP + Sync Core)</a:t>
              </a:r>
              <a:endParaRPr lang="en-US" sz="1600" dirty="0"/>
            </a:p>
          </p:txBody>
        </p:sp>
        <p:sp>
          <p:nvSpPr>
            <p:cNvPr id="34" name="Shape 32"/>
            <p:cNvSpPr/>
            <p:nvPr/>
          </p:nvSpPr>
          <p:spPr>
            <a:xfrm>
              <a:off x="18254" y="7174"/>
              <a:ext cx="391" cy="312"/>
            </a:xfrm>
            <a:custGeom>
              <a:avLst/>
              <a:gdLst/>
              <a:ahLst/>
              <a:cxnLst/>
              <a:rect l="l" t="t" r="r" b="b"/>
              <a:pathLst>
                <a:path w="223024" h="198244">
                  <a:moveTo>
                    <a:pt x="0" y="130098"/>
                  </a:moveTo>
                  <a:cubicBezTo>
                    <a:pt x="0" y="160880"/>
                    <a:pt x="24974" y="185854"/>
                    <a:pt x="55756" y="185854"/>
                  </a:cubicBezTo>
                  <a:lnTo>
                    <a:pt x="173463" y="185854"/>
                  </a:lnTo>
                  <a:cubicBezTo>
                    <a:pt x="200838" y="185854"/>
                    <a:pt x="223024" y="163667"/>
                    <a:pt x="223024" y="136293"/>
                  </a:cubicBezTo>
                  <a:cubicBezTo>
                    <a:pt x="223024" y="116313"/>
                    <a:pt x="211215" y="99083"/>
                    <a:pt x="194178" y="91262"/>
                  </a:cubicBezTo>
                  <a:cubicBezTo>
                    <a:pt x="196773" y="86190"/>
                    <a:pt x="198244" y="80420"/>
                    <a:pt x="198244" y="74341"/>
                  </a:cubicBezTo>
                  <a:cubicBezTo>
                    <a:pt x="198244" y="53820"/>
                    <a:pt x="181595" y="37171"/>
                    <a:pt x="161073" y="37171"/>
                  </a:cubicBezTo>
                  <a:cubicBezTo>
                    <a:pt x="154220" y="37171"/>
                    <a:pt x="147831" y="39029"/>
                    <a:pt x="142333" y="42243"/>
                  </a:cubicBezTo>
                  <a:cubicBezTo>
                    <a:pt x="133002" y="24509"/>
                    <a:pt x="114377" y="12390"/>
                    <a:pt x="92927" y="12390"/>
                  </a:cubicBezTo>
                  <a:cubicBezTo>
                    <a:pt x="62145" y="12390"/>
                    <a:pt x="37171" y="37364"/>
                    <a:pt x="37171" y="68146"/>
                  </a:cubicBezTo>
                  <a:cubicBezTo>
                    <a:pt x="37171" y="71244"/>
                    <a:pt x="37442" y="74303"/>
                    <a:pt x="37906" y="77245"/>
                  </a:cubicBezTo>
                  <a:cubicBezTo>
                    <a:pt x="15875" y="84680"/>
                    <a:pt x="0" y="105549"/>
                    <a:pt x="0" y="130098"/>
                  </a:cubicBezTo>
                  <a:close/>
                </a:path>
              </a:pathLst>
            </a:custGeom>
            <a:solidFill>
              <a:srgbClr val="4F9A94"/>
            </a:solidFill>
          </p:spPr>
        </p:sp>
        <p:sp>
          <p:nvSpPr>
            <p:cNvPr id="35" name="Text 33"/>
            <p:cNvSpPr/>
            <p:nvPr/>
          </p:nvSpPr>
          <p:spPr>
            <a:xfrm>
              <a:off x="18837" y="7114"/>
              <a:ext cx="5676" cy="46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560" dirty="0">
                  <a:solidFill>
                    <a:srgbClr val="E5E7EB">
                      <a:alpha val="80000"/>
                    </a:srgbClr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数据汇聚与协调</a:t>
              </a:r>
              <a:endParaRPr lang="en-US" sz="1600" dirty="0"/>
            </a:p>
          </p:txBody>
        </p:sp>
      </p:grpSp>
      <p:sp>
        <p:nvSpPr>
          <p:cNvPr id="39" name="Shape 37"/>
          <p:cNvSpPr/>
          <p:nvPr/>
        </p:nvSpPr>
        <p:spPr>
          <a:xfrm>
            <a:off x="8215915" y="5514665"/>
            <a:ext cx="334537" cy="297366"/>
          </a:xfrm>
          <a:custGeom>
            <a:avLst/>
            <a:gdLst/>
            <a:ahLst/>
            <a:cxnLst/>
            <a:rect l="l" t="t" r="r" b="b"/>
            <a:pathLst>
              <a:path w="334537" h="297366">
                <a:moveTo>
                  <a:pt x="179755" y="-10977"/>
                </a:moveTo>
                <a:cubicBezTo>
                  <a:pt x="177374" y="-15623"/>
                  <a:pt x="172554" y="-18585"/>
                  <a:pt x="167326" y="-18585"/>
                </a:cubicBezTo>
                <a:cubicBezTo>
                  <a:pt x="162099" y="-18585"/>
                  <a:pt x="157279" y="-15623"/>
                  <a:pt x="154897" y="-10977"/>
                </a:cubicBezTo>
                <a:lnTo>
                  <a:pt x="112151" y="72773"/>
                </a:lnTo>
                <a:lnTo>
                  <a:pt x="19282" y="87525"/>
                </a:lnTo>
                <a:cubicBezTo>
                  <a:pt x="14113" y="88339"/>
                  <a:pt x="9815" y="91998"/>
                  <a:pt x="8189" y="96992"/>
                </a:cubicBezTo>
                <a:cubicBezTo>
                  <a:pt x="6563" y="101987"/>
                  <a:pt x="7899" y="107447"/>
                  <a:pt x="11558" y="111164"/>
                </a:cubicBezTo>
                <a:lnTo>
                  <a:pt x="78000" y="177664"/>
                </a:lnTo>
                <a:lnTo>
                  <a:pt x="63364" y="270533"/>
                </a:lnTo>
                <a:cubicBezTo>
                  <a:pt x="62551" y="275702"/>
                  <a:pt x="64700" y="280929"/>
                  <a:pt x="68940" y="284008"/>
                </a:cubicBezTo>
                <a:cubicBezTo>
                  <a:pt x="73180" y="287086"/>
                  <a:pt x="78755" y="287550"/>
                  <a:pt x="83460" y="285169"/>
                </a:cubicBezTo>
                <a:lnTo>
                  <a:pt x="167326" y="242539"/>
                </a:lnTo>
                <a:lnTo>
                  <a:pt x="251135" y="285169"/>
                </a:lnTo>
                <a:cubicBezTo>
                  <a:pt x="255781" y="287550"/>
                  <a:pt x="261415" y="287086"/>
                  <a:pt x="265655" y="284008"/>
                </a:cubicBezTo>
                <a:cubicBezTo>
                  <a:pt x="269894" y="280929"/>
                  <a:pt x="272043" y="275760"/>
                  <a:pt x="271230" y="270533"/>
                </a:cubicBezTo>
                <a:lnTo>
                  <a:pt x="256536" y="177664"/>
                </a:lnTo>
                <a:lnTo>
                  <a:pt x="322979" y="111164"/>
                </a:lnTo>
                <a:cubicBezTo>
                  <a:pt x="326696" y="107447"/>
                  <a:pt x="327974" y="101987"/>
                  <a:pt x="326347" y="96992"/>
                </a:cubicBezTo>
                <a:cubicBezTo>
                  <a:pt x="324721" y="91998"/>
                  <a:pt x="320481" y="88339"/>
                  <a:pt x="315254" y="87525"/>
                </a:cubicBezTo>
                <a:lnTo>
                  <a:pt x="222444" y="72773"/>
                </a:lnTo>
                <a:lnTo>
                  <a:pt x="179755" y="-10977"/>
                </a:lnTo>
                <a:close/>
              </a:path>
            </a:pathLst>
          </a:custGeom>
          <a:solidFill>
            <a:srgbClr val="1A1D21"/>
          </a:solidFill>
        </p:spPr>
      </p:sp>
      <p:pic>
        <p:nvPicPr>
          <p:cNvPr id="61" name="Image 1" descr="preencoded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089525" y="207010"/>
            <a:ext cx="4529455" cy="2799080"/>
          </a:xfrm>
          <a:prstGeom prst="rect">
            <a:avLst/>
          </a:prstGeom>
        </p:spPr>
      </p:pic>
      <p:sp>
        <p:nvSpPr>
          <p:cNvPr id="66" name="Shape 37"/>
          <p:cNvSpPr/>
          <p:nvPr/>
        </p:nvSpPr>
        <p:spPr>
          <a:xfrm>
            <a:off x="7676800" y="5578800"/>
            <a:ext cx="334537" cy="297366"/>
          </a:xfrm>
          <a:custGeom>
            <a:avLst/>
            <a:gdLst/>
            <a:ahLst/>
            <a:cxnLst/>
            <a:rect l="l" t="t" r="r" b="b"/>
            <a:pathLst>
              <a:path w="334537" h="297366">
                <a:moveTo>
                  <a:pt x="179755" y="-10977"/>
                </a:moveTo>
                <a:cubicBezTo>
                  <a:pt x="177374" y="-15623"/>
                  <a:pt x="172554" y="-18585"/>
                  <a:pt x="167326" y="-18585"/>
                </a:cubicBezTo>
                <a:cubicBezTo>
                  <a:pt x="162099" y="-18585"/>
                  <a:pt x="157279" y="-15623"/>
                  <a:pt x="154897" y="-10977"/>
                </a:cubicBezTo>
                <a:lnTo>
                  <a:pt x="112151" y="72773"/>
                </a:lnTo>
                <a:lnTo>
                  <a:pt x="19282" y="87525"/>
                </a:lnTo>
                <a:cubicBezTo>
                  <a:pt x="14113" y="88339"/>
                  <a:pt x="9815" y="91998"/>
                  <a:pt x="8189" y="96992"/>
                </a:cubicBezTo>
                <a:cubicBezTo>
                  <a:pt x="6563" y="101987"/>
                  <a:pt x="7899" y="107447"/>
                  <a:pt x="11558" y="111164"/>
                </a:cubicBezTo>
                <a:lnTo>
                  <a:pt x="78000" y="177664"/>
                </a:lnTo>
                <a:lnTo>
                  <a:pt x="63364" y="270533"/>
                </a:lnTo>
                <a:cubicBezTo>
                  <a:pt x="62551" y="275702"/>
                  <a:pt x="64700" y="280929"/>
                  <a:pt x="68940" y="284008"/>
                </a:cubicBezTo>
                <a:cubicBezTo>
                  <a:pt x="73180" y="287086"/>
                  <a:pt x="78755" y="287550"/>
                  <a:pt x="83460" y="285169"/>
                </a:cubicBezTo>
                <a:lnTo>
                  <a:pt x="167326" y="242539"/>
                </a:lnTo>
                <a:lnTo>
                  <a:pt x="251135" y="285169"/>
                </a:lnTo>
                <a:cubicBezTo>
                  <a:pt x="255781" y="287550"/>
                  <a:pt x="261415" y="287086"/>
                  <a:pt x="265655" y="284008"/>
                </a:cubicBezTo>
                <a:cubicBezTo>
                  <a:pt x="269894" y="280929"/>
                  <a:pt x="272043" y="275760"/>
                  <a:pt x="271230" y="270533"/>
                </a:cubicBezTo>
                <a:lnTo>
                  <a:pt x="256536" y="177664"/>
                </a:lnTo>
                <a:lnTo>
                  <a:pt x="322979" y="111164"/>
                </a:lnTo>
                <a:cubicBezTo>
                  <a:pt x="326696" y="107447"/>
                  <a:pt x="327974" y="101987"/>
                  <a:pt x="326347" y="96992"/>
                </a:cubicBezTo>
                <a:cubicBezTo>
                  <a:pt x="324721" y="91998"/>
                  <a:pt x="320481" y="88339"/>
                  <a:pt x="315254" y="87525"/>
                </a:cubicBezTo>
                <a:lnTo>
                  <a:pt x="222444" y="72773"/>
                </a:lnTo>
                <a:lnTo>
                  <a:pt x="179755" y="-10977"/>
                </a:lnTo>
                <a:close/>
              </a:path>
            </a:pathLst>
          </a:custGeom>
          <a:solidFill>
            <a:srgbClr val="1A1D21"/>
          </a:solidFill>
        </p:spPr>
      </p:sp>
      <p:sp>
        <p:nvSpPr>
          <p:cNvPr id="67" name="Shape 39"/>
          <p:cNvSpPr/>
          <p:nvPr/>
        </p:nvSpPr>
        <p:spPr>
          <a:xfrm>
            <a:off x="508463" y="5628461"/>
            <a:ext cx="297366" cy="297366"/>
          </a:xfrm>
          <a:custGeom>
            <a:avLst/>
            <a:gdLst/>
            <a:ahLst/>
            <a:cxnLst/>
            <a:rect l="l" t="t" r="r" b="b"/>
            <a:pathLst>
              <a:path w="297366" h="297366">
                <a:moveTo>
                  <a:pt x="148683" y="46463"/>
                </a:moveTo>
                <a:cubicBezTo>
                  <a:pt x="164069" y="46463"/>
                  <a:pt x="176561" y="33972"/>
                  <a:pt x="176561" y="18585"/>
                </a:cubicBezTo>
                <a:cubicBezTo>
                  <a:pt x="176561" y="3199"/>
                  <a:pt x="164069" y="-9293"/>
                  <a:pt x="148683" y="-9293"/>
                </a:cubicBezTo>
                <a:cubicBezTo>
                  <a:pt x="133297" y="-9293"/>
                  <a:pt x="120805" y="3199"/>
                  <a:pt x="120805" y="18585"/>
                </a:cubicBezTo>
                <a:cubicBezTo>
                  <a:pt x="120805" y="33972"/>
                  <a:pt x="133297" y="46463"/>
                  <a:pt x="148683" y="46463"/>
                </a:cubicBezTo>
                <a:close/>
                <a:moveTo>
                  <a:pt x="3194" y="107447"/>
                </a:moveTo>
                <a:lnTo>
                  <a:pt x="74341" y="223024"/>
                </a:lnTo>
                <a:lnTo>
                  <a:pt x="41701" y="263854"/>
                </a:lnTo>
                <a:cubicBezTo>
                  <a:pt x="38797" y="267513"/>
                  <a:pt x="37171" y="272043"/>
                  <a:pt x="37171" y="276748"/>
                </a:cubicBezTo>
                <a:cubicBezTo>
                  <a:pt x="37171" y="288131"/>
                  <a:pt x="46405" y="297366"/>
                  <a:pt x="57789" y="297366"/>
                </a:cubicBezTo>
                <a:lnTo>
                  <a:pt x="239519" y="297366"/>
                </a:lnTo>
                <a:cubicBezTo>
                  <a:pt x="250902" y="297366"/>
                  <a:pt x="260137" y="288131"/>
                  <a:pt x="260137" y="276748"/>
                </a:cubicBezTo>
                <a:cubicBezTo>
                  <a:pt x="260137" y="272043"/>
                  <a:pt x="258569" y="267513"/>
                  <a:pt x="255607" y="263854"/>
                </a:cubicBezTo>
                <a:lnTo>
                  <a:pt x="223024" y="223024"/>
                </a:lnTo>
                <a:lnTo>
                  <a:pt x="294171" y="107447"/>
                </a:lnTo>
                <a:cubicBezTo>
                  <a:pt x="296262" y="104020"/>
                  <a:pt x="297366" y="100071"/>
                  <a:pt x="297366" y="96063"/>
                </a:cubicBezTo>
                <a:lnTo>
                  <a:pt x="297366" y="95715"/>
                </a:lnTo>
                <a:cubicBezTo>
                  <a:pt x="297366" y="83925"/>
                  <a:pt x="287783" y="74341"/>
                  <a:pt x="275993" y="74341"/>
                </a:cubicBezTo>
                <a:cubicBezTo>
                  <a:pt x="271753" y="74341"/>
                  <a:pt x="267629" y="75619"/>
                  <a:pt x="264145" y="77942"/>
                </a:cubicBezTo>
                <a:lnTo>
                  <a:pt x="254329" y="84505"/>
                </a:lnTo>
                <a:cubicBezTo>
                  <a:pt x="246953" y="89442"/>
                  <a:pt x="237138" y="88455"/>
                  <a:pt x="230865" y="82182"/>
                </a:cubicBezTo>
                <a:lnTo>
                  <a:pt x="211060" y="62377"/>
                </a:lnTo>
                <a:cubicBezTo>
                  <a:pt x="206820" y="58137"/>
                  <a:pt x="201070" y="55756"/>
                  <a:pt x="195146" y="55756"/>
                </a:cubicBezTo>
                <a:cubicBezTo>
                  <a:pt x="189222" y="55756"/>
                  <a:pt x="183472" y="58137"/>
                  <a:pt x="179291" y="62319"/>
                </a:cubicBezTo>
                <a:lnTo>
                  <a:pt x="161809" y="79801"/>
                </a:lnTo>
                <a:cubicBezTo>
                  <a:pt x="154549" y="87061"/>
                  <a:pt x="142759" y="87061"/>
                  <a:pt x="135499" y="79801"/>
                </a:cubicBezTo>
                <a:lnTo>
                  <a:pt x="118017" y="62319"/>
                </a:lnTo>
                <a:cubicBezTo>
                  <a:pt x="113893" y="58137"/>
                  <a:pt x="108144" y="55756"/>
                  <a:pt x="102220" y="55756"/>
                </a:cubicBezTo>
                <a:cubicBezTo>
                  <a:pt x="96295" y="55756"/>
                  <a:pt x="90546" y="58137"/>
                  <a:pt x="86364" y="62319"/>
                </a:cubicBezTo>
                <a:lnTo>
                  <a:pt x="66559" y="82124"/>
                </a:lnTo>
                <a:cubicBezTo>
                  <a:pt x="60286" y="88397"/>
                  <a:pt x="50471" y="89384"/>
                  <a:pt x="43095" y="84447"/>
                </a:cubicBezTo>
                <a:lnTo>
                  <a:pt x="33279" y="77942"/>
                </a:lnTo>
                <a:cubicBezTo>
                  <a:pt x="29737" y="75619"/>
                  <a:pt x="25613" y="74341"/>
                  <a:pt x="21431" y="74341"/>
                </a:cubicBezTo>
                <a:cubicBezTo>
                  <a:pt x="9641" y="74341"/>
                  <a:pt x="58" y="83925"/>
                  <a:pt x="58" y="95715"/>
                </a:cubicBezTo>
                <a:lnTo>
                  <a:pt x="58" y="96063"/>
                </a:lnTo>
                <a:cubicBezTo>
                  <a:pt x="58" y="100071"/>
                  <a:pt x="1162" y="104020"/>
                  <a:pt x="3252" y="107447"/>
                </a:cubicBezTo>
                <a:close/>
              </a:path>
            </a:pathLst>
          </a:custGeom>
          <a:solidFill>
            <a:srgbClr val="4F9A94"/>
          </a:solidFill>
        </p:spPr>
      </p:sp>
      <p:sp>
        <p:nvSpPr>
          <p:cNvPr id="68" name="Text 40"/>
          <p:cNvSpPr/>
          <p:nvPr/>
        </p:nvSpPr>
        <p:spPr>
          <a:xfrm>
            <a:off x="843280" y="5579110"/>
            <a:ext cx="1367790" cy="396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340" b="1" dirty="0">
                <a:solidFill>
                  <a:srgbClr val="4F9A9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关键策略</a:t>
            </a:r>
            <a:endParaRPr lang="en-US" sz="1600" dirty="0"/>
          </a:p>
        </p:txBody>
      </p:sp>
      <p:grpSp>
        <p:nvGrpSpPr>
          <p:cNvPr id="69" name="组合 68"/>
          <p:cNvGrpSpPr/>
          <p:nvPr/>
        </p:nvGrpSpPr>
        <p:grpSpPr>
          <a:xfrm>
            <a:off x="595630" y="6176010"/>
            <a:ext cx="4493739" cy="2056765"/>
            <a:chOff x="1249" y="9678"/>
            <a:chExt cx="9385" cy="3239"/>
          </a:xfrm>
        </p:grpSpPr>
        <p:sp>
          <p:nvSpPr>
            <p:cNvPr id="70" name="Shape 41"/>
            <p:cNvSpPr/>
            <p:nvPr/>
          </p:nvSpPr>
          <p:spPr>
            <a:xfrm>
              <a:off x="1249" y="9678"/>
              <a:ext cx="9385" cy="3239"/>
            </a:xfrm>
            <a:custGeom>
              <a:avLst/>
              <a:gdLst/>
              <a:ahLst/>
              <a:cxnLst/>
              <a:rect l="l" t="t" r="r" b="b"/>
              <a:pathLst>
                <a:path w="5959707" h="2056780">
                  <a:moveTo>
                    <a:pt x="0" y="0"/>
                  </a:moveTo>
                  <a:lnTo>
                    <a:pt x="5860591" y="0"/>
                  </a:lnTo>
                  <a:cubicBezTo>
                    <a:pt x="5915331" y="0"/>
                    <a:pt x="5959707" y="44376"/>
                    <a:pt x="5959707" y="99116"/>
                  </a:cubicBezTo>
                  <a:lnTo>
                    <a:pt x="5959707" y="1957664"/>
                  </a:lnTo>
                  <a:cubicBezTo>
                    <a:pt x="5959707" y="2012405"/>
                    <a:pt x="5915331" y="2056780"/>
                    <a:pt x="5860591" y="2056780"/>
                  </a:cubicBezTo>
                  <a:lnTo>
                    <a:pt x="0" y="20567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4A5C">
                <a:alpha val="30196"/>
              </a:srgbClr>
            </a:solidFill>
          </p:spPr>
        </p:sp>
        <p:sp>
          <p:nvSpPr>
            <p:cNvPr id="71" name="Shape 42"/>
            <p:cNvSpPr/>
            <p:nvPr/>
          </p:nvSpPr>
          <p:spPr>
            <a:xfrm>
              <a:off x="1249" y="9678"/>
              <a:ext cx="78" cy="3239"/>
            </a:xfrm>
            <a:custGeom>
              <a:avLst/>
              <a:gdLst/>
              <a:ahLst/>
              <a:cxnLst/>
              <a:rect l="l" t="t" r="r" b="b"/>
              <a:pathLst>
                <a:path w="49561" h="2056780">
                  <a:moveTo>
                    <a:pt x="0" y="0"/>
                  </a:moveTo>
                  <a:lnTo>
                    <a:pt x="49561" y="0"/>
                  </a:lnTo>
                  <a:lnTo>
                    <a:pt x="49561" y="2056780"/>
                  </a:lnTo>
                  <a:lnTo>
                    <a:pt x="0" y="20567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9A94"/>
            </a:solidFill>
          </p:spPr>
        </p:sp>
        <p:sp>
          <p:nvSpPr>
            <p:cNvPr id="72" name="Shape 43"/>
            <p:cNvSpPr/>
            <p:nvPr/>
          </p:nvSpPr>
          <p:spPr>
            <a:xfrm>
              <a:off x="1659" y="10029"/>
              <a:ext cx="468" cy="468"/>
            </a:xfrm>
            <a:custGeom>
              <a:avLst/>
              <a:gdLst/>
              <a:ahLst/>
              <a:cxnLst/>
              <a:rect l="l" t="t" r="r" b="b"/>
              <a:pathLst>
                <a:path w="297366" h="297366">
                  <a:moveTo>
                    <a:pt x="135034" y="3020"/>
                  </a:moveTo>
                  <a:cubicBezTo>
                    <a:pt x="143688" y="-987"/>
                    <a:pt x="153678" y="-987"/>
                    <a:pt x="162332" y="3020"/>
                  </a:cubicBezTo>
                  <a:lnTo>
                    <a:pt x="289293" y="61680"/>
                  </a:lnTo>
                  <a:cubicBezTo>
                    <a:pt x="294230" y="63945"/>
                    <a:pt x="297366" y="68882"/>
                    <a:pt x="297366" y="74341"/>
                  </a:cubicBezTo>
                  <a:cubicBezTo>
                    <a:pt x="297366" y="79801"/>
                    <a:pt x="294230" y="84738"/>
                    <a:pt x="289293" y="87003"/>
                  </a:cubicBezTo>
                  <a:lnTo>
                    <a:pt x="162332" y="145663"/>
                  </a:lnTo>
                  <a:cubicBezTo>
                    <a:pt x="153678" y="149670"/>
                    <a:pt x="143688" y="149670"/>
                    <a:pt x="135034" y="145663"/>
                  </a:cubicBezTo>
                  <a:lnTo>
                    <a:pt x="8073" y="87003"/>
                  </a:lnTo>
                  <a:cubicBezTo>
                    <a:pt x="3136" y="84680"/>
                    <a:pt x="0" y="79743"/>
                    <a:pt x="0" y="74341"/>
                  </a:cubicBezTo>
                  <a:cubicBezTo>
                    <a:pt x="0" y="68940"/>
                    <a:pt x="3136" y="63945"/>
                    <a:pt x="8073" y="61680"/>
                  </a:cubicBezTo>
                  <a:lnTo>
                    <a:pt x="135034" y="3020"/>
                  </a:lnTo>
                  <a:close/>
                  <a:moveTo>
                    <a:pt x="27936" y="126845"/>
                  </a:moveTo>
                  <a:lnTo>
                    <a:pt x="123360" y="170927"/>
                  </a:lnTo>
                  <a:cubicBezTo>
                    <a:pt x="139448" y="178361"/>
                    <a:pt x="157976" y="178361"/>
                    <a:pt x="174064" y="170927"/>
                  </a:cubicBezTo>
                  <a:lnTo>
                    <a:pt x="269488" y="126845"/>
                  </a:lnTo>
                  <a:lnTo>
                    <a:pt x="289293" y="136022"/>
                  </a:lnTo>
                  <a:cubicBezTo>
                    <a:pt x="294230" y="138287"/>
                    <a:pt x="297366" y="143223"/>
                    <a:pt x="297366" y="148683"/>
                  </a:cubicBezTo>
                  <a:cubicBezTo>
                    <a:pt x="297366" y="154142"/>
                    <a:pt x="294230" y="159079"/>
                    <a:pt x="289293" y="161344"/>
                  </a:cubicBezTo>
                  <a:lnTo>
                    <a:pt x="162332" y="220004"/>
                  </a:lnTo>
                  <a:cubicBezTo>
                    <a:pt x="153678" y="224012"/>
                    <a:pt x="143688" y="224012"/>
                    <a:pt x="135034" y="220004"/>
                  </a:cubicBezTo>
                  <a:lnTo>
                    <a:pt x="8073" y="161344"/>
                  </a:lnTo>
                  <a:cubicBezTo>
                    <a:pt x="3136" y="159021"/>
                    <a:pt x="0" y="154084"/>
                    <a:pt x="0" y="148683"/>
                  </a:cubicBezTo>
                  <a:cubicBezTo>
                    <a:pt x="0" y="143282"/>
                    <a:pt x="3136" y="138287"/>
                    <a:pt x="8073" y="136022"/>
                  </a:cubicBezTo>
                  <a:lnTo>
                    <a:pt x="27878" y="126845"/>
                  </a:lnTo>
                  <a:close/>
                  <a:moveTo>
                    <a:pt x="8073" y="210363"/>
                  </a:moveTo>
                  <a:lnTo>
                    <a:pt x="27878" y="201187"/>
                  </a:lnTo>
                  <a:lnTo>
                    <a:pt x="123302" y="245269"/>
                  </a:lnTo>
                  <a:cubicBezTo>
                    <a:pt x="139390" y="252703"/>
                    <a:pt x="157918" y="252703"/>
                    <a:pt x="174005" y="245269"/>
                  </a:cubicBezTo>
                  <a:lnTo>
                    <a:pt x="269430" y="201187"/>
                  </a:lnTo>
                  <a:lnTo>
                    <a:pt x="289235" y="210363"/>
                  </a:lnTo>
                  <a:cubicBezTo>
                    <a:pt x="294171" y="212628"/>
                    <a:pt x="297308" y="217565"/>
                    <a:pt x="297308" y="223024"/>
                  </a:cubicBezTo>
                  <a:cubicBezTo>
                    <a:pt x="297308" y="228484"/>
                    <a:pt x="294171" y="233421"/>
                    <a:pt x="289235" y="235686"/>
                  </a:cubicBezTo>
                  <a:lnTo>
                    <a:pt x="162273" y="294346"/>
                  </a:lnTo>
                  <a:cubicBezTo>
                    <a:pt x="153620" y="298353"/>
                    <a:pt x="143630" y="298353"/>
                    <a:pt x="134976" y="294346"/>
                  </a:cubicBezTo>
                  <a:lnTo>
                    <a:pt x="8073" y="235686"/>
                  </a:lnTo>
                  <a:cubicBezTo>
                    <a:pt x="3136" y="233362"/>
                    <a:pt x="0" y="228426"/>
                    <a:pt x="0" y="223024"/>
                  </a:cubicBezTo>
                  <a:cubicBezTo>
                    <a:pt x="0" y="217623"/>
                    <a:pt x="3136" y="212628"/>
                    <a:pt x="8073" y="210363"/>
                  </a:cubicBezTo>
                  <a:close/>
                </a:path>
              </a:pathLst>
            </a:custGeom>
            <a:solidFill>
              <a:srgbClr val="4F9A94"/>
            </a:solidFill>
          </p:spPr>
          <p:txBody>
            <a:bodyPr/>
            <a:p>
              <a:endParaRPr lang="zh-CN" altLang="en-US"/>
            </a:p>
          </p:txBody>
        </p:sp>
        <p:sp>
          <p:nvSpPr>
            <p:cNvPr id="73" name="Text 44"/>
            <p:cNvSpPr/>
            <p:nvPr/>
          </p:nvSpPr>
          <p:spPr>
            <a:xfrm>
              <a:off x="2420" y="9990"/>
              <a:ext cx="4175" cy="54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755" b="1" dirty="0">
                  <a:solidFill>
                    <a:srgbClr val="E5E7EB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OLTP/OLAP 分离</a:t>
              </a:r>
              <a:endParaRPr lang="en-US" sz="1600" dirty="0"/>
            </a:p>
          </p:txBody>
        </p:sp>
        <p:sp>
          <p:nvSpPr>
            <p:cNvPr id="74" name="Text 45"/>
            <p:cNvSpPr/>
            <p:nvPr/>
          </p:nvSpPr>
          <p:spPr>
            <a:xfrm>
              <a:off x="1600" y="10771"/>
              <a:ext cx="8878" cy="50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en-US" sz="1560" dirty="0">
                  <a:solidFill>
                    <a:srgbClr val="E5E7EB">
                      <a:alpha val="90000"/>
                    </a:srgbClr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实现</a:t>
              </a:r>
              <a:r>
                <a:rPr lang="en-US" sz="1560" b="1" dirty="0">
                  <a:solidFill>
                    <a:srgbClr val="4F9A94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读写分离</a:t>
              </a:r>
              <a:r>
                <a:rPr lang="en-US" sz="1560" dirty="0">
                  <a:solidFill>
                    <a:srgbClr val="E5E7EB">
                      <a:alpha val="90000"/>
                    </a:srgbClr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的架构设计，提升系统整体性能</a:t>
              </a:r>
              <a:endParaRPr lang="en-US" sz="1600" dirty="0"/>
            </a:p>
          </p:txBody>
        </p:sp>
        <p:sp>
          <p:nvSpPr>
            <p:cNvPr id="75" name="Shape 46"/>
            <p:cNvSpPr/>
            <p:nvPr/>
          </p:nvSpPr>
          <p:spPr>
            <a:xfrm>
              <a:off x="1639" y="11573"/>
              <a:ext cx="312" cy="312"/>
            </a:xfrm>
            <a:custGeom>
              <a:avLst/>
              <a:gdLst/>
              <a:ahLst/>
              <a:cxnLst/>
              <a:rect l="l" t="t" r="r" b="b"/>
              <a:pathLst>
                <a:path w="198244" h="198244">
                  <a:moveTo>
                    <a:pt x="194604" y="107873"/>
                  </a:moveTo>
                  <a:cubicBezTo>
                    <a:pt x="199444" y="103033"/>
                    <a:pt x="199444" y="95173"/>
                    <a:pt x="194604" y="90333"/>
                  </a:cubicBezTo>
                  <a:lnTo>
                    <a:pt x="132653" y="28381"/>
                  </a:lnTo>
                  <a:cubicBezTo>
                    <a:pt x="127813" y="23541"/>
                    <a:pt x="119953" y="23541"/>
                    <a:pt x="115113" y="28381"/>
                  </a:cubicBezTo>
                  <a:cubicBezTo>
                    <a:pt x="110273" y="33221"/>
                    <a:pt x="110273" y="41081"/>
                    <a:pt x="115113" y="45921"/>
                  </a:cubicBezTo>
                  <a:lnTo>
                    <a:pt x="155923" y="86732"/>
                  </a:lnTo>
                  <a:lnTo>
                    <a:pt x="12390" y="86732"/>
                  </a:lnTo>
                  <a:cubicBezTo>
                    <a:pt x="5537" y="86732"/>
                    <a:pt x="0" y="92269"/>
                    <a:pt x="0" y="99122"/>
                  </a:cubicBezTo>
                  <a:cubicBezTo>
                    <a:pt x="0" y="105975"/>
                    <a:pt x="5537" y="111512"/>
                    <a:pt x="12390" y="111512"/>
                  </a:cubicBezTo>
                  <a:lnTo>
                    <a:pt x="155923" y="111512"/>
                  </a:lnTo>
                  <a:lnTo>
                    <a:pt x="115113" y="152323"/>
                  </a:lnTo>
                  <a:cubicBezTo>
                    <a:pt x="110273" y="157162"/>
                    <a:pt x="110273" y="165023"/>
                    <a:pt x="115113" y="169862"/>
                  </a:cubicBezTo>
                  <a:cubicBezTo>
                    <a:pt x="119953" y="174702"/>
                    <a:pt x="127813" y="174702"/>
                    <a:pt x="132653" y="169862"/>
                  </a:cubicBezTo>
                  <a:lnTo>
                    <a:pt x="194604" y="107911"/>
                  </a:lnTo>
                  <a:close/>
                </a:path>
              </a:pathLst>
            </a:custGeom>
            <a:solidFill>
              <a:srgbClr val="4F9A94"/>
            </a:solidFill>
          </p:spPr>
        </p:sp>
        <p:sp>
          <p:nvSpPr>
            <p:cNvPr id="76" name="Text 47"/>
            <p:cNvSpPr/>
            <p:nvPr/>
          </p:nvSpPr>
          <p:spPr>
            <a:xfrm>
              <a:off x="2143" y="11512"/>
              <a:ext cx="8336" cy="46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560" b="1" dirty="0">
                  <a:solidFill>
                    <a:srgbClr val="4F9A94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Edge 主库</a:t>
              </a:r>
              <a:r>
                <a:rPr lang="en-US" sz="1560" dirty="0">
                  <a:solidFill>
                    <a:srgbClr val="E5E7EB">
                      <a:alpha val="80000"/>
                    </a:srgbClr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：处理 OLTP 交易请求</a:t>
              </a:r>
              <a:endParaRPr lang="en-US" sz="1600" dirty="0"/>
            </a:p>
          </p:txBody>
        </p:sp>
        <p:sp>
          <p:nvSpPr>
            <p:cNvPr id="77" name="Shape 48"/>
            <p:cNvSpPr/>
            <p:nvPr/>
          </p:nvSpPr>
          <p:spPr>
            <a:xfrm>
              <a:off x="1639" y="12197"/>
              <a:ext cx="312" cy="312"/>
            </a:xfrm>
            <a:custGeom>
              <a:avLst/>
              <a:gdLst/>
              <a:ahLst/>
              <a:cxnLst/>
              <a:rect l="l" t="t" r="r" b="b"/>
              <a:pathLst>
                <a:path w="198244" h="198244">
                  <a:moveTo>
                    <a:pt x="194604" y="107873"/>
                  </a:moveTo>
                  <a:cubicBezTo>
                    <a:pt x="199444" y="103033"/>
                    <a:pt x="199444" y="95173"/>
                    <a:pt x="194604" y="90333"/>
                  </a:cubicBezTo>
                  <a:lnTo>
                    <a:pt x="132653" y="28381"/>
                  </a:lnTo>
                  <a:cubicBezTo>
                    <a:pt x="127813" y="23541"/>
                    <a:pt x="119953" y="23541"/>
                    <a:pt x="115113" y="28381"/>
                  </a:cubicBezTo>
                  <a:cubicBezTo>
                    <a:pt x="110273" y="33221"/>
                    <a:pt x="110273" y="41081"/>
                    <a:pt x="115113" y="45921"/>
                  </a:cubicBezTo>
                  <a:lnTo>
                    <a:pt x="155923" y="86732"/>
                  </a:lnTo>
                  <a:lnTo>
                    <a:pt x="12390" y="86732"/>
                  </a:lnTo>
                  <a:cubicBezTo>
                    <a:pt x="5537" y="86732"/>
                    <a:pt x="0" y="92269"/>
                    <a:pt x="0" y="99122"/>
                  </a:cubicBezTo>
                  <a:cubicBezTo>
                    <a:pt x="0" y="105975"/>
                    <a:pt x="5537" y="111512"/>
                    <a:pt x="12390" y="111512"/>
                  </a:cubicBezTo>
                  <a:lnTo>
                    <a:pt x="155923" y="111512"/>
                  </a:lnTo>
                  <a:lnTo>
                    <a:pt x="115113" y="152323"/>
                  </a:lnTo>
                  <a:cubicBezTo>
                    <a:pt x="110273" y="157162"/>
                    <a:pt x="110273" y="165023"/>
                    <a:pt x="115113" y="169862"/>
                  </a:cubicBezTo>
                  <a:cubicBezTo>
                    <a:pt x="119953" y="174702"/>
                    <a:pt x="127813" y="174702"/>
                    <a:pt x="132653" y="169862"/>
                  </a:cubicBezTo>
                  <a:lnTo>
                    <a:pt x="194604" y="107911"/>
                  </a:lnTo>
                  <a:close/>
                </a:path>
              </a:pathLst>
            </a:custGeom>
            <a:solidFill>
              <a:srgbClr val="4F9A94"/>
            </a:solidFill>
          </p:spPr>
        </p:sp>
        <p:sp>
          <p:nvSpPr>
            <p:cNvPr id="78" name="Text 49"/>
            <p:cNvSpPr/>
            <p:nvPr/>
          </p:nvSpPr>
          <p:spPr>
            <a:xfrm>
              <a:off x="2143" y="12137"/>
              <a:ext cx="8336" cy="46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560" b="1" dirty="0">
                  <a:solidFill>
                    <a:srgbClr val="4F9A94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Hub 中心库</a:t>
              </a:r>
              <a:r>
                <a:rPr lang="en-US" sz="1560" dirty="0">
                  <a:solidFill>
                    <a:srgbClr val="E5E7EB">
                      <a:alpha val="80000"/>
                    </a:srgbClr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：执行 OLAP 报表分析</a:t>
              </a:r>
              <a:endParaRPr lang="en-US" sz="1600" dirty="0"/>
            </a:p>
          </p:txBody>
        </p:sp>
      </p:grpSp>
      <p:grpSp>
        <p:nvGrpSpPr>
          <p:cNvPr id="79" name="组合 78"/>
          <p:cNvGrpSpPr/>
          <p:nvPr/>
        </p:nvGrpSpPr>
        <p:grpSpPr>
          <a:xfrm>
            <a:off x="5891530" y="6176010"/>
            <a:ext cx="4636135" cy="2076450"/>
            <a:chOff x="14424" y="9386"/>
            <a:chExt cx="9463" cy="4156"/>
          </a:xfrm>
        </p:grpSpPr>
        <p:sp>
          <p:nvSpPr>
            <p:cNvPr id="80" name="Shape 50"/>
            <p:cNvSpPr/>
            <p:nvPr/>
          </p:nvSpPr>
          <p:spPr>
            <a:xfrm>
              <a:off x="14502" y="9386"/>
              <a:ext cx="9385" cy="4098"/>
            </a:xfrm>
            <a:custGeom>
              <a:avLst/>
              <a:gdLst/>
              <a:ahLst/>
              <a:cxnLst/>
              <a:rect l="l" t="t" r="r" b="b"/>
              <a:pathLst>
                <a:path w="5959707" h="2601951">
                  <a:moveTo>
                    <a:pt x="0" y="0"/>
                  </a:moveTo>
                  <a:lnTo>
                    <a:pt x="5860573" y="0"/>
                  </a:lnTo>
                  <a:cubicBezTo>
                    <a:pt x="5915323" y="0"/>
                    <a:pt x="5959707" y="44384"/>
                    <a:pt x="5959707" y="99134"/>
                  </a:cubicBezTo>
                  <a:lnTo>
                    <a:pt x="5959707" y="2502817"/>
                  </a:lnTo>
                  <a:cubicBezTo>
                    <a:pt x="5959707" y="2557567"/>
                    <a:pt x="5915323" y="2601951"/>
                    <a:pt x="5860573" y="2601951"/>
                  </a:cubicBezTo>
                  <a:lnTo>
                    <a:pt x="0" y="26019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4A5C">
                <a:alpha val="30196"/>
              </a:srgbClr>
            </a:solidFill>
          </p:spPr>
        </p:sp>
        <p:sp>
          <p:nvSpPr>
            <p:cNvPr id="81" name="Shape 51"/>
            <p:cNvSpPr/>
            <p:nvPr/>
          </p:nvSpPr>
          <p:spPr>
            <a:xfrm>
              <a:off x="14424" y="9444"/>
              <a:ext cx="78" cy="4098"/>
            </a:xfrm>
            <a:custGeom>
              <a:avLst/>
              <a:gdLst/>
              <a:ahLst/>
              <a:cxnLst/>
              <a:rect l="l" t="t" r="r" b="b"/>
              <a:pathLst>
                <a:path w="49561" h="2601951">
                  <a:moveTo>
                    <a:pt x="0" y="0"/>
                  </a:moveTo>
                  <a:lnTo>
                    <a:pt x="49561" y="0"/>
                  </a:lnTo>
                  <a:lnTo>
                    <a:pt x="49561" y="2601951"/>
                  </a:lnTo>
                  <a:lnTo>
                    <a:pt x="0" y="26019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B7280"/>
            </a:solidFill>
          </p:spPr>
        </p:sp>
        <p:sp>
          <p:nvSpPr>
            <p:cNvPr id="82" name="Shape 52"/>
            <p:cNvSpPr/>
            <p:nvPr/>
          </p:nvSpPr>
          <p:spPr>
            <a:xfrm>
              <a:off x="14834" y="9796"/>
              <a:ext cx="468" cy="468"/>
            </a:xfrm>
            <a:custGeom>
              <a:avLst/>
              <a:gdLst/>
              <a:ahLst/>
              <a:cxnLst/>
              <a:rect l="l" t="t" r="r" b="b"/>
              <a:pathLst>
                <a:path w="297366" h="297366">
                  <a:moveTo>
                    <a:pt x="27878" y="148683"/>
                  </a:moveTo>
                  <a:cubicBezTo>
                    <a:pt x="27878" y="81950"/>
                    <a:pt x="81950" y="27878"/>
                    <a:pt x="148683" y="27878"/>
                  </a:cubicBezTo>
                  <a:cubicBezTo>
                    <a:pt x="185331" y="27878"/>
                    <a:pt x="218146" y="44198"/>
                    <a:pt x="240332" y="69986"/>
                  </a:cubicBezTo>
                  <a:cubicBezTo>
                    <a:pt x="245327" y="75852"/>
                    <a:pt x="254155" y="76490"/>
                    <a:pt x="259963" y="71496"/>
                  </a:cubicBezTo>
                  <a:cubicBezTo>
                    <a:pt x="265771" y="66501"/>
                    <a:pt x="266468" y="57673"/>
                    <a:pt x="261473" y="51865"/>
                  </a:cubicBezTo>
                  <a:cubicBezTo>
                    <a:pt x="234234" y="20095"/>
                    <a:pt x="193811" y="0"/>
                    <a:pt x="148683" y="0"/>
                  </a:cubicBezTo>
                  <a:cubicBezTo>
                    <a:pt x="66559" y="0"/>
                    <a:pt x="0" y="66559"/>
                    <a:pt x="0" y="148683"/>
                  </a:cubicBezTo>
                  <a:lnTo>
                    <a:pt x="0" y="171915"/>
                  </a:lnTo>
                  <a:cubicBezTo>
                    <a:pt x="0" y="179639"/>
                    <a:pt x="6214" y="185854"/>
                    <a:pt x="13939" y="185854"/>
                  </a:cubicBezTo>
                  <a:cubicBezTo>
                    <a:pt x="21664" y="185854"/>
                    <a:pt x="27878" y="179639"/>
                    <a:pt x="27878" y="171915"/>
                  </a:cubicBezTo>
                  <a:lnTo>
                    <a:pt x="27878" y="148683"/>
                  </a:lnTo>
                  <a:close/>
                  <a:moveTo>
                    <a:pt x="294171" y="117959"/>
                  </a:moveTo>
                  <a:cubicBezTo>
                    <a:pt x="292603" y="110409"/>
                    <a:pt x="285169" y="105588"/>
                    <a:pt x="277677" y="107214"/>
                  </a:cubicBezTo>
                  <a:cubicBezTo>
                    <a:pt x="270185" y="108841"/>
                    <a:pt x="265306" y="116217"/>
                    <a:pt x="266932" y="123709"/>
                  </a:cubicBezTo>
                  <a:cubicBezTo>
                    <a:pt x="268617" y="131782"/>
                    <a:pt x="269546" y="140145"/>
                    <a:pt x="269546" y="148741"/>
                  </a:cubicBezTo>
                  <a:lnTo>
                    <a:pt x="269546" y="171973"/>
                  </a:lnTo>
                  <a:cubicBezTo>
                    <a:pt x="269546" y="179697"/>
                    <a:pt x="275760" y="185912"/>
                    <a:pt x="283485" y="185912"/>
                  </a:cubicBezTo>
                  <a:cubicBezTo>
                    <a:pt x="291209" y="185912"/>
                    <a:pt x="297424" y="179697"/>
                    <a:pt x="297424" y="171973"/>
                  </a:cubicBezTo>
                  <a:lnTo>
                    <a:pt x="297424" y="148741"/>
                  </a:lnTo>
                  <a:cubicBezTo>
                    <a:pt x="297424" y="138229"/>
                    <a:pt x="296320" y="127949"/>
                    <a:pt x="294230" y="118017"/>
                  </a:cubicBezTo>
                  <a:close/>
                  <a:moveTo>
                    <a:pt x="148683" y="46463"/>
                  </a:moveTo>
                  <a:cubicBezTo>
                    <a:pt x="137648" y="46463"/>
                    <a:pt x="126961" y="48206"/>
                    <a:pt x="117030" y="51458"/>
                  </a:cubicBezTo>
                  <a:cubicBezTo>
                    <a:pt x="108202" y="54362"/>
                    <a:pt x="106169" y="65223"/>
                    <a:pt x="112209" y="72309"/>
                  </a:cubicBezTo>
                  <a:cubicBezTo>
                    <a:pt x="116333" y="77129"/>
                    <a:pt x="123128" y="78581"/>
                    <a:pt x="129284" y="76897"/>
                  </a:cubicBezTo>
                  <a:cubicBezTo>
                    <a:pt x="135441" y="75213"/>
                    <a:pt x="141946" y="74341"/>
                    <a:pt x="148683" y="74341"/>
                  </a:cubicBezTo>
                  <a:cubicBezTo>
                    <a:pt x="189745" y="74341"/>
                    <a:pt x="223024" y="107621"/>
                    <a:pt x="223024" y="148683"/>
                  </a:cubicBezTo>
                  <a:lnTo>
                    <a:pt x="223024" y="163145"/>
                  </a:lnTo>
                  <a:cubicBezTo>
                    <a:pt x="223024" y="177781"/>
                    <a:pt x="222153" y="192359"/>
                    <a:pt x="220469" y="206878"/>
                  </a:cubicBezTo>
                  <a:cubicBezTo>
                    <a:pt x="219482" y="215358"/>
                    <a:pt x="225928" y="223024"/>
                    <a:pt x="234524" y="223024"/>
                  </a:cubicBezTo>
                  <a:cubicBezTo>
                    <a:pt x="241377" y="223024"/>
                    <a:pt x="247243" y="218030"/>
                    <a:pt x="248057" y="211234"/>
                  </a:cubicBezTo>
                  <a:cubicBezTo>
                    <a:pt x="249973" y="195321"/>
                    <a:pt x="250961" y="179291"/>
                    <a:pt x="250961" y="163203"/>
                  </a:cubicBezTo>
                  <a:lnTo>
                    <a:pt x="250961" y="148741"/>
                  </a:lnTo>
                  <a:cubicBezTo>
                    <a:pt x="250961" y="92288"/>
                    <a:pt x="205194" y="46521"/>
                    <a:pt x="148741" y="46521"/>
                  </a:cubicBezTo>
                  <a:close/>
                  <a:moveTo>
                    <a:pt x="87525" y="86364"/>
                  </a:moveTo>
                  <a:cubicBezTo>
                    <a:pt x="82240" y="80207"/>
                    <a:pt x="72831" y="79743"/>
                    <a:pt x="67837" y="86132"/>
                  </a:cubicBezTo>
                  <a:cubicBezTo>
                    <a:pt x="54420" y="103439"/>
                    <a:pt x="46463" y="125103"/>
                    <a:pt x="46463" y="148683"/>
                  </a:cubicBezTo>
                  <a:lnTo>
                    <a:pt x="46463" y="163145"/>
                  </a:lnTo>
                  <a:cubicBezTo>
                    <a:pt x="46463" y="177200"/>
                    <a:pt x="44953" y="191255"/>
                    <a:pt x="41933" y="204904"/>
                  </a:cubicBezTo>
                  <a:cubicBezTo>
                    <a:pt x="39959" y="213964"/>
                    <a:pt x="46521" y="222966"/>
                    <a:pt x="55814" y="222966"/>
                  </a:cubicBezTo>
                  <a:cubicBezTo>
                    <a:pt x="61912" y="222966"/>
                    <a:pt x="67372" y="218901"/>
                    <a:pt x="68708" y="212919"/>
                  </a:cubicBezTo>
                  <a:cubicBezTo>
                    <a:pt x="72425" y="196598"/>
                    <a:pt x="74341" y="179930"/>
                    <a:pt x="74341" y="163087"/>
                  </a:cubicBezTo>
                  <a:lnTo>
                    <a:pt x="74341" y="148625"/>
                  </a:lnTo>
                  <a:cubicBezTo>
                    <a:pt x="74341" y="132827"/>
                    <a:pt x="79278" y="118191"/>
                    <a:pt x="87642" y="106169"/>
                  </a:cubicBezTo>
                  <a:cubicBezTo>
                    <a:pt x="91823" y="100129"/>
                    <a:pt x="92288" y="91881"/>
                    <a:pt x="87525" y="86306"/>
                  </a:cubicBezTo>
                  <a:close/>
                  <a:moveTo>
                    <a:pt x="148683" y="92927"/>
                  </a:moveTo>
                  <a:cubicBezTo>
                    <a:pt x="117901" y="92927"/>
                    <a:pt x="92927" y="117901"/>
                    <a:pt x="92927" y="148683"/>
                  </a:cubicBezTo>
                  <a:lnTo>
                    <a:pt x="92927" y="163145"/>
                  </a:lnTo>
                  <a:cubicBezTo>
                    <a:pt x="92927" y="183995"/>
                    <a:pt x="90255" y="204671"/>
                    <a:pt x="84912" y="224767"/>
                  </a:cubicBezTo>
                  <a:cubicBezTo>
                    <a:pt x="82705" y="233072"/>
                    <a:pt x="88803" y="241610"/>
                    <a:pt x="97399" y="241610"/>
                  </a:cubicBezTo>
                  <a:cubicBezTo>
                    <a:pt x="102916" y="241610"/>
                    <a:pt x="107795" y="238009"/>
                    <a:pt x="109247" y="232666"/>
                  </a:cubicBezTo>
                  <a:cubicBezTo>
                    <a:pt x="115345" y="210015"/>
                    <a:pt x="118482" y="186667"/>
                    <a:pt x="118482" y="163145"/>
                  </a:cubicBezTo>
                  <a:lnTo>
                    <a:pt x="118482" y="148683"/>
                  </a:lnTo>
                  <a:cubicBezTo>
                    <a:pt x="118482" y="132014"/>
                    <a:pt x="132014" y="118482"/>
                    <a:pt x="148683" y="118482"/>
                  </a:cubicBezTo>
                  <a:cubicBezTo>
                    <a:pt x="165352" y="118482"/>
                    <a:pt x="178884" y="132014"/>
                    <a:pt x="178884" y="148683"/>
                  </a:cubicBezTo>
                  <a:lnTo>
                    <a:pt x="178884" y="163145"/>
                  </a:lnTo>
                  <a:cubicBezTo>
                    <a:pt x="178884" y="184227"/>
                    <a:pt x="176851" y="205194"/>
                    <a:pt x="172844" y="225812"/>
                  </a:cubicBezTo>
                  <a:cubicBezTo>
                    <a:pt x="171276" y="233885"/>
                    <a:pt x="177316" y="241610"/>
                    <a:pt x="185505" y="241610"/>
                  </a:cubicBezTo>
                  <a:cubicBezTo>
                    <a:pt x="191429" y="241610"/>
                    <a:pt x="196540" y="237544"/>
                    <a:pt x="197702" y="231736"/>
                  </a:cubicBezTo>
                  <a:cubicBezTo>
                    <a:pt x="202174" y="209202"/>
                    <a:pt x="204439" y="186260"/>
                    <a:pt x="204439" y="163145"/>
                  </a:cubicBezTo>
                  <a:lnTo>
                    <a:pt x="204439" y="148683"/>
                  </a:lnTo>
                  <a:cubicBezTo>
                    <a:pt x="204439" y="117901"/>
                    <a:pt x="179465" y="92927"/>
                    <a:pt x="148683" y="92927"/>
                  </a:cubicBezTo>
                  <a:close/>
                  <a:moveTo>
                    <a:pt x="162622" y="148683"/>
                  </a:moveTo>
                  <a:cubicBezTo>
                    <a:pt x="162622" y="140958"/>
                    <a:pt x="156407" y="134744"/>
                    <a:pt x="148683" y="134744"/>
                  </a:cubicBezTo>
                  <a:cubicBezTo>
                    <a:pt x="140958" y="134744"/>
                    <a:pt x="134744" y="140958"/>
                    <a:pt x="134744" y="148683"/>
                  </a:cubicBezTo>
                  <a:lnTo>
                    <a:pt x="134744" y="163145"/>
                  </a:lnTo>
                  <a:cubicBezTo>
                    <a:pt x="134744" y="197934"/>
                    <a:pt x="128355" y="232433"/>
                    <a:pt x="115868" y="264900"/>
                  </a:cubicBezTo>
                  <a:lnTo>
                    <a:pt x="112441" y="273786"/>
                  </a:lnTo>
                  <a:cubicBezTo>
                    <a:pt x="109654" y="280987"/>
                    <a:pt x="113255" y="289061"/>
                    <a:pt x="120456" y="291790"/>
                  </a:cubicBezTo>
                  <a:cubicBezTo>
                    <a:pt x="127658" y="294520"/>
                    <a:pt x="135731" y="290977"/>
                    <a:pt x="138461" y="283775"/>
                  </a:cubicBezTo>
                  <a:lnTo>
                    <a:pt x="141888" y="274889"/>
                  </a:lnTo>
                  <a:cubicBezTo>
                    <a:pt x="155594" y="239229"/>
                    <a:pt x="162622" y="201361"/>
                    <a:pt x="162622" y="163145"/>
                  </a:cubicBezTo>
                  <a:lnTo>
                    <a:pt x="162622" y="148683"/>
                  </a:lnTo>
                  <a:close/>
                </a:path>
              </a:pathLst>
            </a:custGeom>
            <a:solidFill>
              <a:srgbClr val="6B7280"/>
            </a:solidFill>
          </p:spPr>
          <p:txBody>
            <a:bodyPr/>
            <a:p>
              <a:endParaRPr lang="zh-CN" altLang="en-US"/>
            </a:p>
          </p:txBody>
        </p:sp>
        <p:sp>
          <p:nvSpPr>
            <p:cNvPr id="83" name="Text 53"/>
            <p:cNvSpPr/>
            <p:nvPr/>
          </p:nvSpPr>
          <p:spPr>
            <a:xfrm>
              <a:off x="15594" y="9796"/>
              <a:ext cx="3288" cy="50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755" b="1" dirty="0">
                  <a:solidFill>
                    <a:srgbClr val="E5E7EB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主键防重策略</a:t>
              </a:r>
              <a:endParaRPr lang="en-US" sz="1600" dirty="0"/>
            </a:p>
          </p:txBody>
        </p:sp>
        <p:sp>
          <p:nvSpPr>
            <p:cNvPr id="84" name="Text 54"/>
            <p:cNvSpPr/>
            <p:nvPr/>
          </p:nvSpPr>
          <p:spPr>
            <a:xfrm>
              <a:off x="14775" y="10537"/>
              <a:ext cx="8878" cy="50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en-US" sz="1560" dirty="0">
                  <a:solidFill>
                    <a:srgbClr val="E5E7EB">
                      <a:alpha val="90000"/>
                    </a:srgbClr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采用</a:t>
              </a:r>
              <a:r>
                <a:rPr lang="en-US" sz="1560" b="1" dirty="0">
                  <a:solidFill>
                    <a:srgbClr val="FF0000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雪花算法</a:t>
              </a:r>
              <a:r>
                <a:rPr lang="en-US" sz="1560" dirty="0">
                  <a:solidFill>
                    <a:srgbClr val="E5E7EB">
                      <a:alpha val="90000"/>
                    </a:srgbClr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（Snowflake ID）生成全局唯一 ID</a:t>
              </a:r>
              <a:endParaRPr lang="en-US" sz="1600" dirty="0"/>
            </a:p>
          </p:txBody>
        </p:sp>
        <p:sp>
          <p:nvSpPr>
            <p:cNvPr id="85" name="Shape 55"/>
            <p:cNvSpPr/>
            <p:nvPr/>
          </p:nvSpPr>
          <p:spPr>
            <a:xfrm>
              <a:off x="14775" y="11279"/>
              <a:ext cx="8722" cy="1951"/>
            </a:xfrm>
            <a:custGeom>
              <a:avLst/>
              <a:gdLst/>
              <a:ahLst/>
              <a:cxnLst/>
              <a:rect l="l" t="t" r="r" b="b"/>
              <a:pathLst>
                <a:path w="5538439" h="1239024">
                  <a:moveTo>
                    <a:pt x="99122" y="0"/>
                  </a:moveTo>
                  <a:lnTo>
                    <a:pt x="5439317" y="0"/>
                  </a:lnTo>
                  <a:cubicBezTo>
                    <a:pt x="5494061" y="0"/>
                    <a:pt x="5538439" y="44378"/>
                    <a:pt x="5538439" y="99122"/>
                  </a:cubicBezTo>
                  <a:lnTo>
                    <a:pt x="5538439" y="1139902"/>
                  </a:lnTo>
                  <a:cubicBezTo>
                    <a:pt x="5538439" y="1194646"/>
                    <a:pt x="5494061" y="1239024"/>
                    <a:pt x="5439317" y="1239024"/>
                  </a:cubicBezTo>
                  <a:lnTo>
                    <a:pt x="99122" y="1239024"/>
                  </a:lnTo>
                  <a:cubicBezTo>
                    <a:pt x="44378" y="1239024"/>
                    <a:pt x="0" y="1194646"/>
                    <a:pt x="0" y="1139902"/>
                  </a:cubicBezTo>
                  <a:lnTo>
                    <a:pt x="0" y="99122"/>
                  </a:lnTo>
                  <a:cubicBezTo>
                    <a:pt x="0" y="44378"/>
                    <a:pt x="44378" y="0"/>
                    <a:pt x="99122" y="0"/>
                  </a:cubicBezTo>
                  <a:close/>
                </a:path>
              </a:pathLst>
            </a:custGeom>
            <a:solidFill>
              <a:srgbClr val="1A1D21">
                <a:alpha val="50196"/>
              </a:srgbClr>
            </a:solidFill>
          </p:spPr>
        </p:sp>
        <p:sp>
          <p:nvSpPr>
            <p:cNvPr id="86" name="Text 56"/>
            <p:cNvSpPr/>
            <p:nvPr/>
          </p:nvSpPr>
          <p:spPr>
            <a:xfrm>
              <a:off x="15010" y="11513"/>
              <a:ext cx="8410" cy="46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560" dirty="0">
                  <a:solidFill>
                    <a:srgbClr val="4F9A94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ID 结构：</a:t>
              </a:r>
              <a:endParaRPr lang="en-US" sz="1600" dirty="0"/>
            </a:p>
          </p:txBody>
        </p:sp>
        <p:sp>
          <p:nvSpPr>
            <p:cNvPr id="88" name="Text 58"/>
            <p:cNvSpPr/>
            <p:nvPr/>
          </p:nvSpPr>
          <p:spPr>
            <a:xfrm>
              <a:off x="15031" y="12215"/>
              <a:ext cx="8390" cy="39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365" dirty="0">
                  <a:solidFill>
                    <a:schemeClr val="bg1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时间戳 + WorkerID +</a:t>
              </a:r>
              <a:r>
                <a:rPr lang="zh-CN" altLang="en-US" sz="1365" dirty="0">
                  <a:solidFill>
                    <a:schemeClr val="bg1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序列号</a:t>
              </a:r>
              <a:r>
                <a:rPr lang="en-US" altLang="zh-CN" sz="1365" dirty="0">
                  <a:solidFill>
                    <a:schemeClr val="bg1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 </a:t>
              </a:r>
              <a:r>
                <a:rPr lang="en-US" sz="1365" dirty="0">
                  <a:solidFill>
                    <a:schemeClr val="bg1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保证全局唯一</a:t>
              </a:r>
              <a:endParaRPr lang="en-US" sz="1365" dirty="0">
                <a:solidFill>
                  <a:schemeClr val="bg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endParaRPr>
            </a:p>
          </p:txBody>
        </p:sp>
      </p:grpSp>
      <p:pic>
        <p:nvPicPr>
          <p:cNvPr id="60" name="Image 1" descr="preencoded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618980" y="403860"/>
            <a:ext cx="5429250" cy="2353945"/>
          </a:xfrm>
          <a:prstGeom prst="rect">
            <a:avLst/>
          </a:prstGeom>
        </p:spPr>
      </p:pic>
      <p:grpSp>
        <p:nvGrpSpPr>
          <p:cNvPr id="90" name="组合 89"/>
          <p:cNvGrpSpPr/>
          <p:nvPr/>
        </p:nvGrpSpPr>
        <p:grpSpPr>
          <a:xfrm>
            <a:off x="11385550" y="6176010"/>
            <a:ext cx="4669155" cy="1988820"/>
            <a:chOff x="17930" y="9726"/>
            <a:chExt cx="7353" cy="3132"/>
          </a:xfrm>
        </p:grpSpPr>
        <p:grpSp>
          <p:nvGrpSpPr>
            <p:cNvPr id="65" name="组合 64"/>
            <p:cNvGrpSpPr/>
            <p:nvPr/>
          </p:nvGrpSpPr>
          <p:grpSpPr>
            <a:xfrm>
              <a:off x="17930" y="9774"/>
              <a:ext cx="6819" cy="3083"/>
              <a:chOff x="17930" y="9774"/>
              <a:chExt cx="6819" cy="2906"/>
            </a:xfrm>
          </p:grpSpPr>
          <p:sp>
            <p:nvSpPr>
              <p:cNvPr id="47" name="Text 56"/>
              <p:cNvSpPr/>
              <p:nvPr/>
            </p:nvSpPr>
            <p:spPr>
              <a:xfrm>
                <a:off x="18488" y="11728"/>
                <a:ext cx="2684" cy="37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1560" dirty="0">
                    <a:solidFill>
                      <a:srgbClr val="4F9A94"/>
                    </a:solidFill>
                    <a:latin typeface="MiSans" panose="00000500000000000000" pitchFamily="34" charset="-122"/>
                    <a:ea typeface="MiSans" panose="00000500000000000000" pitchFamily="34" charset="-122"/>
                    <a:cs typeface="MiSans" panose="00000500000000000000" pitchFamily="34" charset="-120"/>
                  </a:rPr>
                  <a:t>向量时钟</a:t>
                </a:r>
                <a:r>
                  <a:rPr lang="zh-CN" altLang="en-US" sz="1560" dirty="0">
                    <a:solidFill>
                      <a:srgbClr val="4F9A94"/>
                    </a:solidFill>
                    <a:latin typeface="MiSans" panose="00000500000000000000" pitchFamily="34" charset="-122"/>
                    <a:ea typeface="MiSans" panose="00000500000000000000" pitchFamily="34" charset="-122"/>
                    <a:cs typeface="MiSans" panose="00000500000000000000" pitchFamily="34" charset="-120"/>
                  </a:rPr>
                  <a:t>示例</a:t>
                </a:r>
                <a:endParaRPr lang="zh-CN" altLang="en-US" sz="1560" dirty="0">
                  <a:solidFill>
                    <a:srgbClr val="4F9A94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endParaRPr>
              </a:p>
            </p:txBody>
          </p:sp>
          <p:sp>
            <p:nvSpPr>
              <p:cNvPr id="48" name="Text 57"/>
              <p:cNvSpPr/>
              <p:nvPr/>
            </p:nvSpPr>
            <p:spPr>
              <a:xfrm>
                <a:off x="18488" y="12196"/>
                <a:ext cx="2772" cy="31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1600" dirty="0">
                    <a:solidFill>
                      <a:schemeClr val="bg1"/>
                    </a:solidFill>
                  </a:rPr>
                  <a:t>{“N”:1,”S”:2}</a:t>
                </a:r>
                <a:endParaRPr lang="en-US" altLang="zh-CN" sz="16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1" name="Shape 26"/>
              <p:cNvSpPr/>
              <p:nvPr/>
            </p:nvSpPr>
            <p:spPr>
              <a:xfrm>
                <a:off x="17930" y="9774"/>
                <a:ext cx="87" cy="2907"/>
              </a:xfrm>
              <a:custGeom>
                <a:avLst/>
                <a:gdLst/>
                <a:ahLst/>
                <a:cxnLst/>
                <a:rect l="l" t="t" r="r" b="b"/>
                <a:pathLst>
                  <a:path w="49561" h="1846146">
                    <a:moveTo>
                      <a:pt x="0" y="0"/>
                    </a:moveTo>
                    <a:lnTo>
                      <a:pt x="49561" y="0"/>
                    </a:lnTo>
                    <a:lnTo>
                      <a:pt x="49561" y="1846146"/>
                    </a:lnTo>
                    <a:lnTo>
                      <a:pt x="0" y="184614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F9A94"/>
              </a:solidFill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2" name="Shape 27"/>
              <p:cNvSpPr/>
              <p:nvPr/>
            </p:nvSpPr>
            <p:spPr>
              <a:xfrm>
                <a:off x="18321" y="9970"/>
                <a:ext cx="869" cy="780"/>
              </a:xfrm>
              <a:custGeom>
                <a:avLst/>
                <a:gdLst/>
                <a:ahLst/>
                <a:cxnLst/>
                <a:rect l="l" t="t" r="r" b="b"/>
                <a:pathLst>
                  <a:path w="495610" h="495610">
                    <a:moveTo>
                      <a:pt x="247805" y="0"/>
                    </a:moveTo>
                    <a:lnTo>
                      <a:pt x="247805" y="0"/>
                    </a:lnTo>
                    <a:cubicBezTo>
                      <a:pt x="384572" y="0"/>
                      <a:pt x="495610" y="111038"/>
                      <a:pt x="495610" y="247805"/>
                    </a:cubicBezTo>
                    <a:lnTo>
                      <a:pt x="495610" y="247805"/>
                    </a:lnTo>
                    <a:cubicBezTo>
                      <a:pt x="495610" y="384572"/>
                      <a:pt x="384572" y="495610"/>
                      <a:pt x="247805" y="495610"/>
                    </a:cubicBezTo>
                    <a:lnTo>
                      <a:pt x="247805" y="495610"/>
                    </a:lnTo>
                    <a:cubicBezTo>
                      <a:pt x="111038" y="495610"/>
                      <a:pt x="0" y="384572"/>
                      <a:pt x="0" y="247805"/>
                    </a:cubicBezTo>
                    <a:lnTo>
                      <a:pt x="0" y="247805"/>
                    </a:lnTo>
                    <a:cubicBezTo>
                      <a:pt x="0" y="111038"/>
                      <a:pt x="111038" y="0"/>
                      <a:pt x="247805" y="0"/>
                    </a:cubicBezTo>
                    <a:close/>
                  </a:path>
                </a:pathLst>
              </a:custGeom>
              <a:solidFill>
                <a:srgbClr val="4F9A94"/>
              </a:solidFill>
            </p:spPr>
          </p:sp>
          <p:sp>
            <p:nvSpPr>
              <p:cNvPr id="53" name="Shape 28"/>
              <p:cNvSpPr/>
              <p:nvPr/>
            </p:nvSpPr>
            <p:spPr>
              <a:xfrm>
                <a:off x="18565" y="10166"/>
                <a:ext cx="380" cy="390"/>
              </a:xfrm>
              <a:custGeom>
                <a:avLst/>
                <a:gdLst/>
                <a:ahLst/>
                <a:cxnLst/>
                <a:rect l="l" t="t" r="r" b="b"/>
                <a:pathLst>
                  <a:path w="216829" h="247805">
                    <a:moveTo>
                      <a:pt x="30976" y="15488"/>
                    </a:moveTo>
                    <a:cubicBezTo>
                      <a:pt x="13891" y="15488"/>
                      <a:pt x="0" y="29378"/>
                      <a:pt x="0" y="46463"/>
                    </a:cubicBezTo>
                    <a:lnTo>
                      <a:pt x="0" y="77439"/>
                    </a:lnTo>
                    <a:cubicBezTo>
                      <a:pt x="0" y="94524"/>
                      <a:pt x="13891" y="108415"/>
                      <a:pt x="30976" y="108415"/>
                    </a:cubicBezTo>
                    <a:lnTo>
                      <a:pt x="185854" y="108415"/>
                    </a:lnTo>
                    <a:cubicBezTo>
                      <a:pt x="202939" y="108415"/>
                      <a:pt x="216829" y="94524"/>
                      <a:pt x="216829" y="77439"/>
                    </a:cubicBezTo>
                    <a:lnTo>
                      <a:pt x="216829" y="46463"/>
                    </a:lnTo>
                    <a:cubicBezTo>
                      <a:pt x="216829" y="29378"/>
                      <a:pt x="202939" y="15488"/>
                      <a:pt x="185854" y="15488"/>
                    </a:cubicBezTo>
                    <a:lnTo>
                      <a:pt x="30976" y="15488"/>
                    </a:lnTo>
                    <a:close/>
                    <a:moveTo>
                      <a:pt x="135518" y="50335"/>
                    </a:moveTo>
                    <a:cubicBezTo>
                      <a:pt x="141929" y="50335"/>
                      <a:pt x="147134" y="55540"/>
                      <a:pt x="147134" y="61951"/>
                    </a:cubicBezTo>
                    <a:cubicBezTo>
                      <a:pt x="147134" y="68362"/>
                      <a:pt x="141929" y="73567"/>
                      <a:pt x="135518" y="73567"/>
                    </a:cubicBezTo>
                    <a:cubicBezTo>
                      <a:pt x="129107" y="73567"/>
                      <a:pt x="123902" y="68362"/>
                      <a:pt x="123902" y="61951"/>
                    </a:cubicBezTo>
                    <a:cubicBezTo>
                      <a:pt x="123902" y="55540"/>
                      <a:pt x="129107" y="50335"/>
                      <a:pt x="135518" y="50335"/>
                    </a:cubicBezTo>
                    <a:close/>
                    <a:moveTo>
                      <a:pt x="162622" y="61951"/>
                    </a:moveTo>
                    <a:cubicBezTo>
                      <a:pt x="162622" y="55540"/>
                      <a:pt x="167827" y="50335"/>
                      <a:pt x="174238" y="50335"/>
                    </a:cubicBezTo>
                    <a:cubicBezTo>
                      <a:pt x="180649" y="50335"/>
                      <a:pt x="185854" y="55540"/>
                      <a:pt x="185854" y="61951"/>
                    </a:cubicBezTo>
                    <a:cubicBezTo>
                      <a:pt x="185854" y="68362"/>
                      <a:pt x="180649" y="73567"/>
                      <a:pt x="174238" y="73567"/>
                    </a:cubicBezTo>
                    <a:cubicBezTo>
                      <a:pt x="167827" y="73567"/>
                      <a:pt x="162622" y="68362"/>
                      <a:pt x="162622" y="61951"/>
                    </a:cubicBezTo>
                    <a:close/>
                    <a:moveTo>
                      <a:pt x="30976" y="139390"/>
                    </a:moveTo>
                    <a:cubicBezTo>
                      <a:pt x="13891" y="139390"/>
                      <a:pt x="0" y="153281"/>
                      <a:pt x="0" y="170366"/>
                    </a:cubicBezTo>
                    <a:lnTo>
                      <a:pt x="0" y="201341"/>
                    </a:lnTo>
                    <a:cubicBezTo>
                      <a:pt x="0" y="218426"/>
                      <a:pt x="13891" y="232317"/>
                      <a:pt x="30976" y="232317"/>
                    </a:cubicBezTo>
                    <a:lnTo>
                      <a:pt x="185854" y="232317"/>
                    </a:lnTo>
                    <a:cubicBezTo>
                      <a:pt x="202939" y="232317"/>
                      <a:pt x="216829" y="218426"/>
                      <a:pt x="216829" y="201341"/>
                    </a:cubicBezTo>
                    <a:lnTo>
                      <a:pt x="216829" y="170366"/>
                    </a:lnTo>
                    <a:cubicBezTo>
                      <a:pt x="216829" y="153281"/>
                      <a:pt x="202939" y="139390"/>
                      <a:pt x="185854" y="139390"/>
                    </a:cubicBezTo>
                    <a:lnTo>
                      <a:pt x="30976" y="139390"/>
                    </a:lnTo>
                    <a:close/>
                    <a:moveTo>
                      <a:pt x="135518" y="174238"/>
                    </a:moveTo>
                    <a:cubicBezTo>
                      <a:pt x="141929" y="174238"/>
                      <a:pt x="147134" y="179443"/>
                      <a:pt x="147134" y="185854"/>
                    </a:cubicBezTo>
                    <a:cubicBezTo>
                      <a:pt x="147134" y="192265"/>
                      <a:pt x="141929" y="197470"/>
                      <a:pt x="135518" y="197470"/>
                    </a:cubicBezTo>
                    <a:cubicBezTo>
                      <a:pt x="129107" y="197470"/>
                      <a:pt x="123902" y="192265"/>
                      <a:pt x="123902" y="185854"/>
                    </a:cubicBezTo>
                    <a:cubicBezTo>
                      <a:pt x="123902" y="179443"/>
                      <a:pt x="129107" y="174238"/>
                      <a:pt x="135518" y="174238"/>
                    </a:cubicBezTo>
                    <a:close/>
                    <a:moveTo>
                      <a:pt x="162622" y="185854"/>
                    </a:moveTo>
                    <a:cubicBezTo>
                      <a:pt x="162622" y="179443"/>
                      <a:pt x="167827" y="174238"/>
                      <a:pt x="174238" y="174238"/>
                    </a:cubicBezTo>
                    <a:cubicBezTo>
                      <a:pt x="180649" y="174238"/>
                      <a:pt x="185854" y="179443"/>
                      <a:pt x="185854" y="185854"/>
                    </a:cubicBezTo>
                    <a:cubicBezTo>
                      <a:pt x="185854" y="192265"/>
                      <a:pt x="180649" y="197470"/>
                      <a:pt x="174238" y="197470"/>
                    </a:cubicBezTo>
                    <a:cubicBezTo>
                      <a:pt x="167827" y="197470"/>
                      <a:pt x="162622" y="192265"/>
                      <a:pt x="162622" y="185854"/>
                    </a:cubicBezTo>
                    <a:close/>
                  </a:path>
                </a:pathLst>
              </a:custGeom>
              <a:solidFill>
                <a:srgbClr val="1A1D21"/>
              </a:solidFill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4" name="Text 29"/>
              <p:cNvSpPr/>
              <p:nvPr/>
            </p:nvSpPr>
            <p:spPr>
              <a:xfrm>
                <a:off x="19450" y="10086"/>
                <a:ext cx="3554" cy="54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1755" dirty="0">
                    <a:solidFill>
                      <a:schemeClr val="bg1"/>
                    </a:solidFill>
                    <a:sym typeface="+mn-ea"/>
                  </a:rPr>
                  <a:t>区分同步</a:t>
                </a:r>
                <a:r>
                  <a:rPr lang="en-US" altLang="zh-CN" sz="1755" dirty="0">
                    <a:solidFill>
                      <a:schemeClr val="bg1"/>
                    </a:solidFill>
                    <a:sym typeface="+mn-ea"/>
                  </a:rPr>
                  <a:t>/</a:t>
                </a:r>
                <a:r>
                  <a:rPr lang="zh-CN" altLang="en-US" sz="1755" dirty="0">
                    <a:solidFill>
                      <a:schemeClr val="bg1"/>
                    </a:solidFill>
                    <a:sym typeface="+mn-ea"/>
                  </a:rPr>
                  <a:t>冲突的策略</a:t>
                </a:r>
                <a:endParaRPr lang="en-US" sz="1600" dirty="0"/>
              </a:p>
            </p:txBody>
          </p:sp>
          <p:sp>
            <p:nvSpPr>
              <p:cNvPr id="56" name="Text 31"/>
              <p:cNvSpPr/>
              <p:nvPr/>
            </p:nvSpPr>
            <p:spPr>
              <a:xfrm>
                <a:off x="18413" y="11100"/>
                <a:ext cx="6337" cy="48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40000"/>
                  </a:lnSpc>
                </a:pPr>
                <a:r>
                  <a:rPr lang="en-US" sz="1560" dirty="0">
                    <a:solidFill>
                      <a:srgbClr val="E5E7EB">
                        <a:alpha val="90000"/>
                      </a:srgbClr>
                    </a:solidFill>
                    <a:latin typeface="MiSans" panose="00000500000000000000" pitchFamily="34" charset="-122"/>
                    <a:ea typeface="MiSans" panose="00000500000000000000" pitchFamily="34" charset="-122"/>
                    <a:cs typeface="MiSans" panose="00000500000000000000" pitchFamily="34" charset="-120"/>
                    <a:sym typeface="+mn-ea"/>
                  </a:rPr>
                  <a:t>采用</a:t>
                </a:r>
                <a:r>
                  <a:rPr lang="zh-CN" altLang="en-US" sz="1560" dirty="0">
                    <a:solidFill>
                      <a:srgbClr val="FF0000">
                        <a:alpha val="90000"/>
                      </a:srgbClr>
                    </a:solidFill>
                    <a:latin typeface="MiSans" panose="00000500000000000000" pitchFamily="34" charset="-122"/>
                    <a:ea typeface="MiSans" panose="00000500000000000000" pitchFamily="34" charset="-122"/>
                    <a:cs typeface="MiSans" panose="00000500000000000000" pitchFamily="34" charset="-120"/>
                    <a:sym typeface="+mn-ea"/>
                  </a:rPr>
                  <a:t>向量时钟</a:t>
                </a:r>
                <a:r>
                  <a:rPr lang="en-US" altLang="zh-CN" sz="1560" dirty="0">
                    <a:solidFill>
                      <a:srgbClr val="E5E7EB">
                        <a:alpha val="90000"/>
                      </a:srgbClr>
                    </a:solidFill>
                    <a:latin typeface="MiSans" panose="00000500000000000000" pitchFamily="34" charset="-122"/>
                    <a:ea typeface="MiSans" panose="00000500000000000000" pitchFamily="34" charset="-122"/>
                    <a:cs typeface="MiSans" panose="00000500000000000000" pitchFamily="34" charset="-120"/>
                    <a:sym typeface="+mn-ea"/>
                  </a:rPr>
                  <a:t> </a:t>
                </a:r>
                <a:r>
                  <a:rPr lang="zh-CN" altLang="en-US" sz="1560" dirty="0">
                    <a:solidFill>
                      <a:srgbClr val="E5E7EB">
                        <a:alpha val="90000"/>
                      </a:srgbClr>
                    </a:solidFill>
                    <a:latin typeface="MiSans" panose="00000500000000000000" pitchFamily="34" charset="-122"/>
                    <a:ea typeface="MiSans" panose="00000500000000000000" pitchFamily="34" charset="-122"/>
                    <a:cs typeface="MiSans" panose="00000500000000000000" pitchFamily="34" charset="-120"/>
                    <a:sym typeface="+mn-ea"/>
                  </a:rPr>
                  <a:t>区分各个数据版本的先后关系</a:t>
                </a:r>
                <a:endParaRPr lang="en-US" sz="1600" dirty="0"/>
              </a:p>
            </p:txBody>
          </p:sp>
        </p:grpSp>
        <p:sp>
          <p:nvSpPr>
            <p:cNvPr id="87" name="Shape 25"/>
            <p:cNvSpPr/>
            <p:nvPr/>
          </p:nvSpPr>
          <p:spPr>
            <a:xfrm>
              <a:off x="18017" y="9726"/>
              <a:ext cx="7267" cy="3133"/>
            </a:xfrm>
            <a:custGeom>
              <a:avLst/>
              <a:gdLst/>
              <a:ahLst/>
              <a:cxnLst/>
              <a:rect l="l" t="t" r="r" b="b"/>
              <a:pathLst>
                <a:path w="5959707" h="1846146">
                  <a:moveTo>
                    <a:pt x="0" y="0"/>
                  </a:moveTo>
                  <a:lnTo>
                    <a:pt x="5860588" y="0"/>
                  </a:lnTo>
                  <a:cubicBezTo>
                    <a:pt x="5915330" y="0"/>
                    <a:pt x="5959707" y="44377"/>
                    <a:pt x="5959707" y="99120"/>
                  </a:cubicBezTo>
                  <a:lnTo>
                    <a:pt x="5959707" y="1747027"/>
                  </a:lnTo>
                  <a:cubicBezTo>
                    <a:pt x="5959707" y="1801769"/>
                    <a:pt x="5915330" y="1846146"/>
                    <a:pt x="5860588" y="1846146"/>
                  </a:cubicBezTo>
                  <a:lnTo>
                    <a:pt x="0" y="18461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4A5C">
                <a:alpha val="30196"/>
              </a:srgbClr>
            </a:solidFill>
          </p:spPr>
          <p:txBody>
            <a:bodyPr/>
            <a:p>
              <a:endParaRPr lang="zh-CN" altLang="en-US"/>
            </a:p>
          </p:txBody>
        </p:sp>
      </p:grp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3333" y="465667"/>
            <a:ext cx="63500" cy="423333"/>
          </a:xfrm>
          <a:custGeom>
            <a:avLst/>
            <a:gdLst/>
            <a:ahLst/>
            <a:cxnLst/>
            <a:rect l="l" t="t" r="r" b="b"/>
            <a:pathLst>
              <a:path w="63500" h="423333">
                <a:moveTo>
                  <a:pt x="0" y="0"/>
                </a:moveTo>
                <a:lnTo>
                  <a:pt x="63500" y="0"/>
                </a:lnTo>
                <a:lnTo>
                  <a:pt x="63500" y="423333"/>
                </a:lnTo>
                <a:lnTo>
                  <a:pt x="0" y="423333"/>
                </a:lnTo>
                <a:lnTo>
                  <a:pt x="0" y="0"/>
                </a:lnTo>
                <a:close/>
              </a:path>
            </a:pathLst>
          </a:custGeom>
          <a:solidFill>
            <a:srgbClr val="4F9A94"/>
          </a:solidFill>
        </p:spPr>
      </p:sp>
      <p:sp>
        <p:nvSpPr>
          <p:cNvPr id="3" name="Text 1"/>
          <p:cNvSpPr/>
          <p:nvPr/>
        </p:nvSpPr>
        <p:spPr>
          <a:xfrm>
            <a:off x="613833" y="423333"/>
            <a:ext cx="5090583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000" b="1" dirty="0">
                <a:solidFill>
                  <a:srgbClr val="E5E7E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核心机制 I：变更捕获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77333" y="1016000"/>
            <a:ext cx="15261167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5" dirty="0">
                <a:solidFill>
                  <a:srgbClr val="6B728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Change Data Capture (CDC)</a:t>
            </a:r>
            <a:endParaRPr lang="en-US" sz="1600" dirty="0"/>
          </a:p>
        </p:txBody>
      </p:sp>
      <p:grpSp>
        <p:nvGrpSpPr>
          <p:cNvPr id="49" name="组合 48"/>
          <p:cNvGrpSpPr/>
          <p:nvPr/>
        </p:nvGrpSpPr>
        <p:grpSpPr>
          <a:xfrm>
            <a:off x="444500" y="1524000"/>
            <a:ext cx="7576820" cy="1036320"/>
            <a:chOff x="700" y="2400"/>
            <a:chExt cx="11932" cy="1632"/>
          </a:xfrm>
        </p:grpSpPr>
        <p:sp>
          <p:nvSpPr>
            <p:cNvPr id="5" name="Shape 3"/>
            <p:cNvSpPr/>
            <p:nvPr/>
          </p:nvSpPr>
          <p:spPr>
            <a:xfrm>
              <a:off x="700" y="2400"/>
              <a:ext cx="11933" cy="1633"/>
            </a:xfrm>
            <a:custGeom>
              <a:avLst/>
              <a:gdLst/>
              <a:ahLst/>
              <a:cxnLst/>
              <a:rect l="l" t="t" r="r" b="b"/>
              <a:pathLst>
                <a:path w="7577667" h="1037167">
                  <a:moveTo>
                    <a:pt x="0" y="0"/>
                  </a:moveTo>
                  <a:lnTo>
                    <a:pt x="7493003" y="0"/>
                  </a:lnTo>
                  <a:cubicBezTo>
                    <a:pt x="7539761" y="0"/>
                    <a:pt x="7577667" y="37905"/>
                    <a:pt x="7577667" y="84664"/>
                  </a:cubicBezTo>
                  <a:lnTo>
                    <a:pt x="7577667" y="952503"/>
                  </a:lnTo>
                  <a:cubicBezTo>
                    <a:pt x="7577667" y="999261"/>
                    <a:pt x="7539761" y="1037167"/>
                    <a:pt x="7493003" y="1037167"/>
                  </a:cubicBezTo>
                  <a:lnTo>
                    <a:pt x="0" y="10371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4A5C">
                <a:alpha val="30196"/>
              </a:srgbClr>
            </a:solidFill>
          </p:spPr>
        </p:sp>
        <p:sp>
          <p:nvSpPr>
            <p:cNvPr id="6" name="Shape 4"/>
            <p:cNvSpPr/>
            <p:nvPr/>
          </p:nvSpPr>
          <p:spPr>
            <a:xfrm>
              <a:off x="700" y="2400"/>
              <a:ext cx="67" cy="1633"/>
            </a:xfrm>
            <a:custGeom>
              <a:avLst/>
              <a:gdLst/>
              <a:ahLst/>
              <a:cxnLst/>
              <a:rect l="l" t="t" r="r" b="b"/>
              <a:pathLst>
                <a:path w="42333" h="1037167">
                  <a:moveTo>
                    <a:pt x="0" y="0"/>
                  </a:moveTo>
                  <a:lnTo>
                    <a:pt x="42333" y="0"/>
                  </a:lnTo>
                  <a:lnTo>
                    <a:pt x="42333" y="1037167"/>
                  </a:lnTo>
                  <a:lnTo>
                    <a:pt x="0" y="10371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B7280"/>
            </a:solidFill>
          </p:spPr>
        </p:sp>
        <p:sp>
          <p:nvSpPr>
            <p:cNvPr id="7" name="Shape 5"/>
            <p:cNvSpPr/>
            <p:nvPr/>
          </p:nvSpPr>
          <p:spPr>
            <a:xfrm>
              <a:off x="1050" y="2700"/>
              <a:ext cx="400" cy="400"/>
            </a:xfrm>
            <a:custGeom>
              <a:avLst/>
              <a:gdLst/>
              <a:ahLst/>
              <a:cxnLst/>
              <a:rect l="l" t="t" r="r" b="b"/>
              <a:pathLst>
                <a:path w="254000" h="254000">
                  <a:moveTo>
                    <a:pt x="127000" y="254000"/>
                  </a:moveTo>
                  <a:cubicBezTo>
                    <a:pt x="197093" y="254000"/>
                    <a:pt x="254000" y="197093"/>
                    <a:pt x="254000" y="127000"/>
                  </a:cubicBezTo>
                  <a:cubicBezTo>
                    <a:pt x="254000" y="56907"/>
                    <a:pt x="197093" y="0"/>
                    <a:pt x="127000" y="0"/>
                  </a:cubicBezTo>
                  <a:cubicBezTo>
                    <a:pt x="56907" y="0"/>
                    <a:pt x="0" y="56907"/>
                    <a:pt x="0" y="127000"/>
                  </a:cubicBezTo>
                  <a:cubicBezTo>
                    <a:pt x="0" y="197093"/>
                    <a:pt x="56907" y="254000"/>
                    <a:pt x="127000" y="254000"/>
                  </a:cubicBezTo>
                  <a:close/>
                  <a:moveTo>
                    <a:pt x="127000" y="87313"/>
                  </a:moveTo>
                  <a:cubicBezTo>
                    <a:pt x="118219" y="87313"/>
                    <a:pt x="111125" y="94407"/>
                    <a:pt x="111125" y="103188"/>
                  </a:cubicBezTo>
                  <a:cubicBezTo>
                    <a:pt x="111125" y="109786"/>
                    <a:pt x="105817" y="115094"/>
                    <a:pt x="99219" y="115094"/>
                  </a:cubicBezTo>
                  <a:cubicBezTo>
                    <a:pt x="92621" y="115094"/>
                    <a:pt x="87313" y="109786"/>
                    <a:pt x="87313" y="103188"/>
                  </a:cubicBezTo>
                  <a:cubicBezTo>
                    <a:pt x="87313" y="81260"/>
                    <a:pt x="105073" y="63500"/>
                    <a:pt x="127000" y="63500"/>
                  </a:cubicBezTo>
                  <a:cubicBezTo>
                    <a:pt x="148927" y="63500"/>
                    <a:pt x="166688" y="81260"/>
                    <a:pt x="166688" y="103188"/>
                  </a:cubicBezTo>
                  <a:cubicBezTo>
                    <a:pt x="166688" y="126603"/>
                    <a:pt x="148828" y="136525"/>
                    <a:pt x="138906" y="140146"/>
                  </a:cubicBezTo>
                  <a:lnTo>
                    <a:pt x="138906" y="142032"/>
                  </a:lnTo>
                  <a:cubicBezTo>
                    <a:pt x="138906" y="148630"/>
                    <a:pt x="133598" y="153938"/>
                    <a:pt x="127000" y="153938"/>
                  </a:cubicBezTo>
                  <a:cubicBezTo>
                    <a:pt x="120402" y="153938"/>
                    <a:pt x="115094" y="148630"/>
                    <a:pt x="115094" y="142032"/>
                  </a:cubicBezTo>
                  <a:lnTo>
                    <a:pt x="115094" y="138013"/>
                  </a:lnTo>
                  <a:cubicBezTo>
                    <a:pt x="115094" y="127843"/>
                    <a:pt x="122436" y="120551"/>
                    <a:pt x="130026" y="118070"/>
                  </a:cubicBezTo>
                  <a:cubicBezTo>
                    <a:pt x="133201" y="117029"/>
                    <a:pt x="136575" y="115342"/>
                    <a:pt x="139055" y="112961"/>
                  </a:cubicBezTo>
                  <a:cubicBezTo>
                    <a:pt x="141188" y="110877"/>
                    <a:pt x="142875" y="108000"/>
                    <a:pt x="142875" y="103237"/>
                  </a:cubicBezTo>
                  <a:cubicBezTo>
                    <a:pt x="142875" y="94456"/>
                    <a:pt x="135781" y="87362"/>
                    <a:pt x="127000" y="87362"/>
                  </a:cubicBezTo>
                  <a:close/>
                  <a:moveTo>
                    <a:pt x="111125" y="182563"/>
                  </a:moveTo>
                  <a:cubicBezTo>
                    <a:pt x="111125" y="173801"/>
                    <a:pt x="118238" y="166688"/>
                    <a:pt x="127000" y="166688"/>
                  </a:cubicBezTo>
                  <a:cubicBezTo>
                    <a:pt x="135762" y="166688"/>
                    <a:pt x="142875" y="173801"/>
                    <a:pt x="142875" y="182563"/>
                  </a:cubicBezTo>
                  <a:cubicBezTo>
                    <a:pt x="142875" y="191324"/>
                    <a:pt x="135762" y="198438"/>
                    <a:pt x="127000" y="198438"/>
                  </a:cubicBezTo>
                  <a:cubicBezTo>
                    <a:pt x="118238" y="198438"/>
                    <a:pt x="111125" y="191324"/>
                    <a:pt x="111125" y="182563"/>
                  </a:cubicBezTo>
                  <a:close/>
                </a:path>
              </a:pathLst>
            </a:custGeom>
            <a:solidFill>
              <a:srgbClr val="6B7280"/>
            </a:solidFill>
          </p:spPr>
        </p:sp>
        <p:sp>
          <p:nvSpPr>
            <p:cNvPr id="8" name="Text 6"/>
            <p:cNvSpPr/>
            <p:nvPr/>
          </p:nvSpPr>
          <p:spPr>
            <a:xfrm>
              <a:off x="1700" y="2667"/>
              <a:ext cx="1500" cy="46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665" b="1" dirty="0">
                  <a:solidFill>
                    <a:srgbClr val="E5E7EB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技术挑战</a:t>
              </a:r>
              <a:endParaRPr lang="en-US" sz="16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1000" y="3333"/>
              <a:ext cx="11500" cy="43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en-US" sz="1335" dirty="0">
                  <a:solidFill>
                    <a:srgbClr val="E5E7EB">
                      <a:alpha val="90000"/>
                    </a:srgbClr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如何捕获</a:t>
              </a:r>
              <a:r>
                <a:rPr lang="en-US" sz="1335" b="1" dirty="0">
                  <a:solidFill>
                    <a:srgbClr val="6B7280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所有变更</a:t>
              </a:r>
              <a:r>
                <a:rPr lang="en-US" sz="1335" dirty="0">
                  <a:solidFill>
                    <a:srgbClr val="E5E7EB">
                      <a:alpha val="90000"/>
                    </a:srgbClr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？包括通过 Navicat 或命令行直接修改数据库的操作。</a:t>
              </a:r>
              <a:endParaRPr lang="en-US" sz="1600" dirty="0"/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444500" y="2730500"/>
            <a:ext cx="7555230" cy="1778000"/>
            <a:chOff x="700" y="4300"/>
            <a:chExt cx="11898" cy="2800"/>
          </a:xfrm>
        </p:grpSpPr>
        <p:sp>
          <p:nvSpPr>
            <p:cNvPr id="10" name="Shape 8"/>
            <p:cNvSpPr/>
            <p:nvPr/>
          </p:nvSpPr>
          <p:spPr>
            <a:xfrm>
              <a:off x="766" y="4300"/>
              <a:ext cx="11833" cy="2800"/>
            </a:xfrm>
            <a:custGeom>
              <a:avLst/>
              <a:gdLst/>
              <a:ahLst/>
              <a:cxnLst/>
              <a:rect l="l" t="t" r="r" b="b"/>
              <a:pathLst>
                <a:path w="7577667" h="1778000">
                  <a:moveTo>
                    <a:pt x="0" y="0"/>
                  </a:moveTo>
                  <a:lnTo>
                    <a:pt x="7492998" y="0"/>
                  </a:lnTo>
                  <a:cubicBezTo>
                    <a:pt x="7539759" y="0"/>
                    <a:pt x="7577667" y="37907"/>
                    <a:pt x="7577667" y="84668"/>
                  </a:cubicBezTo>
                  <a:lnTo>
                    <a:pt x="7577667" y="1693332"/>
                  </a:lnTo>
                  <a:cubicBezTo>
                    <a:pt x="7577667" y="1740093"/>
                    <a:pt x="7539759" y="1778000"/>
                    <a:pt x="7492998" y="1778000"/>
                  </a:cubicBezTo>
                  <a:lnTo>
                    <a:pt x="0" y="177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4A5C">
                <a:alpha val="30196"/>
              </a:srgbClr>
            </a:solidFill>
          </p:spPr>
        </p:sp>
        <p:sp>
          <p:nvSpPr>
            <p:cNvPr id="11" name="Shape 9"/>
            <p:cNvSpPr/>
            <p:nvPr/>
          </p:nvSpPr>
          <p:spPr>
            <a:xfrm>
              <a:off x="700" y="4300"/>
              <a:ext cx="67" cy="2800"/>
            </a:xfrm>
            <a:custGeom>
              <a:avLst/>
              <a:gdLst/>
              <a:ahLst/>
              <a:cxnLst/>
              <a:rect l="l" t="t" r="r" b="b"/>
              <a:pathLst>
                <a:path w="42333" h="1778000">
                  <a:moveTo>
                    <a:pt x="0" y="0"/>
                  </a:moveTo>
                  <a:lnTo>
                    <a:pt x="42333" y="0"/>
                  </a:lnTo>
                  <a:lnTo>
                    <a:pt x="42333" y="1778000"/>
                  </a:lnTo>
                  <a:lnTo>
                    <a:pt x="0" y="177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9A94"/>
            </a:solidFill>
          </p:spPr>
        </p:sp>
        <p:sp>
          <p:nvSpPr>
            <p:cNvPr id="12" name="Shape 10"/>
            <p:cNvSpPr/>
            <p:nvPr/>
          </p:nvSpPr>
          <p:spPr>
            <a:xfrm>
              <a:off x="1100" y="4600"/>
              <a:ext cx="300" cy="400"/>
            </a:xfrm>
            <a:custGeom>
              <a:avLst/>
              <a:gdLst/>
              <a:ahLst/>
              <a:cxnLst/>
              <a:rect l="l" t="t" r="r" b="b"/>
              <a:pathLst>
                <a:path w="190500" h="254000">
                  <a:moveTo>
                    <a:pt x="145306" y="190500"/>
                  </a:moveTo>
                  <a:cubicBezTo>
                    <a:pt x="148927" y="179437"/>
                    <a:pt x="156170" y="169416"/>
                    <a:pt x="164356" y="160784"/>
                  </a:cubicBezTo>
                  <a:cubicBezTo>
                    <a:pt x="180578" y="143718"/>
                    <a:pt x="190500" y="120650"/>
                    <a:pt x="190500" y="95250"/>
                  </a:cubicBezTo>
                  <a:cubicBezTo>
                    <a:pt x="190500" y="42664"/>
                    <a:pt x="147836" y="0"/>
                    <a:pt x="95250" y="0"/>
                  </a:cubicBezTo>
                  <a:cubicBezTo>
                    <a:pt x="42664" y="0"/>
                    <a:pt x="0" y="42664"/>
                    <a:pt x="0" y="95250"/>
                  </a:cubicBezTo>
                  <a:cubicBezTo>
                    <a:pt x="0" y="120650"/>
                    <a:pt x="9922" y="143718"/>
                    <a:pt x="26144" y="160784"/>
                  </a:cubicBezTo>
                  <a:cubicBezTo>
                    <a:pt x="34330" y="169416"/>
                    <a:pt x="41622" y="179437"/>
                    <a:pt x="45194" y="190500"/>
                  </a:cubicBezTo>
                  <a:lnTo>
                    <a:pt x="145256" y="190500"/>
                  </a:lnTo>
                  <a:close/>
                  <a:moveTo>
                    <a:pt x="142875" y="214313"/>
                  </a:moveTo>
                  <a:lnTo>
                    <a:pt x="47625" y="214313"/>
                  </a:lnTo>
                  <a:lnTo>
                    <a:pt x="47625" y="222250"/>
                  </a:lnTo>
                  <a:cubicBezTo>
                    <a:pt x="47625" y="244177"/>
                    <a:pt x="65385" y="261937"/>
                    <a:pt x="87313" y="261937"/>
                  </a:cubicBezTo>
                  <a:lnTo>
                    <a:pt x="103188" y="261937"/>
                  </a:lnTo>
                  <a:cubicBezTo>
                    <a:pt x="125115" y="261937"/>
                    <a:pt x="142875" y="244177"/>
                    <a:pt x="142875" y="222250"/>
                  </a:cubicBezTo>
                  <a:lnTo>
                    <a:pt x="142875" y="214313"/>
                  </a:lnTo>
                  <a:close/>
                  <a:moveTo>
                    <a:pt x="91281" y="55563"/>
                  </a:moveTo>
                  <a:cubicBezTo>
                    <a:pt x="71537" y="55563"/>
                    <a:pt x="55563" y="71537"/>
                    <a:pt x="55563" y="91281"/>
                  </a:cubicBezTo>
                  <a:cubicBezTo>
                    <a:pt x="55563" y="97879"/>
                    <a:pt x="50254" y="103188"/>
                    <a:pt x="43656" y="103188"/>
                  </a:cubicBezTo>
                  <a:cubicBezTo>
                    <a:pt x="37058" y="103188"/>
                    <a:pt x="31750" y="97879"/>
                    <a:pt x="31750" y="91281"/>
                  </a:cubicBezTo>
                  <a:cubicBezTo>
                    <a:pt x="31750" y="58390"/>
                    <a:pt x="58390" y="31750"/>
                    <a:pt x="91281" y="31750"/>
                  </a:cubicBezTo>
                  <a:cubicBezTo>
                    <a:pt x="97879" y="31750"/>
                    <a:pt x="103188" y="37058"/>
                    <a:pt x="103188" y="43656"/>
                  </a:cubicBezTo>
                  <a:cubicBezTo>
                    <a:pt x="103188" y="50254"/>
                    <a:pt x="97879" y="55563"/>
                    <a:pt x="91281" y="55563"/>
                  </a:cubicBezTo>
                  <a:close/>
                </a:path>
              </a:pathLst>
            </a:custGeom>
            <a:solidFill>
              <a:srgbClr val="4F9A94"/>
            </a:solidFill>
          </p:spPr>
        </p:sp>
        <p:sp>
          <p:nvSpPr>
            <p:cNvPr id="13" name="Text 11"/>
            <p:cNvSpPr/>
            <p:nvPr/>
          </p:nvSpPr>
          <p:spPr>
            <a:xfrm>
              <a:off x="1700" y="4567"/>
              <a:ext cx="1500" cy="46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665" b="1" dirty="0">
                  <a:solidFill>
                    <a:srgbClr val="E5E7EB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解决方案</a:t>
              </a:r>
              <a:endParaRPr lang="en-US" sz="16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1000" y="5233"/>
              <a:ext cx="11517" cy="46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500" b="1" dirty="0">
                  <a:solidFill>
                    <a:srgbClr val="E5E7EB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数据库</a:t>
              </a:r>
              <a:r>
                <a:rPr lang="en-US" sz="1500" b="1" dirty="0">
                  <a:solidFill>
                    <a:srgbClr val="4F9A94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"触发器"</a:t>
              </a:r>
              <a:r>
                <a:rPr lang="en-US" sz="1500" b="1" dirty="0">
                  <a:solidFill>
                    <a:srgbClr val="E5E7EB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（Edge Triggers）</a:t>
              </a:r>
              <a:endParaRPr lang="en-US" sz="16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1050" y="5952"/>
              <a:ext cx="233" cy="267"/>
            </a:xfrm>
            <a:custGeom>
              <a:avLst/>
              <a:gdLst/>
              <a:ahLst/>
              <a:cxnLst/>
              <a:rect l="l" t="t" r="r" b="b"/>
              <a:pathLst>
                <a:path w="148167" h="169333">
                  <a:moveTo>
                    <a:pt x="143801" y="23184"/>
                  </a:moveTo>
                  <a:cubicBezTo>
                    <a:pt x="148530" y="26624"/>
                    <a:pt x="149589" y="33238"/>
                    <a:pt x="146149" y="37968"/>
                  </a:cubicBezTo>
                  <a:lnTo>
                    <a:pt x="61483" y="154384"/>
                  </a:lnTo>
                  <a:cubicBezTo>
                    <a:pt x="59664" y="156898"/>
                    <a:pt x="56852" y="158452"/>
                    <a:pt x="53743" y="158717"/>
                  </a:cubicBezTo>
                  <a:cubicBezTo>
                    <a:pt x="50635" y="158982"/>
                    <a:pt x="47625" y="157824"/>
                    <a:pt x="45442" y="155641"/>
                  </a:cubicBezTo>
                  <a:lnTo>
                    <a:pt x="3109" y="113308"/>
                  </a:lnTo>
                  <a:cubicBezTo>
                    <a:pt x="-1025" y="109174"/>
                    <a:pt x="-1025" y="102460"/>
                    <a:pt x="3109" y="98326"/>
                  </a:cubicBezTo>
                  <a:cubicBezTo>
                    <a:pt x="7243" y="94192"/>
                    <a:pt x="13957" y="94192"/>
                    <a:pt x="18091" y="98326"/>
                  </a:cubicBezTo>
                  <a:lnTo>
                    <a:pt x="51660" y="131895"/>
                  </a:lnTo>
                  <a:lnTo>
                    <a:pt x="129051" y="25499"/>
                  </a:lnTo>
                  <a:cubicBezTo>
                    <a:pt x="132490" y="20770"/>
                    <a:pt x="139105" y="19711"/>
                    <a:pt x="143834" y="23151"/>
                  </a:cubicBezTo>
                  <a:close/>
                </a:path>
              </a:pathLst>
            </a:custGeom>
            <a:solidFill>
              <a:srgbClr val="4F9A94"/>
            </a:solidFill>
          </p:spPr>
        </p:sp>
        <p:sp>
          <p:nvSpPr>
            <p:cNvPr id="16" name="Text 14"/>
            <p:cNvSpPr/>
            <p:nvPr/>
          </p:nvSpPr>
          <p:spPr>
            <a:xfrm>
              <a:off x="1444" y="5900"/>
              <a:ext cx="11056" cy="4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35" b="1" dirty="0">
                  <a:solidFill>
                    <a:srgbClr val="4F9A94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动作</a:t>
              </a:r>
              <a:r>
                <a:rPr lang="en-US" sz="1335" dirty="0">
                  <a:solidFill>
                    <a:srgbClr val="E5E7EB">
                      <a:alpha val="90000"/>
                    </a:srgbClr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：INSERT/UPDATE/DELETE → 自动写入 sync_log 表</a:t>
              </a:r>
              <a:endParaRPr lang="en-US" sz="16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1050" y="6485"/>
              <a:ext cx="233" cy="267"/>
            </a:xfrm>
            <a:custGeom>
              <a:avLst/>
              <a:gdLst/>
              <a:ahLst/>
              <a:cxnLst/>
              <a:rect l="l" t="t" r="r" b="b"/>
              <a:pathLst>
                <a:path w="148167" h="169333">
                  <a:moveTo>
                    <a:pt x="143801" y="23184"/>
                  </a:moveTo>
                  <a:cubicBezTo>
                    <a:pt x="148530" y="26624"/>
                    <a:pt x="149589" y="33238"/>
                    <a:pt x="146149" y="37968"/>
                  </a:cubicBezTo>
                  <a:lnTo>
                    <a:pt x="61483" y="154384"/>
                  </a:lnTo>
                  <a:cubicBezTo>
                    <a:pt x="59664" y="156898"/>
                    <a:pt x="56852" y="158452"/>
                    <a:pt x="53743" y="158717"/>
                  </a:cubicBezTo>
                  <a:cubicBezTo>
                    <a:pt x="50635" y="158982"/>
                    <a:pt x="47625" y="157824"/>
                    <a:pt x="45442" y="155641"/>
                  </a:cubicBezTo>
                  <a:lnTo>
                    <a:pt x="3109" y="113308"/>
                  </a:lnTo>
                  <a:cubicBezTo>
                    <a:pt x="-1025" y="109174"/>
                    <a:pt x="-1025" y="102460"/>
                    <a:pt x="3109" y="98326"/>
                  </a:cubicBezTo>
                  <a:cubicBezTo>
                    <a:pt x="7243" y="94192"/>
                    <a:pt x="13957" y="94192"/>
                    <a:pt x="18091" y="98326"/>
                  </a:cubicBezTo>
                  <a:lnTo>
                    <a:pt x="51660" y="131895"/>
                  </a:lnTo>
                  <a:lnTo>
                    <a:pt x="129051" y="25499"/>
                  </a:lnTo>
                  <a:cubicBezTo>
                    <a:pt x="132490" y="20770"/>
                    <a:pt x="139105" y="19711"/>
                    <a:pt x="143834" y="23151"/>
                  </a:cubicBezTo>
                  <a:close/>
                </a:path>
              </a:pathLst>
            </a:custGeom>
            <a:solidFill>
              <a:srgbClr val="4F9A94"/>
            </a:solidFill>
          </p:spPr>
        </p:sp>
        <p:sp>
          <p:nvSpPr>
            <p:cNvPr id="18" name="Text 16"/>
            <p:cNvSpPr/>
            <p:nvPr/>
          </p:nvSpPr>
          <p:spPr>
            <a:xfrm>
              <a:off x="1444" y="6433"/>
              <a:ext cx="11056" cy="4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35" b="1" dirty="0">
                  <a:solidFill>
                    <a:srgbClr val="4F9A94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元数据</a:t>
              </a:r>
              <a:r>
                <a:rPr lang="en-US" sz="1335" dirty="0">
                  <a:solidFill>
                    <a:srgbClr val="E5E7EB">
                      <a:alpha val="90000"/>
                    </a:srgbClr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：同时维护本地 v_clock 递增</a:t>
              </a:r>
              <a:endParaRPr lang="en-US" sz="1600" dirty="0"/>
            </a:p>
          </p:txBody>
        </p:sp>
      </p:grpSp>
      <p:sp>
        <p:nvSpPr>
          <p:cNvPr id="19" name="Shape 17"/>
          <p:cNvSpPr/>
          <p:nvPr/>
        </p:nvSpPr>
        <p:spPr>
          <a:xfrm>
            <a:off x="444500" y="4683125"/>
            <a:ext cx="7541895" cy="1702435"/>
          </a:xfrm>
          <a:custGeom>
            <a:avLst/>
            <a:gdLst/>
            <a:ahLst/>
            <a:cxnLst/>
            <a:rect l="l" t="t" r="r" b="b"/>
            <a:pathLst>
              <a:path w="7587074" h="1702741">
                <a:moveTo>
                  <a:pt x="84660" y="0"/>
                </a:moveTo>
                <a:lnTo>
                  <a:pt x="7502414" y="0"/>
                </a:lnTo>
                <a:cubicBezTo>
                  <a:pt x="7549170" y="0"/>
                  <a:pt x="7587074" y="37904"/>
                  <a:pt x="7587074" y="84660"/>
                </a:cubicBezTo>
                <a:lnTo>
                  <a:pt x="7587074" y="1618080"/>
                </a:lnTo>
                <a:cubicBezTo>
                  <a:pt x="7587074" y="1664837"/>
                  <a:pt x="7549170" y="1702741"/>
                  <a:pt x="7502414" y="1702741"/>
                </a:cubicBezTo>
                <a:lnTo>
                  <a:pt x="84660" y="1702741"/>
                </a:lnTo>
                <a:cubicBezTo>
                  <a:pt x="37904" y="1702741"/>
                  <a:pt x="0" y="1664837"/>
                  <a:pt x="0" y="1618080"/>
                </a:cubicBezTo>
                <a:lnTo>
                  <a:pt x="0" y="84660"/>
                </a:lnTo>
                <a:cubicBezTo>
                  <a:pt x="0" y="37935"/>
                  <a:pt x="37935" y="0"/>
                  <a:pt x="84660" y="0"/>
                </a:cubicBezTo>
                <a:close/>
              </a:path>
            </a:pathLst>
          </a:custGeom>
          <a:solidFill>
            <a:srgbClr val="4F9A94">
              <a:alpha val="20000"/>
            </a:srgbClr>
          </a:solidFill>
          <a:ln w="11289">
            <a:solidFill>
              <a:srgbClr val="4F9A94"/>
            </a:solidFill>
            <a:prstDash val="solid"/>
          </a:ln>
        </p:spPr>
      </p:sp>
      <p:grpSp>
        <p:nvGrpSpPr>
          <p:cNvPr id="47" name="组合 46"/>
          <p:cNvGrpSpPr/>
          <p:nvPr/>
        </p:nvGrpSpPr>
        <p:grpSpPr>
          <a:xfrm>
            <a:off x="444500" y="4856480"/>
            <a:ext cx="7324090" cy="1354455"/>
            <a:chOff x="981" y="7648"/>
            <a:chExt cx="11534" cy="2133"/>
          </a:xfrm>
        </p:grpSpPr>
        <p:sp>
          <p:nvSpPr>
            <p:cNvPr id="20" name="Shape 18"/>
            <p:cNvSpPr/>
            <p:nvPr/>
          </p:nvSpPr>
          <p:spPr>
            <a:xfrm>
              <a:off x="990" y="7715"/>
              <a:ext cx="333" cy="333"/>
            </a:xfrm>
            <a:custGeom>
              <a:avLst/>
              <a:gdLst/>
              <a:ahLst/>
              <a:cxnLst/>
              <a:rect l="l" t="t" r="r" b="b"/>
              <a:pathLst>
                <a:path w="211667" h="211667">
                  <a:moveTo>
                    <a:pt x="59655" y="0"/>
                  </a:moveTo>
                  <a:lnTo>
                    <a:pt x="152259" y="0"/>
                  </a:lnTo>
                  <a:cubicBezTo>
                    <a:pt x="163215" y="0"/>
                    <a:pt x="172145" y="9012"/>
                    <a:pt x="171731" y="19926"/>
                  </a:cubicBezTo>
                  <a:cubicBezTo>
                    <a:pt x="171648" y="22118"/>
                    <a:pt x="171566" y="24309"/>
                    <a:pt x="171442" y="26458"/>
                  </a:cubicBezTo>
                  <a:lnTo>
                    <a:pt x="191947" y="26458"/>
                  </a:lnTo>
                  <a:cubicBezTo>
                    <a:pt x="202737" y="26458"/>
                    <a:pt x="212245" y="35388"/>
                    <a:pt x="211419" y="47046"/>
                  </a:cubicBezTo>
                  <a:cubicBezTo>
                    <a:pt x="208318" y="89917"/>
                    <a:pt x="186407" y="113481"/>
                    <a:pt x="162636" y="125801"/>
                  </a:cubicBezTo>
                  <a:cubicBezTo>
                    <a:pt x="156104" y="129191"/>
                    <a:pt x="149448" y="131713"/>
                    <a:pt x="143123" y="133573"/>
                  </a:cubicBezTo>
                  <a:cubicBezTo>
                    <a:pt x="134772" y="145397"/>
                    <a:pt x="126090" y="151639"/>
                    <a:pt x="119187" y="154988"/>
                  </a:cubicBezTo>
                  <a:lnTo>
                    <a:pt x="119187" y="185208"/>
                  </a:lnTo>
                  <a:lnTo>
                    <a:pt x="145645" y="185208"/>
                  </a:lnTo>
                  <a:cubicBezTo>
                    <a:pt x="152962" y="185208"/>
                    <a:pt x="158874" y="191120"/>
                    <a:pt x="158874" y="198438"/>
                  </a:cubicBezTo>
                  <a:cubicBezTo>
                    <a:pt x="158874" y="205755"/>
                    <a:pt x="152962" y="211667"/>
                    <a:pt x="145645" y="211667"/>
                  </a:cubicBezTo>
                  <a:lnTo>
                    <a:pt x="66270" y="211667"/>
                  </a:lnTo>
                  <a:cubicBezTo>
                    <a:pt x="58952" y="211667"/>
                    <a:pt x="53041" y="205755"/>
                    <a:pt x="53041" y="198438"/>
                  </a:cubicBezTo>
                  <a:cubicBezTo>
                    <a:pt x="53041" y="191120"/>
                    <a:pt x="58952" y="185208"/>
                    <a:pt x="66270" y="185208"/>
                  </a:cubicBezTo>
                  <a:lnTo>
                    <a:pt x="92728" y="185208"/>
                  </a:lnTo>
                  <a:lnTo>
                    <a:pt x="92728" y="154988"/>
                  </a:lnTo>
                  <a:cubicBezTo>
                    <a:pt x="86114" y="151805"/>
                    <a:pt x="77887" y="145893"/>
                    <a:pt x="69867" y="135020"/>
                  </a:cubicBezTo>
                  <a:cubicBezTo>
                    <a:pt x="62260" y="133036"/>
                    <a:pt x="53992" y="130018"/>
                    <a:pt x="45930" y="125470"/>
                  </a:cubicBezTo>
                  <a:cubicBezTo>
                    <a:pt x="23564" y="112944"/>
                    <a:pt x="3390" y="89338"/>
                    <a:pt x="496" y="46964"/>
                  </a:cubicBezTo>
                  <a:cubicBezTo>
                    <a:pt x="-289" y="35347"/>
                    <a:pt x="9178" y="26417"/>
                    <a:pt x="19968" y="26417"/>
                  </a:cubicBezTo>
                  <a:lnTo>
                    <a:pt x="40473" y="26417"/>
                  </a:lnTo>
                  <a:cubicBezTo>
                    <a:pt x="40349" y="24267"/>
                    <a:pt x="40266" y="22118"/>
                    <a:pt x="40184" y="19885"/>
                  </a:cubicBezTo>
                  <a:cubicBezTo>
                    <a:pt x="39770" y="8930"/>
                    <a:pt x="48700" y="-41"/>
                    <a:pt x="59655" y="-41"/>
                  </a:cubicBezTo>
                  <a:close/>
                  <a:moveTo>
                    <a:pt x="41961" y="46302"/>
                  </a:moveTo>
                  <a:lnTo>
                    <a:pt x="20299" y="46302"/>
                  </a:lnTo>
                  <a:cubicBezTo>
                    <a:pt x="22862" y="81318"/>
                    <a:pt x="38943" y="98847"/>
                    <a:pt x="55521" y="108148"/>
                  </a:cubicBezTo>
                  <a:cubicBezTo>
                    <a:pt x="49568" y="92728"/>
                    <a:pt x="44648" y="72595"/>
                    <a:pt x="41961" y="46302"/>
                  </a:cubicBezTo>
                  <a:close/>
                  <a:moveTo>
                    <a:pt x="157096" y="106164"/>
                  </a:moveTo>
                  <a:cubicBezTo>
                    <a:pt x="173840" y="96325"/>
                    <a:pt x="188970" y="78838"/>
                    <a:pt x="191534" y="46302"/>
                  </a:cubicBezTo>
                  <a:lnTo>
                    <a:pt x="169912" y="46302"/>
                  </a:lnTo>
                  <a:cubicBezTo>
                    <a:pt x="167349" y="71479"/>
                    <a:pt x="162719" y="91033"/>
                    <a:pt x="157096" y="106164"/>
                  </a:cubicBezTo>
                  <a:close/>
                </a:path>
              </a:pathLst>
            </a:custGeom>
            <a:solidFill>
              <a:srgbClr val="4F9A94"/>
            </a:solidFill>
          </p:spPr>
        </p:sp>
        <p:sp>
          <p:nvSpPr>
            <p:cNvPr id="21" name="Text 19"/>
            <p:cNvSpPr/>
            <p:nvPr/>
          </p:nvSpPr>
          <p:spPr>
            <a:xfrm>
              <a:off x="1365" y="7648"/>
              <a:ext cx="11150" cy="46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665" b="1" dirty="0">
                  <a:solidFill>
                    <a:srgbClr val="4F9A94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核心优势</a:t>
              </a:r>
              <a:endParaRPr lang="en-US" sz="160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981" y="8367"/>
              <a:ext cx="267" cy="267"/>
            </a:xfrm>
            <a:custGeom>
              <a:avLst/>
              <a:gdLst/>
              <a:ahLst/>
              <a:cxnLst/>
              <a:rect l="l" t="t" r="r" b="b"/>
              <a:pathLst>
                <a:path w="169333" h="169333">
                  <a:moveTo>
                    <a:pt x="84667" y="0"/>
                  </a:moveTo>
                  <a:cubicBezTo>
                    <a:pt x="86188" y="0"/>
                    <a:pt x="87709" y="331"/>
                    <a:pt x="89098" y="959"/>
                  </a:cubicBezTo>
                  <a:lnTo>
                    <a:pt x="151408" y="27384"/>
                  </a:lnTo>
                  <a:cubicBezTo>
                    <a:pt x="158684" y="30460"/>
                    <a:pt x="164108" y="37637"/>
                    <a:pt x="164075" y="46302"/>
                  </a:cubicBezTo>
                  <a:cubicBezTo>
                    <a:pt x="163909" y="79110"/>
                    <a:pt x="150416" y="139138"/>
                    <a:pt x="93431" y="166423"/>
                  </a:cubicBezTo>
                  <a:cubicBezTo>
                    <a:pt x="87908" y="169069"/>
                    <a:pt x="81492" y="169069"/>
                    <a:pt x="75968" y="166423"/>
                  </a:cubicBezTo>
                  <a:cubicBezTo>
                    <a:pt x="18951" y="139138"/>
                    <a:pt x="5490" y="79110"/>
                    <a:pt x="5325" y="46302"/>
                  </a:cubicBezTo>
                  <a:cubicBezTo>
                    <a:pt x="5292" y="37637"/>
                    <a:pt x="10716" y="30460"/>
                    <a:pt x="17992" y="27384"/>
                  </a:cubicBezTo>
                  <a:lnTo>
                    <a:pt x="80268" y="959"/>
                  </a:lnTo>
                  <a:cubicBezTo>
                    <a:pt x="81657" y="331"/>
                    <a:pt x="83145" y="0"/>
                    <a:pt x="84667" y="0"/>
                  </a:cubicBezTo>
                  <a:close/>
                  <a:moveTo>
                    <a:pt x="84667" y="22093"/>
                  </a:moveTo>
                  <a:lnTo>
                    <a:pt x="84667" y="147141"/>
                  </a:lnTo>
                  <a:cubicBezTo>
                    <a:pt x="130307" y="125049"/>
                    <a:pt x="142577" y="76101"/>
                    <a:pt x="142875" y="46798"/>
                  </a:cubicBezTo>
                  <a:lnTo>
                    <a:pt x="84667" y="22126"/>
                  </a:lnTo>
                  <a:lnTo>
                    <a:pt x="84667" y="22126"/>
                  </a:lnTo>
                  <a:close/>
                </a:path>
              </a:pathLst>
            </a:custGeom>
            <a:solidFill>
              <a:srgbClr val="4F9A94"/>
            </a:solidFill>
          </p:spPr>
        </p:sp>
        <p:sp>
          <p:nvSpPr>
            <p:cNvPr id="23" name="Text 21"/>
            <p:cNvSpPr/>
            <p:nvPr/>
          </p:nvSpPr>
          <p:spPr>
            <a:xfrm>
              <a:off x="1393" y="8315"/>
              <a:ext cx="11089" cy="4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35" b="1" dirty="0">
                  <a:solidFill>
                    <a:srgbClr val="4F9A94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底层兜底</a:t>
              </a:r>
              <a:r>
                <a:rPr lang="en-US" sz="1335" dirty="0">
                  <a:solidFill>
                    <a:srgbClr val="E5E7EB">
                      <a:alpha val="90000"/>
                    </a:srgbClr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：不依赖应用层代码</a:t>
              </a:r>
              <a:endParaRPr lang="en-US" sz="160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998" y="8900"/>
              <a:ext cx="233" cy="267"/>
            </a:xfrm>
            <a:custGeom>
              <a:avLst/>
              <a:gdLst/>
              <a:ahLst/>
              <a:cxnLst/>
              <a:rect l="l" t="t" r="r" b="b"/>
              <a:pathLst>
                <a:path w="148167" h="169333">
                  <a:moveTo>
                    <a:pt x="148167" y="68064"/>
                  </a:moveTo>
                  <a:cubicBezTo>
                    <a:pt x="143272" y="71305"/>
                    <a:pt x="137649" y="73918"/>
                    <a:pt x="131796" y="76002"/>
                  </a:cubicBezTo>
                  <a:cubicBezTo>
                    <a:pt x="116251" y="81558"/>
                    <a:pt x="95845" y="84667"/>
                    <a:pt x="74083" y="84667"/>
                  </a:cubicBezTo>
                  <a:cubicBezTo>
                    <a:pt x="52321" y="84667"/>
                    <a:pt x="31882" y="81525"/>
                    <a:pt x="16371" y="76002"/>
                  </a:cubicBezTo>
                  <a:cubicBezTo>
                    <a:pt x="10550" y="73918"/>
                    <a:pt x="4895" y="71305"/>
                    <a:pt x="0" y="68064"/>
                  </a:cubicBezTo>
                  <a:lnTo>
                    <a:pt x="0" y="95250"/>
                  </a:lnTo>
                  <a:cubicBezTo>
                    <a:pt x="0" y="109868"/>
                    <a:pt x="33172" y="121708"/>
                    <a:pt x="74083" y="121708"/>
                  </a:cubicBezTo>
                  <a:cubicBezTo>
                    <a:pt x="114995" y="121708"/>
                    <a:pt x="148167" y="109868"/>
                    <a:pt x="148167" y="95250"/>
                  </a:cubicBezTo>
                  <a:lnTo>
                    <a:pt x="148167" y="68064"/>
                  </a:lnTo>
                  <a:close/>
                  <a:moveTo>
                    <a:pt x="148167" y="42333"/>
                  </a:moveTo>
                  <a:lnTo>
                    <a:pt x="148167" y="26458"/>
                  </a:lnTo>
                  <a:cubicBezTo>
                    <a:pt x="148167" y="11840"/>
                    <a:pt x="114995" y="0"/>
                    <a:pt x="74083" y="0"/>
                  </a:cubicBezTo>
                  <a:cubicBezTo>
                    <a:pt x="33172" y="0"/>
                    <a:pt x="0" y="11840"/>
                    <a:pt x="0" y="26458"/>
                  </a:cubicBezTo>
                  <a:lnTo>
                    <a:pt x="0" y="42333"/>
                  </a:lnTo>
                  <a:cubicBezTo>
                    <a:pt x="0" y="56952"/>
                    <a:pt x="33172" y="68792"/>
                    <a:pt x="74083" y="68792"/>
                  </a:cubicBezTo>
                  <a:cubicBezTo>
                    <a:pt x="114995" y="68792"/>
                    <a:pt x="148167" y="56952"/>
                    <a:pt x="148167" y="42333"/>
                  </a:cubicBezTo>
                  <a:close/>
                  <a:moveTo>
                    <a:pt x="131796" y="128918"/>
                  </a:moveTo>
                  <a:cubicBezTo>
                    <a:pt x="116284" y="134441"/>
                    <a:pt x="95878" y="137583"/>
                    <a:pt x="74083" y="137583"/>
                  </a:cubicBezTo>
                  <a:cubicBezTo>
                    <a:pt x="52288" y="137583"/>
                    <a:pt x="31882" y="134441"/>
                    <a:pt x="16371" y="128918"/>
                  </a:cubicBezTo>
                  <a:cubicBezTo>
                    <a:pt x="10550" y="126835"/>
                    <a:pt x="4895" y="124222"/>
                    <a:pt x="0" y="120981"/>
                  </a:cubicBezTo>
                  <a:lnTo>
                    <a:pt x="0" y="142875"/>
                  </a:lnTo>
                  <a:cubicBezTo>
                    <a:pt x="0" y="157493"/>
                    <a:pt x="33172" y="169333"/>
                    <a:pt x="74083" y="169333"/>
                  </a:cubicBezTo>
                  <a:cubicBezTo>
                    <a:pt x="114995" y="169333"/>
                    <a:pt x="148167" y="157493"/>
                    <a:pt x="148167" y="142875"/>
                  </a:cubicBezTo>
                  <a:lnTo>
                    <a:pt x="148167" y="120981"/>
                  </a:lnTo>
                  <a:cubicBezTo>
                    <a:pt x="143272" y="124222"/>
                    <a:pt x="137649" y="126835"/>
                    <a:pt x="131796" y="128918"/>
                  </a:cubicBezTo>
                  <a:close/>
                </a:path>
              </a:pathLst>
            </a:custGeom>
            <a:solidFill>
              <a:srgbClr val="4F9A94"/>
            </a:solidFill>
          </p:spPr>
        </p:sp>
        <p:sp>
          <p:nvSpPr>
            <p:cNvPr id="25" name="Text 23"/>
            <p:cNvSpPr/>
            <p:nvPr/>
          </p:nvSpPr>
          <p:spPr>
            <a:xfrm>
              <a:off x="1393" y="8848"/>
              <a:ext cx="11089" cy="4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35" b="1" dirty="0">
                  <a:solidFill>
                    <a:srgbClr val="4F9A94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数据零丢失</a:t>
              </a:r>
              <a:r>
                <a:rPr lang="en-US" sz="1335" dirty="0">
                  <a:solidFill>
                    <a:srgbClr val="E5E7EB">
                      <a:alpha val="90000"/>
                    </a:srgbClr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：捕获所有变更操作</a:t>
              </a:r>
              <a:endParaRPr lang="en-US" sz="160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981" y="9433"/>
              <a:ext cx="267" cy="267"/>
            </a:xfrm>
            <a:custGeom>
              <a:avLst/>
              <a:gdLst/>
              <a:ahLst/>
              <a:cxnLst/>
              <a:rect l="l" t="t" r="r" b="b"/>
              <a:pathLst>
                <a:path w="169333" h="169333">
                  <a:moveTo>
                    <a:pt x="21795" y="75572"/>
                  </a:moveTo>
                  <a:cubicBezTo>
                    <a:pt x="26194" y="44814"/>
                    <a:pt x="52685" y="21167"/>
                    <a:pt x="84667" y="21167"/>
                  </a:cubicBezTo>
                  <a:cubicBezTo>
                    <a:pt x="102195" y="21167"/>
                    <a:pt x="118070" y="28277"/>
                    <a:pt x="129580" y="39754"/>
                  </a:cubicBezTo>
                  <a:cubicBezTo>
                    <a:pt x="129646" y="39820"/>
                    <a:pt x="129712" y="39886"/>
                    <a:pt x="129778" y="39952"/>
                  </a:cubicBezTo>
                  <a:lnTo>
                    <a:pt x="132292" y="42333"/>
                  </a:lnTo>
                  <a:lnTo>
                    <a:pt x="116450" y="42333"/>
                  </a:lnTo>
                  <a:cubicBezTo>
                    <a:pt x="110596" y="42333"/>
                    <a:pt x="105866" y="47063"/>
                    <a:pt x="105866" y="52917"/>
                  </a:cubicBezTo>
                  <a:cubicBezTo>
                    <a:pt x="105866" y="58771"/>
                    <a:pt x="110596" y="63500"/>
                    <a:pt x="116450" y="63500"/>
                  </a:cubicBezTo>
                  <a:lnTo>
                    <a:pt x="158783" y="63500"/>
                  </a:lnTo>
                  <a:cubicBezTo>
                    <a:pt x="164637" y="63500"/>
                    <a:pt x="169366" y="58771"/>
                    <a:pt x="169366" y="52917"/>
                  </a:cubicBezTo>
                  <a:lnTo>
                    <a:pt x="169366" y="10583"/>
                  </a:lnTo>
                  <a:cubicBezTo>
                    <a:pt x="169366" y="4729"/>
                    <a:pt x="164637" y="0"/>
                    <a:pt x="158783" y="0"/>
                  </a:cubicBezTo>
                  <a:cubicBezTo>
                    <a:pt x="152929" y="0"/>
                    <a:pt x="148200" y="4729"/>
                    <a:pt x="148200" y="10583"/>
                  </a:cubicBezTo>
                  <a:lnTo>
                    <a:pt x="148200" y="28244"/>
                  </a:lnTo>
                  <a:lnTo>
                    <a:pt x="144463" y="24705"/>
                  </a:lnTo>
                  <a:cubicBezTo>
                    <a:pt x="129150" y="9459"/>
                    <a:pt x="107983" y="0"/>
                    <a:pt x="84667" y="0"/>
                  </a:cubicBezTo>
                  <a:cubicBezTo>
                    <a:pt x="42003" y="0"/>
                    <a:pt x="6714" y="31552"/>
                    <a:pt x="860" y="72595"/>
                  </a:cubicBezTo>
                  <a:cubicBezTo>
                    <a:pt x="33" y="78383"/>
                    <a:pt x="4035" y="83741"/>
                    <a:pt x="9823" y="84567"/>
                  </a:cubicBezTo>
                  <a:cubicBezTo>
                    <a:pt x="15610" y="85394"/>
                    <a:pt x="20968" y="81359"/>
                    <a:pt x="21795" y="75605"/>
                  </a:cubicBezTo>
                  <a:close/>
                  <a:moveTo>
                    <a:pt x="168473" y="96738"/>
                  </a:moveTo>
                  <a:cubicBezTo>
                    <a:pt x="169300" y="90951"/>
                    <a:pt x="165265" y="85593"/>
                    <a:pt x="159511" y="84766"/>
                  </a:cubicBezTo>
                  <a:cubicBezTo>
                    <a:pt x="153756" y="83939"/>
                    <a:pt x="148365" y="87974"/>
                    <a:pt x="147538" y="93729"/>
                  </a:cubicBezTo>
                  <a:cubicBezTo>
                    <a:pt x="143140" y="124486"/>
                    <a:pt x="116648" y="148134"/>
                    <a:pt x="84667" y="148134"/>
                  </a:cubicBezTo>
                  <a:cubicBezTo>
                    <a:pt x="67138" y="148134"/>
                    <a:pt x="51263" y="141023"/>
                    <a:pt x="39754" y="129547"/>
                  </a:cubicBezTo>
                  <a:cubicBezTo>
                    <a:pt x="39687" y="129480"/>
                    <a:pt x="39621" y="129414"/>
                    <a:pt x="39555" y="129348"/>
                  </a:cubicBezTo>
                  <a:lnTo>
                    <a:pt x="37042" y="126967"/>
                  </a:lnTo>
                  <a:lnTo>
                    <a:pt x="52884" y="126967"/>
                  </a:lnTo>
                  <a:cubicBezTo>
                    <a:pt x="58737" y="126967"/>
                    <a:pt x="63467" y="122238"/>
                    <a:pt x="63467" y="116384"/>
                  </a:cubicBezTo>
                  <a:cubicBezTo>
                    <a:pt x="63467" y="110530"/>
                    <a:pt x="58737" y="105800"/>
                    <a:pt x="52884" y="105800"/>
                  </a:cubicBezTo>
                  <a:lnTo>
                    <a:pt x="10583" y="105833"/>
                  </a:lnTo>
                  <a:cubicBezTo>
                    <a:pt x="7772" y="105833"/>
                    <a:pt x="5060" y="106958"/>
                    <a:pt x="3076" y="108975"/>
                  </a:cubicBezTo>
                  <a:cubicBezTo>
                    <a:pt x="1091" y="110993"/>
                    <a:pt x="-33" y="113672"/>
                    <a:pt x="0" y="116516"/>
                  </a:cubicBezTo>
                  <a:lnTo>
                    <a:pt x="331" y="158518"/>
                  </a:lnTo>
                  <a:cubicBezTo>
                    <a:pt x="364" y="164372"/>
                    <a:pt x="5159" y="169069"/>
                    <a:pt x="11013" y="169003"/>
                  </a:cubicBezTo>
                  <a:cubicBezTo>
                    <a:pt x="16867" y="168936"/>
                    <a:pt x="21564" y="164174"/>
                    <a:pt x="21497" y="158320"/>
                  </a:cubicBezTo>
                  <a:lnTo>
                    <a:pt x="21365" y="141288"/>
                  </a:lnTo>
                  <a:lnTo>
                    <a:pt x="24904" y="144628"/>
                  </a:lnTo>
                  <a:cubicBezTo>
                    <a:pt x="40217" y="159874"/>
                    <a:pt x="61350" y="169333"/>
                    <a:pt x="84667" y="169333"/>
                  </a:cubicBezTo>
                  <a:cubicBezTo>
                    <a:pt x="127331" y="169333"/>
                    <a:pt x="162620" y="137782"/>
                    <a:pt x="168473" y="96738"/>
                  </a:cubicBezTo>
                  <a:close/>
                </a:path>
              </a:pathLst>
            </a:custGeom>
            <a:solidFill>
              <a:srgbClr val="4F9A94"/>
            </a:solidFill>
          </p:spPr>
        </p:sp>
        <p:sp>
          <p:nvSpPr>
            <p:cNvPr id="27" name="Text 25"/>
            <p:cNvSpPr/>
            <p:nvPr/>
          </p:nvSpPr>
          <p:spPr>
            <a:xfrm>
              <a:off x="1393" y="9381"/>
              <a:ext cx="11089" cy="4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35" b="1" dirty="0">
                  <a:solidFill>
                    <a:srgbClr val="4F9A94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实时同步</a:t>
              </a:r>
              <a:r>
                <a:rPr lang="en-US" sz="1335" dirty="0">
                  <a:solidFill>
                    <a:srgbClr val="E5E7EB">
                      <a:alpha val="90000"/>
                    </a:srgbClr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：变更立即记录到日志表</a:t>
              </a:r>
              <a:endParaRPr lang="en-US" sz="1600" dirty="0"/>
            </a:p>
          </p:txBody>
        </p:sp>
      </p:grpSp>
      <p:sp>
        <p:nvSpPr>
          <p:cNvPr id="28" name="Shape 26"/>
          <p:cNvSpPr/>
          <p:nvPr/>
        </p:nvSpPr>
        <p:spPr>
          <a:xfrm>
            <a:off x="8304212" y="1566333"/>
            <a:ext cx="238125" cy="211667"/>
          </a:xfrm>
          <a:custGeom>
            <a:avLst/>
            <a:gdLst/>
            <a:ahLst/>
            <a:cxnLst/>
            <a:rect l="l" t="t" r="r" b="b"/>
            <a:pathLst>
              <a:path w="238125" h="211667">
                <a:moveTo>
                  <a:pt x="149159" y="496"/>
                </a:moveTo>
                <a:cubicBezTo>
                  <a:pt x="142131" y="-1530"/>
                  <a:pt x="134813" y="2563"/>
                  <a:pt x="132788" y="9591"/>
                </a:cubicBezTo>
                <a:lnTo>
                  <a:pt x="79871" y="194799"/>
                </a:lnTo>
                <a:cubicBezTo>
                  <a:pt x="77845" y="201827"/>
                  <a:pt x="81938" y="209145"/>
                  <a:pt x="88966" y="211171"/>
                </a:cubicBezTo>
                <a:cubicBezTo>
                  <a:pt x="95994" y="213196"/>
                  <a:pt x="103312" y="209104"/>
                  <a:pt x="105337" y="202076"/>
                </a:cubicBezTo>
                <a:lnTo>
                  <a:pt x="158254" y="16867"/>
                </a:lnTo>
                <a:cubicBezTo>
                  <a:pt x="160280" y="9839"/>
                  <a:pt x="156187" y="2522"/>
                  <a:pt x="149159" y="496"/>
                </a:cubicBezTo>
                <a:close/>
                <a:moveTo>
                  <a:pt x="175865" y="56761"/>
                </a:moveTo>
                <a:cubicBezTo>
                  <a:pt x="170698" y="61929"/>
                  <a:pt x="170698" y="70321"/>
                  <a:pt x="175865" y="75489"/>
                </a:cubicBezTo>
                <a:lnTo>
                  <a:pt x="206210" y="105833"/>
                </a:lnTo>
                <a:lnTo>
                  <a:pt x="175865" y="136178"/>
                </a:lnTo>
                <a:cubicBezTo>
                  <a:pt x="170698" y="141345"/>
                  <a:pt x="170698" y="149738"/>
                  <a:pt x="175865" y="154905"/>
                </a:cubicBezTo>
                <a:cubicBezTo>
                  <a:pt x="181033" y="160073"/>
                  <a:pt x="189425" y="160073"/>
                  <a:pt x="194593" y="154905"/>
                </a:cubicBezTo>
                <a:lnTo>
                  <a:pt x="234280" y="115218"/>
                </a:lnTo>
                <a:cubicBezTo>
                  <a:pt x="239448" y="110050"/>
                  <a:pt x="239448" y="101658"/>
                  <a:pt x="234280" y="96490"/>
                </a:cubicBezTo>
                <a:lnTo>
                  <a:pt x="194593" y="56803"/>
                </a:lnTo>
                <a:cubicBezTo>
                  <a:pt x="189425" y="51635"/>
                  <a:pt x="181033" y="51635"/>
                  <a:pt x="175865" y="56803"/>
                </a:cubicBezTo>
                <a:close/>
                <a:moveTo>
                  <a:pt x="62301" y="56761"/>
                </a:moveTo>
                <a:cubicBezTo>
                  <a:pt x="57133" y="51594"/>
                  <a:pt x="48741" y="51594"/>
                  <a:pt x="43574" y="56761"/>
                </a:cubicBezTo>
                <a:lnTo>
                  <a:pt x="3886" y="96449"/>
                </a:lnTo>
                <a:cubicBezTo>
                  <a:pt x="-1282" y="101617"/>
                  <a:pt x="-1282" y="110009"/>
                  <a:pt x="3886" y="115176"/>
                </a:cubicBezTo>
                <a:lnTo>
                  <a:pt x="43574" y="154864"/>
                </a:lnTo>
                <a:cubicBezTo>
                  <a:pt x="48741" y="160032"/>
                  <a:pt x="57133" y="160032"/>
                  <a:pt x="62301" y="154864"/>
                </a:cubicBezTo>
                <a:cubicBezTo>
                  <a:pt x="67469" y="149696"/>
                  <a:pt x="67469" y="141304"/>
                  <a:pt x="62301" y="136136"/>
                </a:cubicBezTo>
                <a:lnTo>
                  <a:pt x="31957" y="105833"/>
                </a:lnTo>
                <a:lnTo>
                  <a:pt x="62260" y="75489"/>
                </a:lnTo>
                <a:cubicBezTo>
                  <a:pt x="67427" y="70321"/>
                  <a:pt x="67427" y="61929"/>
                  <a:pt x="62260" y="56761"/>
                </a:cubicBezTo>
                <a:close/>
              </a:path>
            </a:pathLst>
          </a:custGeom>
          <a:solidFill>
            <a:srgbClr val="4F9A94"/>
          </a:solidFill>
        </p:spPr>
      </p:sp>
      <p:sp>
        <p:nvSpPr>
          <p:cNvPr id="29" name="Text 27"/>
          <p:cNvSpPr/>
          <p:nvPr/>
        </p:nvSpPr>
        <p:spPr>
          <a:xfrm>
            <a:off x="8680662" y="1566545"/>
            <a:ext cx="7440083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5" b="1" dirty="0">
                <a:solidFill>
                  <a:srgbClr val="4F9A9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触发器实现示例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187690" y="1989455"/>
            <a:ext cx="3809365" cy="3130550"/>
          </a:xfrm>
          <a:custGeom>
            <a:avLst/>
            <a:gdLst/>
            <a:ahLst/>
            <a:cxnLst/>
            <a:rect l="l" t="t" r="r" b="b"/>
            <a:pathLst>
              <a:path w="7587074" h="3755907">
                <a:moveTo>
                  <a:pt x="84658" y="0"/>
                </a:moveTo>
                <a:lnTo>
                  <a:pt x="7502416" y="0"/>
                </a:lnTo>
                <a:cubicBezTo>
                  <a:pt x="7549171" y="0"/>
                  <a:pt x="7587074" y="37903"/>
                  <a:pt x="7587074" y="84658"/>
                </a:cubicBezTo>
                <a:lnTo>
                  <a:pt x="7587074" y="3671249"/>
                </a:lnTo>
                <a:cubicBezTo>
                  <a:pt x="7587074" y="3718005"/>
                  <a:pt x="7549171" y="3755907"/>
                  <a:pt x="7502416" y="3755907"/>
                </a:cubicBezTo>
                <a:lnTo>
                  <a:pt x="84658" y="3755907"/>
                </a:lnTo>
                <a:cubicBezTo>
                  <a:pt x="37903" y="3755907"/>
                  <a:pt x="0" y="3718005"/>
                  <a:pt x="0" y="3671249"/>
                </a:cubicBezTo>
                <a:lnTo>
                  <a:pt x="0" y="84658"/>
                </a:lnTo>
                <a:cubicBezTo>
                  <a:pt x="0" y="37934"/>
                  <a:pt x="37934" y="0"/>
                  <a:pt x="84658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 w="11289">
            <a:solidFill>
              <a:srgbClr val="3D4A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12574" y="2070615"/>
            <a:ext cx="7313083" cy="211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5" dirty="0">
                <a:solidFill>
                  <a:srgbClr val="4F9A9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MariaDB Trigger Example: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484870" y="2560955"/>
            <a:ext cx="3006725" cy="20834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sz="1165" dirty="0">
              <a:solidFill>
                <a:srgbClr val="E5E7EB">
                  <a:alpha val="90000"/>
                </a:srgbClr>
              </a:solidFill>
              <a:latin typeface="MiSans" panose="00000500000000000000" pitchFamily="34" charset="-122"/>
              <a:ea typeface="MiSans" panose="00000500000000000000" pitchFamily="34" charset="-122"/>
              <a:cs typeface="MiSans" panose="00000500000000000000" pitchFamily="34" charset="-120"/>
            </a:endParaRPr>
          </a:p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E5E7EB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CREATE TRIGGER trg_items_insert </a:t>
            </a:r>
            <a:endParaRPr lang="en-US" sz="1165" dirty="0">
              <a:solidFill>
                <a:srgbClr val="E5E7EB">
                  <a:alpha val="90000"/>
                </a:srgbClr>
              </a:solidFill>
              <a:latin typeface="MiSans" panose="00000500000000000000" pitchFamily="34" charset="-122"/>
              <a:ea typeface="MiSans" panose="00000500000000000000" pitchFamily="34" charset="-122"/>
              <a:cs typeface="MiSans" panose="00000500000000000000" pitchFamily="34" charset="-120"/>
            </a:endParaRPr>
          </a:p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E5E7EB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AFTER INSERT ON items </a:t>
            </a:r>
            <a:endParaRPr lang="en-US" sz="1165" dirty="0">
              <a:solidFill>
                <a:srgbClr val="E5E7EB">
                  <a:alpha val="90000"/>
                </a:srgbClr>
              </a:solidFill>
              <a:latin typeface="MiSans" panose="00000500000000000000" pitchFamily="34" charset="-122"/>
              <a:ea typeface="MiSans" panose="00000500000000000000" pitchFamily="34" charset="-122"/>
              <a:cs typeface="MiSans" panose="00000500000000000000" pitchFamily="34" charset="-120"/>
            </a:endParaRPr>
          </a:p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E5E7EB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FOR EACH ROW </a:t>
            </a:r>
            <a:endParaRPr lang="en-US" sz="1165" dirty="0">
              <a:solidFill>
                <a:srgbClr val="E5E7EB">
                  <a:alpha val="90000"/>
                </a:srgbClr>
              </a:solidFill>
              <a:latin typeface="MiSans" panose="00000500000000000000" pitchFamily="34" charset="-122"/>
              <a:ea typeface="MiSans" panose="00000500000000000000" pitchFamily="34" charset="-122"/>
              <a:cs typeface="MiSans" panose="00000500000000000000" pitchFamily="34" charset="-120"/>
            </a:endParaRPr>
          </a:p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E5E7EB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BEGIN INSERT INTO sync_log (table_name, operation, row_id, old_data, new_data, v_clock) VALUES ('items', 'INSERT', NEW.id, NULL, JSON_OBJECT(...), v_clock + 1);</a:t>
            </a:r>
            <a:endParaRPr lang="en-US" sz="1165" dirty="0">
              <a:solidFill>
                <a:srgbClr val="E5E7EB">
                  <a:alpha val="90000"/>
                </a:srgbClr>
              </a:solidFill>
              <a:latin typeface="MiSans" panose="00000500000000000000" pitchFamily="34" charset="-122"/>
              <a:ea typeface="MiSans" panose="00000500000000000000" pitchFamily="34" charset="-122"/>
              <a:cs typeface="MiSans" panose="00000500000000000000" pitchFamily="34" charset="-120"/>
            </a:endParaRPr>
          </a:p>
          <a:p>
            <a:pPr>
              <a:lnSpc>
                <a:spcPct val="130000"/>
              </a:lnSpc>
            </a:pPr>
            <a:endParaRPr lang="en-US" sz="1600" dirty="0"/>
          </a:p>
        </p:txBody>
      </p:sp>
      <p:grpSp>
        <p:nvGrpSpPr>
          <p:cNvPr id="46" name="组合 45"/>
          <p:cNvGrpSpPr/>
          <p:nvPr/>
        </p:nvGrpSpPr>
        <p:grpSpPr>
          <a:xfrm>
            <a:off x="444500" y="6704965"/>
            <a:ext cx="7555230" cy="2298065"/>
            <a:chOff x="700" y="9919"/>
            <a:chExt cx="11948" cy="4480"/>
          </a:xfrm>
        </p:grpSpPr>
        <p:sp>
          <p:nvSpPr>
            <p:cNvPr id="33" name="Shape 31"/>
            <p:cNvSpPr/>
            <p:nvPr/>
          </p:nvSpPr>
          <p:spPr>
            <a:xfrm>
              <a:off x="700" y="9919"/>
              <a:ext cx="11948" cy="4481"/>
            </a:xfrm>
            <a:custGeom>
              <a:avLst/>
              <a:gdLst/>
              <a:ahLst/>
              <a:cxnLst/>
              <a:rect l="l" t="t" r="r" b="b"/>
              <a:pathLst>
                <a:path w="7587074" h="2845741">
                  <a:moveTo>
                    <a:pt x="84661" y="0"/>
                  </a:moveTo>
                  <a:lnTo>
                    <a:pt x="7502413" y="0"/>
                  </a:lnTo>
                  <a:cubicBezTo>
                    <a:pt x="7549170" y="0"/>
                    <a:pt x="7587074" y="37904"/>
                    <a:pt x="7587074" y="84661"/>
                  </a:cubicBezTo>
                  <a:lnTo>
                    <a:pt x="7587074" y="2761080"/>
                  </a:lnTo>
                  <a:cubicBezTo>
                    <a:pt x="7587074" y="2807837"/>
                    <a:pt x="7549170" y="2845741"/>
                    <a:pt x="7502413" y="2845741"/>
                  </a:cubicBezTo>
                  <a:lnTo>
                    <a:pt x="84661" y="2845741"/>
                  </a:lnTo>
                  <a:cubicBezTo>
                    <a:pt x="37904" y="2845741"/>
                    <a:pt x="0" y="2807837"/>
                    <a:pt x="0" y="2761080"/>
                  </a:cubicBezTo>
                  <a:lnTo>
                    <a:pt x="0" y="84661"/>
                  </a:lnTo>
                  <a:cubicBezTo>
                    <a:pt x="0" y="37904"/>
                    <a:pt x="37904" y="0"/>
                    <a:pt x="84661" y="0"/>
                  </a:cubicBezTo>
                  <a:close/>
                </a:path>
              </a:pathLst>
            </a:custGeom>
            <a:solidFill>
              <a:srgbClr val="3D4A5C">
                <a:alpha val="30196"/>
              </a:srgbClr>
            </a:solidFill>
            <a:ln w="11289">
              <a:solidFill>
                <a:srgbClr val="3D4A5C"/>
              </a:solidFill>
              <a:prstDash val="solid"/>
            </a:ln>
          </p:spPr>
        </p:sp>
        <p:sp>
          <p:nvSpPr>
            <p:cNvPr id="34" name="Text 32"/>
            <p:cNvSpPr/>
            <p:nvPr/>
          </p:nvSpPr>
          <p:spPr>
            <a:xfrm>
              <a:off x="974" y="10193"/>
              <a:ext cx="11550" cy="46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500" b="1" dirty="0">
                  <a:solidFill>
                    <a:srgbClr val="E5E7EB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数据流向示意</a:t>
              </a:r>
              <a:endParaRPr lang="en-US" sz="1600" dirty="0"/>
            </a:p>
          </p:txBody>
        </p:sp>
        <p:sp>
          <p:nvSpPr>
            <p:cNvPr id="35" name="Shape 33"/>
            <p:cNvSpPr/>
            <p:nvPr/>
          </p:nvSpPr>
          <p:spPr>
            <a:xfrm>
              <a:off x="974" y="10860"/>
              <a:ext cx="3533" cy="667"/>
            </a:xfrm>
            <a:custGeom>
              <a:avLst/>
              <a:gdLst/>
              <a:ahLst/>
              <a:cxnLst/>
              <a:rect l="l" t="t" r="r" b="b"/>
              <a:pathLst>
                <a:path w="2243667" h="423333">
                  <a:moveTo>
                    <a:pt x="84667" y="0"/>
                  </a:moveTo>
                  <a:lnTo>
                    <a:pt x="2159000" y="0"/>
                  </a:lnTo>
                  <a:cubicBezTo>
                    <a:pt x="2205760" y="0"/>
                    <a:pt x="2243667" y="37907"/>
                    <a:pt x="2243667" y="84667"/>
                  </a:cubicBezTo>
                  <a:lnTo>
                    <a:pt x="2243667" y="338667"/>
                  </a:lnTo>
                  <a:cubicBezTo>
                    <a:pt x="2243667" y="385427"/>
                    <a:pt x="2205760" y="423333"/>
                    <a:pt x="2159000" y="423333"/>
                  </a:cubicBezTo>
                  <a:lnTo>
                    <a:pt x="84667" y="423333"/>
                  </a:lnTo>
                  <a:cubicBezTo>
                    <a:pt x="37907" y="423333"/>
                    <a:pt x="0" y="385427"/>
                    <a:pt x="0" y="338667"/>
                  </a:cubicBezTo>
                  <a:lnTo>
                    <a:pt x="0" y="84667"/>
                  </a:lnTo>
                  <a:cubicBezTo>
                    <a:pt x="0" y="37907"/>
                    <a:pt x="37907" y="0"/>
                    <a:pt x="84667" y="0"/>
                  </a:cubicBezTo>
                  <a:close/>
                </a:path>
              </a:pathLst>
            </a:custGeom>
            <a:solidFill>
              <a:srgbClr val="4F9A94"/>
            </a:solidFill>
          </p:spPr>
        </p:sp>
        <p:sp>
          <p:nvSpPr>
            <p:cNvPr id="36" name="Text 34"/>
            <p:cNvSpPr/>
            <p:nvPr/>
          </p:nvSpPr>
          <p:spPr>
            <a:xfrm>
              <a:off x="974" y="10860"/>
              <a:ext cx="3667" cy="667"/>
            </a:xfrm>
            <a:prstGeom prst="rect">
              <a:avLst/>
            </a:prstGeom>
            <a:noFill/>
          </p:spPr>
          <p:txBody>
            <a:bodyPr wrap="square" lIns="127000" tIns="84667" rIns="127000" bIns="84667" rtlCol="0" anchor="ctr"/>
            <a:lstStyle/>
            <a:p>
              <a:pPr>
                <a:lnSpc>
                  <a:spcPct val="130000"/>
                </a:lnSpc>
              </a:pPr>
              <a:r>
                <a:rPr lang="en-US" sz="1335" b="1" dirty="0">
                  <a:solidFill>
                    <a:srgbClr val="1A1D21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INSERT/UPDATE/DELETE</a:t>
              </a:r>
              <a:endParaRPr lang="en-US" sz="1600" dirty="0"/>
            </a:p>
          </p:txBody>
        </p:sp>
        <p:sp>
          <p:nvSpPr>
            <p:cNvPr id="37" name="Shape 35"/>
            <p:cNvSpPr/>
            <p:nvPr/>
          </p:nvSpPr>
          <p:spPr>
            <a:xfrm>
              <a:off x="4750" y="11026"/>
              <a:ext cx="333" cy="333"/>
            </a:xfrm>
            <a:custGeom>
              <a:avLst/>
              <a:gdLst/>
              <a:ahLst/>
              <a:cxnLst/>
              <a:rect l="l" t="t" r="r" b="b"/>
              <a:pathLst>
                <a:path w="211667" h="211667">
                  <a:moveTo>
                    <a:pt x="207781" y="115176"/>
                  </a:moveTo>
                  <a:cubicBezTo>
                    <a:pt x="212948" y="110009"/>
                    <a:pt x="212948" y="101617"/>
                    <a:pt x="207781" y="96449"/>
                  </a:cubicBezTo>
                  <a:lnTo>
                    <a:pt x="141635" y="30303"/>
                  </a:lnTo>
                  <a:cubicBezTo>
                    <a:pt x="136467" y="25135"/>
                    <a:pt x="128075" y="25135"/>
                    <a:pt x="122907" y="30303"/>
                  </a:cubicBezTo>
                  <a:cubicBezTo>
                    <a:pt x="117740" y="35471"/>
                    <a:pt x="117740" y="43863"/>
                    <a:pt x="122907" y="49031"/>
                  </a:cubicBezTo>
                  <a:lnTo>
                    <a:pt x="166481" y="92604"/>
                  </a:lnTo>
                  <a:lnTo>
                    <a:pt x="13229" y="92604"/>
                  </a:lnTo>
                  <a:cubicBezTo>
                    <a:pt x="5912" y="92604"/>
                    <a:pt x="0" y="98516"/>
                    <a:pt x="0" y="105833"/>
                  </a:cubicBezTo>
                  <a:cubicBezTo>
                    <a:pt x="0" y="113151"/>
                    <a:pt x="5912" y="119063"/>
                    <a:pt x="13229" y="119063"/>
                  </a:cubicBezTo>
                  <a:lnTo>
                    <a:pt x="166481" y="119063"/>
                  </a:lnTo>
                  <a:lnTo>
                    <a:pt x="122907" y="162636"/>
                  </a:lnTo>
                  <a:cubicBezTo>
                    <a:pt x="117740" y="167804"/>
                    <a:pt x="117740" y="176196"/>
                    <a:pt x="122907" y="181364"/>
                  </a:cubicBezTo>
                  <a:cubicBezTo>
                    <a:pt x="128075" y="186531"/>
                    <a:pt x="136467" y="186531"/>
                    <a:pt x="141635" y="181364"/>
                  </a:cubicBezTo>
                  <a:lnTo>
                    <a:pt x="207781" y="115218"/>
                  </a:lnTo>
                  <a:close/>
                </a:path>
              </a:pathLst>
            </a:custGeom>
            <a:solidFill>
              <a:srgbClr val="4F9A94"/>
            </a:solidFill>
          </p:spPr>
        </p:sp>
        <p:sp>
          <p:nvSpPr>
            <p:cNvPr id="38" name="Shape 36"/>
            <p:cNvSpPr/>
            <p:nvPr/>
          </p:nvSpPr>
          <p:spPr>
            <a:xfrm>
              <a:off x="974" y="11726"/>
              <a:ext cx="2600" cy="667"/>
            </a:xfrm>
            <a:custGeom>
              <a:avLst/>
              <a:gdLst/>
              <a:ahLst/>
              <a:cxnLst/>
              <a:rect l="l" t="t" r="r" b="b"/>
              <a:pathLst>
                <a:path w="1651000" h="423333">
                  <a:moveTo>
                    <a:pt x="84667" y="0"/>
                  </a:moveTo>
                  <a:lnTo>
                    <a:pt x="1566333" y="0"/>
                  </a:lnTo>
                  <a:cubicBezTo>
                    <a:pt x="1613093" y="0"/>
                    <a:pt x="1651000" y="37907"/>
                    <a:pt x="1651000" y="84667"/>
                  </a:cubicBezTo>
                  <a:lnTo>
                    <a:pt x="1651000" y="338667"/>
                  </a:lnTo>
                  <a:cubicBezTo>
                    <a:pt x="1651000" y="385427"/>
                    <a:pt x="1613093" y="423333"/>
                    <a:pt x="1566333" y="423333"/>
                  </a:cubicBezTo>
                  <a:lnTo>
                    <a:pt x="84667" y="423333"/>
                  </a:lnTo>
                  <a:cubicBezTo>
                    <a:pt x="37907" y="423333"/>
                    <a:pt x="0" y="385427"/>
                    <a:pt x="0" y="338667"/>
                  </a:cubicBezTo>
                  <a:lnTo>
                    <a:pt x="0" y="84667"/>
                  </a:lnTo>
                  <a:cubicBezTo>
                    <a:pt x="0" y="37907"/>
                    <a:pt x="37907" y="0"/>
                    <a:pt x="84667" y="0"/>
                  </a:cubicBezTo>
                  <a:close/>
                </a:path>
              </a:pathLst>
            </a:custGeom>
            <a:solidFill>
              <a:srgbClr val="3D4A5C"/>
            </a:solidFill>
          </p:spPr>
        </p:sp>
        <p:sp>
          <p:nvSpPr>
            <p:cNvPr id="39" name="Text 37"/>
            <p:cNvSpPr/>
            <p:nvPr/>
          </p:nvSpPr>
          <p:spPr>
            <a:xfrm>
              <a:off x="974" y="11726"/>
              <a:ext cx="2733" cy="667"/>
            </a:xfrm>
            <a:prstGeom prst="rect">
              <a:avLst/>
            </a:prstGeom>
            <a:noFill/>
          </p:spPr>
          <p:txBody>
            <a:bodyPr wrap="square" lIns="127000" tIns="84667" rIns="127000" bIns="84667" rtlCol="0" anchor="ctr"/>
            <a:lstStyle/>
            <a:p>
              <a:pPr>
                <a:lnSpc>
                  <a:spcPct val="130000"/>
                </a:lnSpc>
              </a:pPr>
              <a:r>
                <a:rPr lang="en-US" sz="1335" dirty="0">
                  <a:solidFill>
                    <a:srgbClr val="E5E7EB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Edge Trigger 捕获</a:t>
              </a:r>
              <a:endParaRPr lang="en-US" sz="1600" dirty="0"/>
            </a:p>
          </p:txBody>
        </p:sp>
        <p:sp>
          <p:nvSpPr>
            <p:cNvPr id="40" name="Shape 38"/>
            <p:cNvSpPr/>
            <p:nvPr/>
          </p:nvSpPr>
          <p:spPr>
            <a:xfrm>
              <a:off x="3819" y="11893"/>
              <a:ext cx="333" cy="333"/>
            </a:xfrm>
            <a:custGeom>
              <a:avLst/>
              <a:gdLst/>
              <a:ahLst/>
              <a:cxnLst/>
              <a:rect l="l" t="t" r="r" b="b"/>
              <a:pathLst>
                <a:path w="211667" h="211667">
                  <a:moveTo>
                    <a:pt x="207781" y="115176"/>
                  </a:moveTo>
                  <a:cubicBezTo>
                    <a:pt x="212948" y="110009"/>
                    <a:pt x="212948" y="101617"/>
                    <a:pt x="207781" y="96449"/>
                  </a:cubicBezTo>
                  <a:lnTo>
                    <a:pt x="141635" y="30303"/>
                  </a:lnTo>
                  <a:cubicBezTo>
                    <a:pt x="136467" y="25135"/>
                    <a:pt x="128075" y="25135"/>
                    <a:pt x="122907" y="30303"/>
                  </a:cubicBezTo>
                  <a:cubicBezTo>
                    <a:pt x="117740" y="35471"/>
                    <a:pt x="117740" y="43863"/>
                    <a:pt x="122907" y="49031"/>
                  </a:cubicBezTo>
                  <a:lnTo>
                    <a:pt x="166481" y="92604"/>
                  </a:lnTo>
                  <a:lnTo>
                    <a:pt x="13229" y="92604"/>
                  </a:lnTo>
                  <a:cubicBezTo>
                    <a:pt x="5912" y="92604"/>
                    <a:pt x="0" y="98516"/>
                    <a:pt x="0" y="105833"/>
                  </a:cubicBezTo>
                  <a:cubicBezTo>
                    <a:pt x="0" y="113151"/>
                    <a:pt x="5912" y="119063"/>
                    <a:pt x="13229" y="119063"/>
                  </a:cubicBezTo>
                  <a:lnTo>
                    <a:pt x="166481" y="119063"/>
                  </a:lnTo>
                  <a:lnTo>
                    <a:pt x="122907" y="162636"/>
                  </a:lnTo>
                  <a:cubicBezTo>
                    <a:pt x="117740" y="167804"/>
                    <a:pt x="117740" y="176196"/>
                    <a:pt x="122907" y="181364"/>
                  </a:cubicBezTo>
                  <a:cubicBezTo>
                    <a:pt x="128075" y="186531"/>
                    <a:pt x="136467" y="186531"/>
                    <a:pt x="141635" y="181364"/>
                  </a:cubicBezTo>
                  <a:lnTo>
                    <a:pt x="207781" y="115218"/>
                  </a:lnTo>
                  <a:close/>
                </a:path>
              </a:pathLst>
            </a:custGeom>
            <a:solidFill>
              <a:srgbClr val="4F9A94"/>
            </a:solidFill>
          </p:spPr>
        </p:sp>
        <p:sp>
          <p:nvSpPr>
            <p:cNvPr id="41" name="Shape 39"/>
            <p:cNvSpPr/>
            <p:nvPr/>
          </p:nvSpPr>
          <p:spPr>
            <a:xfrm>
              <a:off x="974" y="12593"/>
              <a:ext cx="2417" cy="667"/>
            </a:xfrm>
            <a:custGeom>
              <a:avLst/>
              <a:gdLst/>
              <a:ahLst/>
              <a:cxnLst/>
              <a:rect l="l" t="t" r="r" b="b"/>
              <a:pathLst>
                <a:path w="1534583" h="423333">
                  <a:moveTo>
                    <a:pt x="84667" y="0"/>
                  </a:moveTo>
                  <a:lnTo>
                    <a:pt x="1449917" y="0"/>
                  </a:lnTo>
                  <a:cubicBezTo>
                    <a:pt x="1496677" y="0"/>
                    <a:pt x="1534583" y="37907"/>
                    <a:pt x="1534583" y="84667"/>
                  </a:cubicBezTo>
                  <a:lnTo>
                    <a:pt x="1534583" y="338667"/>
                  </a:lnTo>
                  <a:cubicBezTo>
                    <a:pt x="1534583" y="385427"/>
                    <a:pt x="1496677" y="423333"/>
                    <a:pt x="1449917" y="423333"/>
                  </a:cubicBezTo>
                  <a:lnTo>
                    <a:pt x="84667" y="423333"/>
                  </a:lnTo>
                  <a:cubicBezTo>
                    <a:pt x="37907" y="423333"/>
                    <a:pt x="0" y="385427"/>
                    <a:pt x="0" y="338667"/>
                  </a:cubicBezTo>
                  <a:lnTo>
                    <a:pt x="0" y="84667"/>
                  </a:lnTo>
                  <a:cubicBezTo>
                    <a:pt x="0" y="37907"/>
                    <a:pt x="37907" y="0"/>
                    <a:pt x="84667" y="0"/>
                  </a:cubicBezTo>
                  <a:close/>
                </a:path>
              </a:pathLst>
            </a:custGeom>
            <a:solidFill>
              <a:srgbClr val="3D4A5C"/>
            </a:solidFill>
          </p:spPr>
        </p:sp>
        <p:sp>
          <p:nvSpPr>
            <p:cNvPr id="42" name="Text 40"/>
            <p:cNvSpPr/>
            <p:nvPr/>
          </p:nvSpPr>
          <p:spPr>
            <a:xfrm>
              <a:off x="974" y="12593"/>
              <a:ext cx="2550" cy="667"/>
            </a:xfrm>
            <a:prstGeom prst="rect">
              <a:avLst/>
            </a:prstGeom>
            <a:noFill/>
          </p:spPr>
          <p:txBody>
            <a:bodyPr wrap="square" lIns="127000" tIns="84667" rIns="127000" bIns="84667" rtlCol="0" anchor="ctr"/>
            <a:lstStyle/>
            <a:p>
              <a:pPr>
                <a:lnSpc>
                  <a:spcPct val="130000"/>
                </a:lnSpc>
              </a:pPr>
              <a:r>
                <a:rPr lang="en-US" sz="1335" dirty="0">
                  <a:solidFill>
                    <a:srgbClr val="E5E7EB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写入 sync_log 表</a:t>
              </a:r>
              <a:endParaRPr lang="en-US" sz="1600" dirty="0"/>
            </a:p>
          </p:txBody>
        </p:sp>
        <p:sp>
          <p:nvSpPr>
            <p:cNvPr id="43" name="Shape 41"/>
            <p:cNvSpPr/>
            <p:nvPr/>
          </p:nvSpPr>
          <p:spPr>
            <a:xfrm>
              <a:off x="3624" y="12760"/>
              <a:ext cx="333" cy="333"/>
            </a:xfrm>
            <a:custGeom>
              <a:avLst/>
              <a:gdLst/>
              <a:ahLst/>
              <a:cxnLst/>
              <a:rect l="l" t="t" r="r" b="b"/>
              <a:pathLst>
                <a:path w="211667" h="211667">
                  <a:moveTo>
                    <a:pt x="207781" y="115176"/>
                  </a:moveTo>
                  <a:cubicBezTo>
                    <a:pt x="212948" y="110009"/>
                    <a:pt x="212948" y="101617"/>
                    <a:pt x="207781" y="96449"/>
                  </a:cubicBezTo>
                  <a:lnTo>
                    <a:pt x="141635" y="30303"/>
                  </a:lnTo>
                  <a:cubicBezTo>
                    <a:pt x="136467" y="25135"/>
                    <a:pt x="128075" y="25135"/>
                    <a:pt x="122907" y="30303"/>
                  </a:cubicBezTo>
                  <a:cubicBezTo>
                    <a:pt x="117740" y="35471"/>
                    <a:pt x="117740" y="43863"/>
                    <a:pt x="122907" y="49031"/>
                  </a:cubicBezTo>
                  <a:lnTo>
                    <a:pt x="166481" y="92604"/>
                  </a:lnTo>
                  <a:lnTo>
                    <a:pt x="13229" y="92604"/>
                  </a:lnTo>
                  <a:cubicBezTo>
                    <a:pt x="5912" y="92604"/>
                    <a:pt x="0" y="98516"/>
                    <a:pt x="0" y="105833"/>
                  </a:cubicBezTo>
                  <a:cubicBezTo>
                    <a:pt x="0" y="113151"/>
                    <a:pt x="5912" y="119063"/>
                    <a:pt x="13229" y="119063"/>
                  </a:cubicBezTo>
                  <a:lnTo>
                    <a:pt x="166481" y="119063"/>
                  </a:lnTo>
                  <a:lnTo>
                    <a:pt x="122907" y="162636"/>
                  </a:lnTo>
                  <a:cubicBezTo>
                    <a:pt x="117740" y="167804"/>
                    <a:pt x="117740" y="176196"/>
                    <a:pt x="122907" y="181364"/>
                  </a:cubicBezTo>
                  <a:cubicBezTo>
                    <a:pt x="128075" y="186531"/>
                    <a:pt x="136467" y="186531"/>
                    <a:pt x="141635" y="181364"/>
                  </a:cubicBezTo>
                  <a:lnTo>
                    <a:pt x="207781" y="115218"/>
                  </a:lnTo>
                  <a:close/>
                </a:path>
              </a:pathLst>
            </a:custGeom>
            <a:solidFill>
              <a:srgbClr val="4F9A94"/>
            </a:solidFill>
          </p:spPr>
        </p:sp>
        <p:sp>
          <p:nvSpPr>
            <p:cNvPr id="44" name="Shape 42"/>
            <p:cNvSpPr/>
            <p:nvPr/>
          </p:nvSpPr>
          <p:spPr>
            <a:xfrm>
              <a:off x="974" y="13460"/>
              <a:ext cx="2800" cy="667"/>
            </a:xfrm>
            <a:custGeom>
              <a:avLst/>
              <a:gdLst/>
              <a:ahLst/>
              <a:cxnLst/>
              <a:rect l="l" t="t" r="r" b="b"/>
              <a:pathLst>
                <a:path w="1778000" h="423333">
                  <a:moveTo>
                    <a:pt x="84667" y="0"/>
                  </a:moveTo>
                  <a:lnTo>
                    <a:pt x="1693333" y="0"/>
                  </a:lnTo>
                  <a:cubicBezTo>
                    <a:pt x="1740093" y="0"/>
                    <a:pt x="1778000" y="37907"/>
                    <a:pt x="1778000" y="84667"/>
                  </a:cubicBezTo>
                  <a:lnTo>
                    <a:pt x="1778000" y="338667"/>
                  </a:lnTo>
                  <a:cubicBezTo>
                    <a:pt x="1778000" y="385427"/>
                    <a:pt x="1740093" y="423333"/>
                    <a:pt x="1693333" y="423333"/>
                  </a:cubicBezTo>
                  <a:lnTo>
                    <a:pt x="84667" y="423333"/>
                  </a:lnTo>
                  <a:cubicBezTo>
                    <a:pt x="37907" y="423333"/>
                    <a:pt x="0" y="385427"/>
                    <a:pt x="0" y="338667"/>
                  </a:cubicBezTo>
                  <a:lnTo>
                    <a:pt x="0" y="84667"/>
                  </a:lnTo>
                  <a:cubicBezTo>
                    <a:pt x="0" y="37907"/>
                    <a:pt x="37907" y="0"/>
                    <a:pt x="84667" y="0"/>
                  </a:cubicBezTo>
                  <a:close/>
                </a:path>
              </a:pathLst>
            </a:custGeom>
            <a:solidFill>
              <a:srgbClr val="4F9A94"/>
            </a:solidFill>
          </p:spPr>
        </p:sp>
        <p:sp>
          <p:nvSpPr>
            <p:cNvPr id="45" name="Text 43"/>
            <p:cNvSpPr/>
            <p:nvPr/>
          </p:nvSpPr>
          <p:spPr>
            <a:xfrm>
              <a:off x="974" y="13460"/>
              <a:ext cx="2933" cy="667"/>
            </a:xfrm>
            <a:prstGeom prst="rect">
              <a:avLst/>
            </a:prstGeom>
            <a:noFill/>
          </p:spPr>
          <p:txBody>
            <a:bodyPr wrap="square" lIns="127000" tIns="84667" rIns="127000" bIns="84667" rtlCol="0" anchor="ctr"/>
            <a:lstStyle/>
            <a:p>
              <a:pPr>
                <a:lnSpc>
                  <a:spcPct val="130000"/>
                </a:lnSpc>
              </a:pPr>
              <a:r>
                <a:rPr lang="en-US" sz="1335" b="1" dirty="0">
                  <a:solidFill>
                    <a:srgbClr val="1A1D21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Sync Core 消费推送</a:t>
              </a:r>
              <a:endParaRPr lang="en-US" sz="1600" dirty="0"/>
            </a:p>
          </p:txBody>
        </p:sp>
      </p:grp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558800"/>
            <a:ext cx="76200" cy="508000"/>
          </a:xfrm>
          <a:custGeom>
            <a:avLst/>
            <a:gdLst/>
            <a:ahLst/>
            <a:cxnLst/>
            <a:rect l="l" t="t" r="r" b="b"/>
            <a:pathLst>
              <a:path w="76200" h="508000">
                <a:moveTo>
                  <a:pt x="0" y="0"/>
                </a:moveTo>
                <a:lnTo>
                  <a:pt x="76200" y="0"/>
                </a:lnTo>
                <a:lnTo>
                  <a:pt x="762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4F9A94"/>
          </a:solidFill>
        </p:spPr>
      </p:sp>
      <p:sp>
        <p:nvSpPr>
          <p:cNvPr id="3" name="Text 1"/>
          <p:cNvSpPr/>
          <p:nvPr/>
        </p:nvSpPr>
        <p:spPr>
          <a:xfrm>
            <a:off x="736600" y="508000"/>
            <a:ext cx="80899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E5E7E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核心机制 II：同步与循环抑制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12800" y="1219200"/>
            <a:ext cx="150622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6B728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Sync Core &amp; Loop Storm Prevention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33400" y="1828800"/>
            <a:ext cx="15214600" cy="1574800"/>
          </a:xfrm>
          <a:custGeom>
            <a:avLst/>
            <a:gdLst/>
            <a:ahLst/>
            <a:cxnLst/>
            <a:rect l="l" t="t" r="r" b="b"/>
            <a:pathLst>
              <a:path w="15214600" h="1574800">
                <a:moveTo>
                  <a:pt x="0" y="0"/>
                </a:moveTo>
                <a:lnTo>
                  <a:pt x="15112994" y="0"/>
                </a:lnTo>
                <a:cubicBezTo>
                  <a:pt x="15169109" y="0"/>
                  <a:pt x="15214600" y="45491"/>
                  <a:pt x="15214600" y="101606"/>
                </a:cubicBezTo>
                <a:lnTo>
                  <a:pt x="15214600" y="1473194"/>
                </a:lnTo>
                <a:cubicBezTo>
                  <a:pt x="15214600" y="1529309"/>
                  <a:pt x="15169109" y="1574800"/>
                  <a:pt x="15112994" y="1574800"/>
                </a:cubicBezTo>
                <a:lnTo>
                  <a:pt x="0" y="1574800"/>
                </a:lnTo>
                <a:lnTo>
                  <a:pt x="0" y="0"/>
                </a:lnTo>
                <a:close/>
              </a:path>
            </a:pathLst>
          </a:custGeom>
          <a:solidFill>
            <a:srgbClr val="3D4A5C">
              <a:alpha val="30196"/>
            </a:srgbClr>
          </a:solidFill>
        </p:spPr>
      </p:sp>
      <p:sp>
        <p:nvSpPr>
          <p:cNvPr id="6" name="Shape 4"/>
          <p:cNvSpPr/>
          <p:nvPr/>
        </p:nvSpPr>
        <p:spPr>
          <a:xfrm>
            <a:off x="533400" y="1828800"/>
            <a:ext cx="50800" cy="1574800"/>
          </a:xfrm>
          <a:custGeom>
            <a:avLst/>
            <a:gdLst/>
            <a:ahLst/>
            <a:cxnLst/>
            <a:rect l="l" t="t" r="r" b="b"/>
            <a:pathLst>
              <a:path w="50800" h="1574800">
                <a:moveTo>
                  <a:pt x="0" y="0"/>
                </a:moveTo>
                <a:lnTo>
                  <a:pt x="50800" y="0"/>
                </a:lnTo>
                <a:lnTo>
                  <a:pt x="50800" y="1574800"/>
                </a:lnTo>
                <a:lnTo>
                  <a:pt x="0" y="1574800"/>
                </a:lnTo>
                <a:lnTo>
                  <a:pt x="0" y="0"/>
                </a:lnTo>
                <a:close/>
              </a:path>
            </a:pathLst>
          </a:custGeom>
          <a:solidFill>
            <a:srgbClr val="4F9A94"/>
          </a:solidFill>
        </p:spPr>
      </p:sp>
      <p:sp>
        <p:nvSpPr>
          <p:cNvPr id="7" name="Shape 5"/>
          <p:cNvSpPr/>
          <p:nvPr/>
        </p:nvSpPr>
        <p:spPr>
          <a:xfrm>
            <a:off x="812800" y="204461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57262" y="142875"/>
                </a:moveTo>
                <a:lnTo>
                  <a:pt x="363141" y="142875"/>
                </a:lnTo>
                <a:cubicBezTo>
                  <a:pt x="373038" y="142875"/>
                  <a:pt x="381000" y="134913"/>
                  <a:pt x="381000" y="125016"/>
                </a:cubicBezTo>
                <a:lnTo>
                  <a:pt x="381000" y="17859"/>
                </a:lnTo>
                <a:cubicBezTo>
                  <a:pt x="381000" y="10641"/>
                  <a:pt x="376684" y="4093"/>
                  <a:pt x="369987" y="1339"/>
                </a:cubicBezTo>
                <a:cubicBezTo>
                  <a:pt x="363289" y="-1414"/>
                  <a:pt x="355625" y="149"/>
                  <a:pt x="350490" y="5209"/>
                </a:cubicBezTo>
                <a:lnTo>
                  <a:pt x="312018" y="43755"/>
                </a:lnTo>
                <a:cubicBezTo>
                  <a:pt x="279053" y="16446"/>
                  <a:pt x="236637" y="0"/>
                  <a:pt x="190500" y="0"/>
                </a:cubicBezTo>
                <a:cubicBezTo>
                  <a:pt x="94506" y="0"/>
                  <a:pt x="15106" y="70991"/>
                  <a:pt x="1935" y="163339"/>
                </a:cubicBezTo>
                <a:cubicBezTo>
                  <a:pt x="74" y="176361"/>
                  <a:pt x="9079" y="188416"/>
                  <a:pt x="22101" y="190277"/>
                </a:cubicBezTo>
                <a:cubicBezTo>
                  <a:pt x="35123" y="192137"/>
                  <a:pt x="47179" y="183059"/>
                  <a:pt x="49039" y="170111"/>
                </a:cubicBezTo>
                <a:cubicBezTo>
                  <a:pt x="58936" y="100831"/>
                  <a:pt x="118542" y="47625"/>
                  <a:pt x="190500" y="47625"/>
                </a:cubicBezTo>
                <a:cubicBezTo>
                  <a:pt x="223540" y="47625"/>
                  <a:pt x="253901" y="58787"/>
                  <a:pt x="278085" y="77614"/>
                </a:cubicBezTo>
                <a:lnTo>
                  <a:pt x="243334" y="112365"/>
                </a:lnTo>
                <a:cubicBezTo>
                  <a:pt x="238199" y="117500"/>
                  <a:pt x="236711" y="125164"/>
                  <a:pt x="239464" y="131862"/>
                </a:cubicBezTo>
                <a:cubicBezTo>
                  <a:pt x="242218" y="138559"/>
                  <a:pt x="248766" y="142875"/>
                  <a:pt x="255984" y="142875"/>
                </a:cubicBezTo>
                <a:lnTo>
                  <a:pt x="357262" y="142875"/>
                </a:lnTo>
                <a:close/>
                <a:moveTo>
                  <a:pt x="379140" y="217661"/>
                </a:moveTo>
                <a:cubicBezTo>
                  <a:pt x="381000" y="204639"/>
                  <a:pt x="371921" y="192584"/>
                  <a:pt x="358973" y="190723"/>
                </a:cubicBezTo>
                <a:cubicBezTo>
                  <a:pt x="346025" y="188863"/>
                  <a:pt x="333896" y="197941"/>
                  <a:pt x="332036" y="210889"/>
                </a:cubicBezTo>
                <a:cubicBezTo>
                  <a:pt x="322138" y="280095"/>
                  <a:pt x="262533" y="333301"/>
                  <a:pt x="190574" y="333301"/>
                </a:cubicBezTo>
                <a:cubicBezTo>
                  <a:pt x="157535" y="333301"/>
                  <a:pt x="127174" y="322138"/>
                  <a:pt x="102989" y="303312"/>
                </a:cubicBezTo>
                <a:lnTo>
                  <a:pt x="137666" y="268635"/>
                </a:lnTo>
                <a:cubicBezTo>
                  <a:pt x="142801" y="263500"/>
                  <a:pt x="144289" y="255836"/>
                  <a:pt x="141536" y="249138"/>
                </a:cubicBezTo>
                <a:cubicBezTo>
                  <a:pt x="138782" y="242441"/>
                  <a:pt x="132234" y="238125"/>
                  <a:pt x="125016" y="238125"/>
                </a:cubicBezTo>
                <a:lnTo>
                  <a:pt x="17859" y="238125"/>
                </a:lnTo>
                <a:cubicBezTo>
                  <a:pt x="7962" y="238125"/>
                  <a:pt x="0" y="246087"/>
                  <a:pt x="0" y="255984"/>
                </a:cubicBezTo>
                <a:lnTo>
                  <a:pt x="0" y="363141"/>
                </a:lnTo>
                <a:cubicBezTo>
                  <a:pt x="0" y="370359"/>
                  <a:pt x="4316" y="376907"/>
                  <a:pt x="11013" y="379661"/>
                </a:cubicBezTo>
                <a:cubicBezTo>
                  <a:pt x="17711" y="382414"/>
                  <a:pt x="25375" y="380851"/>
                  <a:pt x="30510" y="375791"/>
                </a:cubicBezTo>
                <a:lnTo>
                  <a:pt x="69056" y="337245"/>
                </a:lnTo>
                <a:cubicBezTo>
                  <a:pt x="101947" y="364554"/>
                  <a:pt x="144363" y="381000"/>
                  <a:pt x="190500" y="381000"/>
                </a:cubicBezTo>
                <a:cubicBezTo>
                  <a:pt x="286494" y="381000"/>
                  <a:pt x="365894" y="310009"/>
                  <a:pt x="379065" y="217661"/>
                </a:cubicBezTo>
                <a:close/>
              </a:path>
            </a:pathLst>
          </a:custGeom>
          <a:solidFill>
            <a:srgbClr val="4F9A94"/>
          </a:solidFill>
        </p:spPr>
      </p:sp>
      <p:sp>
        <p:nvSpPr>
          <p:cNvPr id="8" name="Text 6"/>
          <p:cNvSpPr/>
          <p:nvPr/>
        </p:nvSpPr>
        <p:spPr>
          <a:xfrm>
            <a:off x="1390650" y="2032000"/>
            <a:ext cx="34163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5E7E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同步核心（Sync Core）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12800" y="2641510"/>
            <a:ext cx="152400" cy="203200"/>
          </a:xfrm>
          <a:custGeom>
            <a:avLst/>
            <a:gdLst/>
            <a:ahLst/>
            <a:cxnLst/>
            <a:rect l="l" t="t" r="r" b="b"/>
            <a:pathLst>
              <a:path w="152400" h="203200">
                <a:moveTo>
                  <a:pt x="0" y="74851"/>
                </a:moveTo>
                <a:cubicBezTo>
                  <a:pt x="0" y="33496"/>
                  <a:pt x="34131" y="0"/>
                  <a:pt x="76200" y="0"/>
                </a:cubicBezTo>
                <a:cubicBezTo>
                  <a:pt x="118269" y="0"/>
                  <a:pt x="152400" y="33496"/>
                  <a:pt x="152400" y="74851"/>
                </a:cubicBezTo>
                <a:cubicBezTo>
                  <a:pt x="152400" y="122198"/>
                  <a:pt x="104696" y="178951"/>
                  <a:pt x="84773" y="200581"/>
                </a:cubicBezTo>
                <a:cubicBezTo>
                  <a:pt x="80089" y="205661"/>
                  <a:pt x="72271" y="205661"/>
                  <a:pt x="67588" y="200581"/>
                </a:cubicBezTo>
                <a:cubicBezTo>
                  <a:pt x="47665" y="178951"/>
                  <a:pt x="-40" y="122198"/>
                  <a:pt x="-40" y="74851"/>
                </a:cubicBezTo>
                <a:close/>
                <a:moveTo>
                  <a:pt x="76200" y="101600"/>
                </a:moveTo>
                <a:cubicBezTo>
                  <a:pt x="90219" y="101600"/>
                  <a:pt x="101600" y="90219"/>
                  <a:pt x="101600" y="76200"/>
                </a:cubicBezTo>
                <a:cubicBezTo>
                  <a:pt x="101600" y="62181"/>
                  <a:pt x="90219" y="50800"/>
                  <a:pt x="76200" y="50800"/>
                </a:cubicBezTo>
                <a:cubicBezTo>
                  <a:pt x="62181" y="50800"/>
                  <a:pt x="50800" y="62181"/>
                  <a:pt x="50800" y="76200"/>
                </a:cubicBezTo>
                <a:cubicBezTo>
                  <a:pt x="50800" y="90219"/>
                  <a:pt x="62181" y="101600"/>
                  <a:pt x="76200" y="101600"/>
                </a:cubicBezTo>
                <a:close/>
              </a:path>
            </a:pathLst>
          </a:custGeom>
          <a:solidFill>
            <a:srgbClr val="4F9A94"/>
          </a:solidFill>
        </p:spPr>
      </p:sp>
      <p:sp>
        <p:nvSpPr>
          <p:cNvPr id="10" name="Text 8"/>
          <p:cNvSpPr/>
          <p:nvPr/>
        </p:nvSpPr>
        <p:spPr>
          <a:xfrm>
            <a:off x="1117600" y="2590710"/>
            <a:ext cx="42545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4F9A9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部署位置</a:t>
            </a:r>
            <a:r>
              <a:rPr lang="en-US" sz="1600" dirty="0">
                <a:solidFill>
                  <a:srgbClr val="E5E7EB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：部署在 Hub 端，作为同步协调中心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757333" y="264151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53102" y="14407"/>
                </a:moveTo>
                <a:cubicBezTo>
                  <a:pt x="57428" y="17423"/>
                  <a:pt x="58460" y="23376"/>
                  <a:pt x="55443" y="27662"/>
                </a:cubicBezTo>
                <a:lnTo>
                  <a:pt x="33218" y="59412"/>
                </a:lnTo>
                <a:cubicBezTo>
                  <a:pt x="31591" y="61714"/>
                  <a:pt x="29051" y="63182"/>
                  <a:pt x="26233" y="63421"/>
                </a:cubicBezTo>
                <a:cubicBezTo>
                  <a:pt x="23416" y="63659"/>
                  <a:pt x="20638" y="62706"/>
                  <a:pt x="18653" y="60722"/>
                </a:cubicBezTo>
                <a:lnTo>
                  <a:pt x="2778" y="44847"/>
                </a:lnTo>
                <a:cubicBezTo>
                  <a:pt x="-913" y="41116"/>
                  <a:pt x="-913" y="35084"/>
                  <a:pt x="2778" y="31353"/>
                </a:cubicBezTo>
                <a:cubicBezTo>
                  <a:pt x="6469" y="27622"/>
                  <a:pt x="12541" y="27662"/>
                  <a:pt x="16272" y="31353"/>
                </a:cubicBezTo>
                <a:lnTo>
                  <a:pt x="24130" y="39211"/>
                </a:lnTo>
                <a:lnTo>
                  <a:pt x="39846" y="16748"/>
                </a:lnTo>
                <a:cubicBezTo>
                  <a:pt x="42863" y="12422"/>
                  <a:pt x="48816" y="11390"/>
                  <a:pt x="53102" y="14407"/>
                </a:cubicBezTo>
                <a:close/>
                <a:moveTo>
                  <a:pt x="53102" y="77907"/>
                </a:moveTo>
                <a:cubicBezTo>
                  <a:pt x="57428" y="80923"/>
                  <a:pt x="58460" y="86876"/>
                  <a:pt x="55443" y="91162"/>
                </a:cubicBezTo>
                <a:lnTo>
                  <a:pt x="33218" y="122912"/>
                </a:lnTo>
                <a:cubicBezTo>
                  <a:pt x="31591" y="125214"/>
                  <a:pt x="29051" y="126683"/>
                  <a:pt x="26233" y="126921"/>
                </a:cubicBezTo>
                <a:cubicBezTo>
                  <a:pt x="23416" y="127159"/>
                  <a:pt x="20638" y="126206"/>
                  <a:pt x="18653" y="124222"/>
                </a:cubicBezTo>
                <a:lnTo>
                  <a:pt x="2778" y="108347"/>
                </a:lnTo>
                <a:cubicBezTo>
                  <a:pt x="-953" y="104616"/>
                  <a:pt x="-953" y="98584"/>
                  <a:pt x="2778" y="94893"/>
                </a:cubicBezTo>
                <a:cubicBezTo>
                  <a:pt x="6509" y="91202"/>
                  <a:pt x="12541" y="91162"/>
                  <a:pt x="16232" y="94893"/>
                </a:cubicBezTo>
                <a:lnTo>
                  <a:pt x="24090" y="102751"/>
                </a:lnTo>
                <a:lnTo>
                  <a:pt x="39807" y="80288"/>
                </a:lnTo>
                <a:cubicBezTo>
                  <a:pt x="42823" y="75962"/>
                  <a:pt x="48776" y="74930"/>
                  <a:pt x="53062" y="77946"/>
                </a:cubicBezTo>
                <a:close/>
                <a:moveTo>
                  <a:pt x="88900" y="38100"/>
                </a:moveTo>
                <a:cubicBezTo>
                  <a:pt x="88900" y="31075"/>
                  <a:pt x="94575" y="25400"/>
                  <a:pt x="101600" y="25400"/>
                </a:cubicBezTo>
                <a:lnTo>
                  <a:pt x="190500" y="25400"/>
                </a:lnTo>
                <a:cubicBezTo>
                  <a:pt x="197525" y="25400"/>
                  <a:pt x="203200" y="31075"/>
                  <a:pt x="203200" y="38100"/>
                </a:cubicBezTo>
                <a:cubicBezTo>
                  <a:pt x="203200" y="45125"/>
                  <a:pt x="197525" y="50800"/>
                  <a:pt x="190500" y="50800"/>
                </a:cubicBezTo>
                <a:lnTo>
                  <a:pt x="101600" y="50800"/>
                </a:lnTo>
                <a:cubicBezTo>
                  <a:pt x="94575" y="50800"/>
                  <a:pt x="88900" y="45125"/>
                  <a:pt x="88900" y="38100"/>
                </a:cubicBezTo>
                <a:close/>
                <a:moveTo>
                  <a:pt x="88900" y="101600"/>
                </a:moveTo>
                <a:cubicBezTo>
                  <a:pt x="88900" y="94575"/>
                  <a:pt x="94575" y="88900"/>
                  <a:pt x="101600" y="88900"/>
                </a:cubicBezTo>
                <a:lnTo>
                  <a:pt x="190500" y="88900"/>
                </a:lnTo>
                <a:cubicBezTo>
                  <a:pt x="197525" y="88900"/>
                  <a:pt x="203200" y="94575"/>
                  <a:pt x="203200" y="101600"/>
                </a:cubicBezTo>
                <a:cubicBezTo>
                  <a:pt x="203200" y="108625"/>
                  <a:pt x="197525" y="114300"/>
                  <a:pt x="190500" y="114300"/>
                </a:cubicBezTo>
                <a:lnTo>
                  <a:pt x="101600" y="114300"/>
                </a:lnTo>
                <a:cubicBezTo>
                  <a:pt x="94575" y="114300"/>
                  <a:pt x="88900" y="108625"/>
                  <a:pt x="88900" y="101600"/>
                </a:cubicBezTo>
                <a:close/>
                <a:moveTo>
                  <a:pt x="63500" y="165100"/>
                </a:moveTo>
                <a:cubicBezTo>
                  <a:pt x="63500" y="158075"/>
                  <a:pt x="69175" y="152400"/>
                  <a:pt x="76200" y="152400"/>
                </a:cubicBezTo>
                <a:lnTo>
                  <a:pt x="190500" y="152400"/>
                </a:lnTo>
                <a:cubicBezTo>
                  <a:pt x="197525" y="152400"/>
                  <a:pt x="203200" y="158075"/>
                  <a:pt x="203200" y="165100"/>
                </a:cubicBezTo>
                <a:cubicBezTo>
                  <a:pt x="203200" y="172125"/>
                  <a:pt x="197525" y="177800"/>
                  <a:pt x="190500" y="177800"/>
                </a:cubicBezTo>
                <a:lnTo>
                  <a:pt x="76200" y="177800"/>
                </a:lnTo>
                <a:cubicBezTo>
                  <a:pt x="69175" y="177800"/>
                  <a:pt x="63500" y="172125"/>
                  <a:pt x="63500" y="165100"/>
                </a:cubicBezTo>
                <a:close/>
                <a:moveTo>
                  <a:pt x="25400" y="149225"/>
                </a:moveTo>
                <a:cubicBezTo>
                  <a:pt x="34162" y="149225"/>
                  <a:pt x="41275" y="156338"/>
                  <a:pt x="41275" y="165100"/>
                </a:cubicBezTo>
                <a:cubicBezTo>
                  <a:pt x="41275" y="173862"/>
                  <a:pt x="34162" y="180975"/>
                  <a:pt x="25400" y="180975"/>
                </a:cubicBezTo>
                <a:cubicBezTo>
                  <a:pt x="16638" y="180975"/>
                  <a:pt x="9525" y="173862"/>
                  <a:pt x="9525" y="165100"/>
                </a:cubicBezTo>
                <a:cubicBezTo>
                  <a:pt x="9525" y="156338"/>
                  <a:pt x="16638" y="149225"/>
                  <a:pt x="25400" y="149225"/>
                </a:cubicBezTo>
                <a:close/>
              </a:path>
            </a:pathLst>
          </a:custGeom>
          <a:solidFill>
            <a:srgbClr val="4F9A94"/>
          </a:solidFill>
        </p:spPr>
      </p:sp>
      <p:sp>
        <p:nvSpPr>
          <p:cNvPr id="12" name="Text 10"/>
          <p:cNvSpPr/>
          <p:nvPr/>
        </p:nvSpPr>
        <p:spPr>
          <a:xfrm>
            <a:off x="6062133" y="2590710"/>
            <a:ext cx="45847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4F9A9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工作机制</a:t>
            </a:r>
            <a:r>
              <a:rPr lang="en-US" sz="1600" dirty="0">
                <a:solidFill>
                  <a:srgbClr val="E5E7EB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：轮询 Edge 日志表，基于游标（Cursor）推进同步进度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778067" y="2641510"/>
            <a:ext cx="152400" cy="203200"/>
          </a:xfrm>
          <a:custGeom>
            <a:avLst/>
            <a:gdLst/>
            <a:ahLst/>
            <a:cxnLst/>
            <a:rect l="l" t="t" r="r" b="b"/>
            <a:pathLst>
              <a:path w="152400" h="203200">
                <a:moveTo>
                  <a:pt x="25400" y="0"/>
                </a:moveTo>
                <a:cubicBezTo>
                  <a:pt x="11390" y="0"/>
                  <a:pt x="0" y="11390"/>
                  <a:pt x="0" y="25400"/>
                </a:cubicBezTo>
                <a:lnTo>
                  <a:pt x="0" y="190500"/>
                </a:lnTo>
                <a:cubicBezTo>
                  <a:pt x="0" y="195064"/>
                  <a:pt x="2461" y="199311"/>
                  <a:pt x="6429" y="201533"/>
                </a:cubicBezTo>
                <a:cubicBezTo>
                  <a:pt x="10398" y="203756"/>
                  <a:pt x="15280" y="203716"/>
                  <a:pt x="19209" y="201374"/>
                </a:cubicBezTo>
                <a:lnTo>
                  <a:pt x="76200" y="167203"/>
                </a:lnTo>
                <a:lnTo>
                  <a:pt x="133152" y="201374"/>
                </a:lnTo>
                <a:cubicBezTo>
                  <a:pt x="137081" y="203716"/>
                  <a:pt x="141962" y="203795"/>
                  <a:pt x="145931" y="201533"/>
                </a:cubicBezTo>
                <a:cubicBezTo>
                  <a:pt x="149900" y="199271"/>
                  <a:pt x="152400" y="195064"/>
                  <a:pt x="152400" y="190500"/>
                </a:cubicBezTo>
                <a:lnTo>
                  <a:pt x="152400" y="25400"/>
                </a:lnTo>
                <a:cubicBezTo>
                  <a:pt x="152400" y="11390"/>
                  <a:pt x="141010" y="0"/>
                  <a:pt x="127000" y="0"/>
                </a:cubicBezTo>
                <a:lnTo>
                  <a:pt x="25400" y="0"/>
                </a:lnTo>
                <a:close/>
              </a:path>
            </a:pathLst>
          </a:custGeom>
          <a:solidFill>
            <a:srgbClr val="4F9A94"/>
          </a:solidFill>
        </p:spPr>
      </p:sp>
      <p:sp>
        <p:nvSpPr>
          <p:cNvPr id="14" name="Text 12"/>
          <p:cNvSpPr/>
          <p:nvPr/>
        </p:nvSpPr>
        <p:spPr>
          <a:xfrm>
            <a:off x="11057467" y="2590710"/>
            <a:ext cx="45847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4F9A9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状态持久化</a:t>
            </a:r>
            <a:r>
              <a:rPr lang="en-US" sz="1600" dirty="0">
                <a:solidFill>
                  <a:srgbClr val="E5E7EB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：sync_worker_state 表持久化游标位置，支持断点续传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33400" y="3606710"/>
            <a:ext cx="7467600" cy="2362200"/>
          </a:xfrm>
          <a:custGeom>
            <a:avLst/>
            <a:gdLst/>
            <a:ahLst/>
            <a:cxnLst/>
            <a:rect l="l" t="t" r="r" b="b"/>
            <a:pathLst>
              <a:path w="7467600" h="2362200">
                <a:moveTo>
                  <a:pt x="0" y="0"/>
                </a:moveTo>
                <a:lnTo>
                  <a:pt x="7366002" y="0"/>
                </a:lnTo>
                <a:cubicBezTo>
                  <a:pt x="7422113" y="0"/>
                  <a:pt x="7467600" y="45487"/>
                  <a:pt x="7467600" y="101598"/>
                </a:cubicBezTo>
                <a:lnTo>
                  <a:pt x="7467600" y="2260602"/>
                </a:lnTo>
                <a:cubicBezTo>
                  <a:pt x="7467600" y="2316713"/>
                  <a:pt x="7422113" y="2362200"/>
                  <a:pt x="7366002" y="2362200"/>
                </a:cubicBez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solidFill>
            <a:srgbClr val="3D4A5C">
              <a:alpha val="30196"/>
            </a:srgbClr>
          </a:solidFill>
        </p:spPr>
      </p:sp>
      <p:sp>
        <p:nvSpPr>
          <p:cNvPr id="16" name="Shape 14"/>
          <p:cNvSpPr/>
          <p:nvPr/>
        </p:nvSpPr>
        <p:spPr>
          <a:xfrm>
            <a:off x="533400" y="3606710"/>
            <a:ext cx="50800" cy="2362200"/>
          </a:xfrm>
          <a:custGeom>
            <a:avLst/>
            <a:gdLst/>
            <a:ahLst/>
            <a:cxnLst/>
            <a:rect l="l" t="t" r="r" b="b"/>
            <a:pathLst>
              <a:path w="50800" h="2362200">
                <a:moveTo>
                  <a:pt x="0" y="0"/>
                </a:moveTo>
                <a:lnTo>
                  <a:pt x="50800" y="0"/>
                </a:lnTo>
                <a:lnTo>
                  <a:pt x="50800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solidFill>
            <a:srgbClr val="6B7280"/>
          </a:solidFill>
        </p:spPr>
      </p:sp>
      <p:sp>
        <p:nvSpPr>
          <p:cNvPr id="17" name="Shape 15"/>
          <p:cNvSpPr/>
          <p:nvPr/>
        </p:nvSpPr>
        <p:spPr>
          <a:xfrm>
            <a:off x="800100" y="383531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161151" y="0"/>
                  <a:pt x="169188" y="4822"/>
                  <a:pt x="173355" y="12502"/>
                </a:cubicBezTo>
                <a:lnTo>
                  <a:pt x="301943" y="250627"/>
                </a:lnTo>
                <a:cubicBezTo>
                  <a:pt x="305931" y="258008"/>
                  <a:pt x="305753" y="266938"/>
                  <a:pt x="301466" y="274141"/>
                </a:cubicBezTo>
                <a:cubicBezTo>
                  <a:pt x="297180" y="281345"/>
                  <a:pt x="289381" y="285750"/>
                  <a:pt x="280987" y="285750"/>
                </a:cubicBezTo>
                <a:lnTo>
                  <a:pt x="23813" y="285750"/>
                </a:lnTo>
                <a:cubicBezTo>
                  <a:pt x="15419" y="285750"/>
                  <a:pt x="7680" y="281345"/>
                  <a:pt x="3334" y="274141"/>
                </a:cubicBezTo>
                <a:cubicBezTo>
                  <a:pt x="-1012" y="266938"/>
                  <a:pt x="-1131" y="258008"/>
                  <a:pt x="2858" y="250627"/>
                </a:cubicBezTo>
                <a:lnTo>
                  <a:pt x="131445" y="12502"/>
                </a:lnTo>
                <a:cubicBezTo>
                  <a:pt x="135612" y="4822"/>
                  <a:pt x="143649" y="0"/>
                  <a:pt x="152400" y="0"/>
                </a:cubicBezTo>
                <a:close/>
                <a:moveTo>
                  <a:pt x="152400" y="100013"/>
                </a:moveTo>
                <a:cubicBezTo>
                  <a:pt x="144482" y="100013"/>
                  <a:pt x="138113" y="106382"/>
                  <a:pt x="138113" y="114300"/>
                </a:cubicBezTo>
                <a:lnTo>
                  <a:pt x="138113" y="180975"/>
                </a:lnTo>
                <a:cubicBezTo>
                  <a:pt x="138113" y="188893"/>
                  <a:pt x="144482" y="195263"/>
                  <a:pt x="152400" y="195263"/>
                </a:cubicBezTo>
                <a:cubicBezTo>
                  <a:pt x="160318" y="195263"/>
                  <a:pt x="166688" y="188893"/>
                  <a:pt x="166688" y="180975"/>
                </a:cubicBezTo>
                <a:lnTo>
                  <a:pt x="166688" y="114300"/>
                </a:lnTo>
                <a:cubicBezTo>
                  <a:pt x="166688" y="106382"/>
                  <a:pt x="160318" y="100013"/>
                  <a:pt x="152400" y="100013"/>
                </a:cubicBezTo>
                <a:close/>
                <a:moveTo>
                  <a:pt x="168295" y="228600"/>
                </a:moveTo>
                <a:cubicBezTo>
                  <a:pt x="168656" y="222700"/>
                  <a:pt x="165714" y="217087"/>
                  <a:pt x="160656" y="214027"/>
                </a:cubicBezTo>
                <a:cubicBezTo>
                  <a:pt x="155599" y="210968"/>
                  <a:pt x="149261" y="210968"/>
                  <a:pt x="144203" y="214027"/>
                </a:cubicBezTo>
                <a:cubicBezTo>
                  <a:pt x="139145" y="217087"/>
                  <a:pt x="136203" y="222700"/>
                  <a:pt x="136565" y="228600"/>
                </a:cubicBezTo>
                <a:cubicBezTo>
                  <a:pt x="136203" y="234500"/>
                  <a:pt x="139145" y="240113"/>
                  <a:pt x="144203" y="243173"/>
                </a:cubicBezTo>
                <a:cubicBezTo>
                  <a:pt x="149261" y="246232"/>
                  <a:pt x="155599" y="246232"/>
                  <a:pt x="160656" y="243173"/>
                </a:cubicBezTo>
                <a:cubicBezTo>
                  <a:pt x="165714" y="240113"/>
                  <a:pt x="168656" y="234500"/>
                  <a:pt x="168295" y="228600"/>
                </a:cubicBezTo>
                <a:close/>
              </a:path>
            </a:pathLst>
          </a:custGeom>
          <a:solidFill>
            <a:srgbClr val="6B7280"/>
          </a:solidFill>
        </p:spPr>
      </p:sp>
      <p:sp>
        <p:nvSpPr>
          <p:cNvPr id="18" name="Text 16"/>
          <p:cNvSpPr/>
          <p:nvPr/>
        </p:nvSpPr>
        <p:spPr>
          <a:xfrm>
            <a:off x="1295400" y="3809910"/>
            <a:ext cx="1651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5E7E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回环风暴问题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2000" y="4317910"/>
            <a:ext cx="7137400" cy="33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6B728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问题描述</a:t>
            </a:r>
            <a:r>
              <a:rPr lang="en-US" sz="1600" dirty="0">
                <a:solidFill>
                  <a:srgbClr val="E5E7EB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：A 同步给 B，B 的触发器又记录日志同步回 A，形成无限循环。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4800510"/>
            <a:ext cx="7035800" cy="965200"/>
          </a:xfrm>
          <a:custGeom>
            <a:avLst/>
            <a:gdLst/>
            <a:ahLst/>
            <a:cxnLst/>
            <a:rect l="l" t="t" r="r" b="b"/>
            <a:pathLst>
              <a:path w="7035800" h="965200">
                <a:moveTo>
                  <a:pt x="101597" y="0"/>
                </a:moveTo>
                <a:lnTo>
                  <a:pt x="6934203" y="0"/>
                </a:lnTo>
                <a:cubicBezTo>
                  <a:pt x="6990313" y="0"/>
                  <a:pt x="7035800" y="45487"/>
                  <a:pt x="7035800" y="101597"/>
                </a:cubicBezTo>
                <a:lnTo>
                  <a:pt x="7035800" y="863603"/>
                </a:lnTo>
                <a:cubicBezTo>
                  <a:pt x="7035800" y="919713"/>
                  <a:pt x="6990313" y="965200"/>
                  <a:pt x="6934203" y="965200"/>
                </a:cubicBezTo>
                <a:lnTo>
                  <a:pt x="101597" y="965200"/>
                </a:lnTo>
                <a:cubicBezTo>
                  <a:pt x="45487" y="965200"/>
                  <a:pt x="0" y="919713"/>
                  <a:pt x="0" y="8636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21" name="Text 19"/>
          <p:cNvSpPr/>
          <p:nvPr/>
        </p:nvSpPr>
        <p:spPr>
          <a:xfrm>
            <a:off x="914400" y="4952910"/>
            <a:ext cx="68199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6B728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回环示意：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14400" y="5308510"/>
            <a:ext cx="6832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→ B → A → B → ...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280400" y="3606710"/>
            <a:ext cx="7467600" cy="2362200"/>
          </a:xfrm>
          <a:custGeom>
            <a:avLst/>
            <a:gdLst/>
            <a:ahLst/>
            <a:cxnLst/>
            <a:rect l="l" t="t" r="r" b="b"/>
            <a:pathLst>
              <a:path w="7467600" h="2362200">
                <a:moveTo>
                  <a:pt x="0" y="0"/>
                </a:moveTo>
                <a:lnTo>
                  <a:pt x="7366002" y="0"/>
                </a:lnTo>
                <a:cubicBezTo>
                  <a:pt x="7422113" y="0"/>
                  <a:pt x="7467600" y="45487"/>
                  <a:pt x="7467600" y="101598"/>
                </a:cubicBezTo>
                <a:lnTo>
                  <a:pt x="7467600" y="2260602"/>
                </a:lnTo>
                <a:cubicBezTo>
                  <a:pt x="7467600" y="2316713"/>
                  <a:pt x="7422113" y="2362200"/>
                  <a:pt x="7366002" y="2362200"/>
                </a:cubicBez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solidFill>
            <a:srgbClr val="3D4A5C">
              <a:alpha val="30196"/>
            </a:srgbClr>
          </a:solidFill>
        </p:spPr>
      </p:sp>
      <p:sp>
        <p:nvSpPr>
          <p:cNvPr id="24" name="Shape 22"/>
          <p:cNvSpPr/>
          <p:nvPr/>
        </p:nvSpPr>
        <p:spPr>
          <a:xfrm>
            <a:off x="8280400" y="3606710"/>
            <a:ext cx="50800" cy="2362200"/>
          </a:xfrm>
          <a:custGeom>
            <a:avLst/>
            <a:gdLst/>
            <a:ahLst/>
            <a:cxnLst/>
            <a:rect l="l" t="t" r="r" b="b"/>
            <a:pathLst>
              <a:path w="50800" h="2362200">
                <a:moveTo>
                  <a:pt x="0" y="0"/>
                </a:moveTo>
                <a:lnTo>
                  <a:pt x="50800" y="0"/>
                </a:lnTo>
                <a:lnTo>
                  <a:pt x="50800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solidFill>
            <a:srgbClr val="4F9A94"/>
          </a:solidFill>
        </p:spPr>
      </p:sp>
      <p:sp>
        <p:nvSpPr>
          <p:cNvPr id="25" name="Shape 23"/>
          <p:cNvSpPr/>
          <p:nvPr/>
        </p:nvSpPr>
        <p:spPr>
          <a:xfrm>
            <a:off x="8547100" y="383531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155138" y="0"/>
                  <a:pt x="157877" y="595"/>
                  <a:pt x="160377" y="1726"/>
                </a:cubicBezTo>
                <a:lnTo>
                  <a:pt x="272534" y="49292"/>
                </a:lnTo>
                <a:cubicBezTo>
                  <a:pt x="285631" y="54828"/>
                  <a:pt x="295394" y="67747"/>
                  <a:pt x="295335" y="83344"/>
                </a:cubicBezTo>
                <a:cubicBezTo>
                  <a:pt x="295037" y="142399"/>
                  <a:pt x="270748" y="250448"/>
                  <a:pt x="168176" y="299561"/>
                </a:cubicBezTo>
                <a:cubicBezTo>
                  <a:pt x="158234" y="304324"/>
                  <a:pt x="146685" y="304324"/>
                  <a:pt x="136743" y="299561"/>
                </a:cubicBezTo>
                <a:cubicBezTo>
                  <a:pt x="34111" y="250448"/>
                  <a:pt x="9882" y="142399"/>
                  <a:pt x="9585" y="83344"/>
                </a:cubicBezTo>
                <a:cubicBezTo>
                  <a:pt x="9525" y="67747"/>
                  <a:pt x="19288" y="54828"/>
                  <a:pt x="32385" y="49292"/>
                </a:cubicBezTo>
                <a:lnTo>
                  <a:pt x="144482" y="1726"/>
                </a:lnTo>
                <a:cubicBezTo>
                  <a:pt x="146983" y="595"/>
                  <a:pt x="149662" y="0"/>
                  <a:pt x="152400" y="0"/>
                </a:cubicBezTo>
                <a:close/>
                <a:moveTo>
                  <a:pt x="152400" y="39767"/>
                </a:moveTo>
                <a:lnTo>
                  <a:pt x="152400" y="264855"/>
                </a:lnTo>
                <a:cubicBezTo>
                  <a:pt x="234553" y="225088"/>
                  <a:pt x="256639" y="136981"/>
                  <a:pt x="257175" y="84237"/>
                </a:cubicBezTo>
                <a:lnTo>
                  <a:pt x="152400" y="39826"/>
                </a:lnTo>
                <a:lnTo>
                  <a:pt x="152400" y="39826"/>
                </a:lnTo>
                <a:close/>
              </a:path>
            </a:pathLst>
          </a:custGeom>
          <a:solidFill>
            <a:srgbClr val="4F9A94"/>
          </a:solidFill>
        </p:spPr>
      </p:sp>
      <p:sp>
        <p:nvSpPr>
          <p:cNvPr id="26" name="Text 24"/>
          <p:cNvSpPr/>
          <p:nvPr/>
        </p:nvSpPr>
        <p:spPr>
          <a:xfrm>
            <a:off x="9042400" y="3809910"/>
            <a:ext cx="1143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5E7E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解决方案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509000" y="4317910"/>
            <a:ext cx="7137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5E7E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写入抑制（Write Suppression）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547100" y="4763821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77800" y="81677"/>
                </a:moveTo>
                <a:cubicBezTo>
                  <a:pt x="171926" y="85566"/>
                  <a:pt x="165179" y="88702"/>
                  <a:pt x="158155" y="91202"/>
                </a:cubicBezTo>
                <a:cubicBezTo>
                  <a:pt x="139502" y="97869"/>
                  <a:pt x="115014" y="101600"/>
                  <a:pt x="88900" y="101600"/>
                </a:cubicBezTo>
                <a:cubicBezTo>
                  <a:pt x="62786" y="101600"/>
                  <a:pt x="38259" y="97830"/>
                  <a:pt x="19645" y="91202"/>
                </a:cubicBezTo>
                <a:cubicBezTo>
                  <a:pt x="12660" y="88702"/>
                  <a:pt x="5874" y="85566"/>
                  <a:pt x="0" y="81677"/>
                </a:cubicBezTo>
                <a:lnTo>
                  <a:pt x="0" y="114300"/>
                </a:lnTo>
                <a:cubicBezTo>
                  <a:pt x="0" y="131842"/>
                  <a:pt x="39807" y="146050"/>
                  <a:pt x="88900" y="146050"/>
                </a:cubicBezTo>
                <a:cubicBezTo>
                  <a:pt x="137993" y="146050"/>
                  <a:pt x="177800" y="131842"/>
                  <a:pt x="177800" y="114300"/>
                </a:cubicBezTo>
                <a:lnTo>
                  <a:pt x="177800" y="81677"/>
                </a:lnTo>
                <a:close/>
                <a:moveTo>
                  <a:pt x="177800" y="50800"/>
                </a:moveTo>
                <a:lnTo>
                  <a:pt x="177800" y="31750"/>
                </a:lnTo>
                <a:cubicBezTo>
                  <a:pt x="177800" y="14208"/>
                  <a:pt x="137993" y="0"/>
                  <a:pt x="88900" y="0"/>
                </a:cubicBezTo>
                <a:cubicBezTo>
                  <a:pt x="39807" y="0"/>
                  <a:pt x="0" y="14208"/>
                  <a:pt x="0" y="31750"/>
                </a:cubicBezTo>
                <a:lnTo>
                  <a:pt x="0" y="50800"/>
                </a:lnTo>
                <a:cubicBezTo>
                  <a:pt x="0" y="68342"/>
                  <a:pt x="39807" y="82550"/>
                  <a:pt x="88900" y="82550"/>
                </a:cubicBezTo>
                <a:cubicBezTo>
                  <a:pt x="137993" y="82550"/>
                  <a:pt x="177800" y="68342"/>
                  <a:pt x="177800" y="50800"/>
                </a:cubicBezTo>
                <a:close/>
                <a:moveTo>
                  <a:pt x="158155" y="154702"/>
                </a:moveTo>
                <a:cubicBezTo>
                  <a:pt x="139541" y="161330"/>
                  <a:pt x="115054" y="165100"/>
                  <a:pt x="88900" y="165100"/>
                </a:cubicBezTo>
                <a:cubicBezTo>
                  <a:pt x="62746" y="165100"/>
                  <a:pt x="38259" y="161330"/>
                  <a:pt x="19645" y="154702"/>
                </a:cubicBezTo>
                <a:cubicBezTo>
                  <a:pt x="12660" y="152202"/>
                  <a:pt x="5874" y="149066"/>
                  <a:pt x="0" y="145177"/>
                </a:cubicBezTo>
                <a:lnTo>
                  <a:pt x="0" y="171450"/>
                </a:lnTo>
                <a:cubicBezTo>
                  <a:pt x="0" y="188992"/>
                  <a:pt x="39807" y="203200"/>
                  <a:pt x="88900" y="203200"/>
                </a:cubicBezTo>
                <a:cubicBezTo>
                  <a:pt x="137993" y="203200"/>
                  <a:pt x="177800" y="188992"/>
                  <a:pt x="177800" y="171450"/>
                </a:cubicBezTo>
                <a:lnTo>
                  <a:pt x="177800" y="145177"/>
                </a:lnTo>
                <a:cubicBezTo>
                  <a:pt x="171926" y="149066"/>
                  <a:pt x="165179" y="152202"/>
                  <a:pt x="158155" y="154702"/>
                </a:cubicBezTo>
                <a:close/>
              </a:path>
            </a:pathLst>
          </a:custGeom>
          <a:solidFill>
            <a:srgbClr val="4F9A94"/>
          </a:solidFill>
        </p:spPr>
      </p:sp>
      <p:sp>
        <p:nvSpPr>
          <p:cNvPr id="29" name="Text 27"/>
          <p:cNvSpPr/>
          <p:nvPr/>
        </p:nvSpPr>
        <p:spPr>
          <a:xfrm>
            <a:off x="8864600" y="4724310"/>
            <a:ext cx="67818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5E7EB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MySQL/MariaDB</a:t>
            </a:r>
            <a:r>
              <a:rPr lang="en-US" sz="1600" dirty="0">
                <a:solidFill>
                  <a:srgbClr val="E5E7EB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：</a:t>
            </a:r>
            <a:r>
              <a:rPr lang="en-US" sz="1400" dirty="0">
                <a:solidFill>
                  <a:srgbClr val="4F9A94"/>
                </a:solidFill>
                <a:highlight>
                  <a:srgbClr val="1A1D21">
                    <a:alpha val="7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 SET @sync_suppress = 1;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547100" y="5170221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77800" y="81677"/>
                </a:moveTo>
                <a:cubicBezTo>
                  <a:pt x="171926" y="85566"/>
                  <a:pt x="165179" y="88702"/>
                  <a:pt x="158155" y="91202"/>
                </a:cubicBezTo>
                <a:cubicBezTo>
                  <a:pt x="139502" y="97869"/>
                  <a:pt x="115014" y="101600"/>
                  <a:pt x="88900" y="101600"/>
                </a:cubicBezTo>
                <a:cubicBezTo>
                  <a:pt x="62786" y="101600"/>
                  <a:pt x="38259" y="97830"/>
                  <a:pt x="19645" y="91202"/>
                </a:cubicBezTo>
                <a:cubicBezTo>
                  <a:pt x="12660" y="88702"/>
                  <a:pt x="5874" y="85566"/>
                  <a:pt x="0" y="81677"/>
                </a:cubicBezTo>
                <a:lnTo>
                  <a:pt x="0" y="114300"/>
                </a:lnTo>
                <a:cubicBezTo>
                  <a:pt x="0" y="131842"/>
                  <a:pt x="39807" y="146050"/>
                  <a:pt x="88900" y="146050"/>
                </a:cubicBezTo>
                <a:cubicBezTo>
                  <a:pt x="137993" y="146050"/>
                  <a:pt x="177800" y="131842"/>
                  <a:pt x="177800" y="114300"/>
                </a:cubicBezTo>
                <a:lnTo>
                  <a:pt x="177800" y="81677"/>
                </a:lnTo>
                <a:close/>
                <a:moveTo>
                  <a:pt x="177800" y="50800"/>
                </a:moveTo>
                <a:lnTo>
                  <a:pt x="177800" y="31750"/>
                </a:lnTo>
                <a:cubicBezTo>
                  <a:pt x="177800" y="14208"/>
                  <a:pt x="137993" y="0"/>
                  <a:pt x="88900" y="0"/>
                </a:cubicBezTo>
                <a:cubicBezTo>
                  <a:pt x="39807" y="0"/>
                  <a:pt x="0" y="14208"/>
                  <a:pt x="0" y="31750"/>
                </a:cubicBezTo>
                <a:lnTo>
                  <a:pt x="0" y="50800"/>
                </a:lnTo>
                <a:cubicBezTo>
                  <a:pt x="0" y="68342"/>
                  <a:pt x="39807" y="82550"/>
                  <a:pt x="88900" y="82550"/>
                </a:cubicBezTo>
                <a:cubicBezTo>
                  <a:pt x="137993" y="82550"/>
                  <a:pt x="177800" y="68342"/>
                  <a:pt x="177800" y="50800"/>
                </a:cubicBezTo>
                <a:close/>
                <a:moveTo>
                  <a:pt x="158155" y="154702"/>
                </a:moveTo>
                <a:cubicBezTo>
                  <a:pt x="139541" y="161330"/>
                  <a:pt x="115054" y="165100"/>
                  <a:pt x="88900" y="165100"/>
                </a:cubicBezTo>
                <a:cubicBezTo>
                  <a:pt x="62746" y="165100"/>
                  <a:pt x="38259" y="161330"/>
                  <a:pt x="19645" y="154702"/>
                </a:cubicBezTo>
                <a:cubicBezTo>
                  <a:pt x="12660" y="152202"/>
                  <a:pt x="5874" y="149066"/>
                  <a:pt x="0" y="145177"/>
                </a:cubicBezTo>
                <a:lnTo>
                  <a:pt x="0" y="171450"/>
                </a:lnTo>
                <a:cubicBezTo>
                  <a:pt x="0" y="188992"/>
                  <a:pt x="39807" y="203200"/>
                  <a:pt x="88900" y="203200"/>
                </a:cubicBezTo>
                <a:cubicBezTo>
                  <a:pt x="137993" y="203200"/>
                  <a:pt x="177800" y="188992"/>
                  <a:pt x="177800" y="171450"/>
                </a:cubicBezTo>
                <a:lnTo>
                  <a:pt x="177800" y="145177"/>
                </a:lnTo>
                <a:cubicBezTo>
                  <a:pt x="171926" y="149066"/>
                  <a:pt x="165179" y="152202"/>
                  <a:pt x="158155" y="154702"/>
                </a:cubicBezTo>
                <a:close/>
              </a:path>
            </a:pathLst>
          </a:custGeom>
          <a:solidFill>
            <a:srgbClr val="4F9A94"/>
          </a:solidFill>
        </p:spPr>
      </p:sp>
      <p:sp>
        <p:nvSpPr>
          <p:cNvPr id="31" name="Text 29"/>
          <p:cNvSpPr/>
          <p:nvPr/>
        </p:nvSpPr>
        <p:spPr>
          <a:xfrm>
            <a:off x="8864600" y="5130710"/>
            <a:ext cx="67818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5E7EB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PostgreSQL</a:t>
            </a:r>
            <a:r>
              <a:rPr lang="en-US" sz="1600" dirty="0">
                <a:solidFill>
                  <a:srgbClr val="E5E7EB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：</a:t>
            </a:r>
            <a:r>
              <a:rPr lang="en-US" sz="1400" dirty="0">
                <a:solidFill>
                  <a:srgbClr val="4F9A94"/>
                </a:solidFill>
                <a:highlight>
                  <a:srgbClr val="1A1D21">
                    <a:alpha val="7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 SET app.sync_suppress = '1';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13644" y="6177755"/>
            <a:ext cx="7478889" cy="2297289"/>
          </a:xfrm>
          <a:custGeom>
            <a:avLst/>
            <a:gdLst/>
            <a:ahLst/>
            <a:cxnLst/>
            <a:rect l="l" t="t" r="r" b="b"/>
            <a:pathLst>
              <a:path w="7478889" h="2297289">
                <a:moveTo>
                  <a:pt x="101609" y="0"/>
                </a:moveTo>
                <a:lnTo>
                  <a:pt x="7377280" y="0"/>
                </a:lnTo>
                <a:cubicBezTo>
                  <a:pt x="7433397" y="0"/>
                  <a:pt x="7478889" y="45492"/>
                  <a:pt x="7478889" y="101609"/>
                </a:cubicBezTo>
                <a:lnTo>
                  <a:pt x="7478889" y="2195680"/>
                </a:lnTo>
                <a:cubicBezTo>
                  <a:pt x="7478889" y="2251797"/>
                  <a:pt x="7433397" y="2297289"/>
                  <a:pt x="7377280" y="2297289"/>
                </a:cubicBezTo>
                <a:lnTo>
                  <a:pt x="101609" y="2297289"/>
                </a:lnTo>
                <a:cubicBezTo>
                  <a:pt x="45492" y="2297289"/>
                  <a:pt x="0" y="2251797"/>
                  <a:pt x="0" y="2195680"/>
                </a:cubicBezTo>
                <a:lnTo>
                  <a:pt x="0" y="101609"/>
                </a:lnTo>
                <a:cubicBezTo>
                  <a:pt x="0" y="45492"/>
                  <a:pt x="45492" y="0"/>
                  <a:pt x="101609" y="0"/>
                </a:cubicBezTo>
                <a:close/>
              </a:path>
            </a:pathLst>
          </a:custGeom>
          <a:solidFill>
            <a:srgbClr val="4F9A94">
              <a:alpha val="20000"/>
            </a:srgbClr>
          </a:solidFill>
          <a:ln w="11289">
            <a:solidFill>
              <a:srgbClr val="4F9A9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54239" y="6450099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4F9A94"/>
          </a:solidFill>
        </p:spPr>
      </p:sp>
      <p:sp>
        <p:nvSpPr>
          <p:cNvPr id="34" name="Text 32"/>
          <p:cNvSpPr/>
          <p:nvPr/>
        </p:nvSpPr>
        <p:spPr>
          <a:xfrm>
            <a:off x="1014589" y="6386599"/>
            <a:ext cx="68834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4F9A9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抑制效果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22489" y="6894599"/>
            <a:ext cx="7162800" cy="33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5E7EB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被抑制的写入</a:t>
            </a:r>
            <a:r>
              <a:rPr lang="en-US" sz="1600" b="1" dirty="0">
                <a:solidFill>
                  <a:srgbClr val="4F9A9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不记录日志</a:t>
            </a:r>
            <a:r>
              <a:rPr lang="en-US" sz="1600" dirty="0">
                <a:solidFill>
                  <a:srgbClr val="E5E7EB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，触发器被跳过，从而</a:t>
            </a:r>
            <a:r>
              <a:rPr lang="en-US" sz="1600" b="1" dirty="0">
                <a:solidFill>
                  <a:srgbClr val="4F9A9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打破死循环</a:t>
            </a:r>
            <a:r>
              <a:rPr lang="en-US" sz="1600" dirty="0">
                <a:solidFill>
                  <a:srgbClr val="E5E7EB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，避免回环风暴。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260644" y="6177755"/>
            <a:ext cx="7478889" cy="2297289"/>
          </a:xfrm>
          <a:custGeom>
            <a:avLst/>
            <a:gdLst/>
            <a:ahLst/>
            <a:cxnLst/>
            <a:rect l="l" t="t" r="r" b="b"/>
            <a:pathLst>
              <a:path w="7478889" h="2297289">
                <a:moveTo>
                  <a:pt x="101609" y="0"/>
                </a:moveTo>
                <a:lnTo>
                  <a:pt x="7377280" y="0"/>
                </a:lnTo>
                <a:cubicBezTo>
                  <a:pt x="7433397" y="0"/>
                  <a:pt x="7478889" y="45492"/>
                  <a:pt x="7478889" y="101609"/>
                </a:cubicBezTo>
                <a:lnTo>
                  <a:pt x="7478889" y="2195680"/>
                </a:lnTo>
                <a:cubicBezTo>
                  <a:pt x="7478889" y="2251797"/>
                  <a:pt x="7433397" y="2297289"/>
                  <a:pt x="7377280" y="2297289"/>
                </a:cubicBezTo>
                <a:lnTo>
                  <a:pt x="101609" y="2297289"/>
                </a:lnTo>
                <a:cubicBezTo>
                  <a:pt x="45492" y="2297289"/>
                  <a:pt x="0" y="2251797"/>
                  <a:pt x="0" y="2195680"/>
                </a:cubicBezTo>
                <a:lnTo>
                  <a:pt x="0" y="101609"/>
                </a:lnTo>
                <a:cubicBezTo>
                  <a:pt x="0" y="45492"/>
                  <a:pt x="45492" y="0"/>
                  <a:pt x="101609" y="0"/>
                </a:cubicBezTo>
                <a:close/>
              </a:path>
            </a:pathLst>
          </a:custGeom>
          <a:solidFill>
            <a:srgbClr val="3D4A5C">
              <a:alpha val="30196"/>
            </a:srgbClr>
          </a:solidFill>
          <a:ln w="11289">
            <a:solidFill>
              <a:srgbClr val="3D4A5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501239" y="6450099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85725" y="28575"/>
                </a:moveTo>
                <a:cubicBezTo>
                  <a:pt x="85725" y="20672"/>
                  <a:pt x="92110" y="14288"/>
                  <a:pt x="100013" y="14288"/>
                </a:cubicBezTo>
                <a:lnTo>
                  <a:pt x="128588" y="14288"/>
                </a:lnTo>
                <a:cubicBezTo>
                  <a:pt x="136490" y="14288"/>
                  <a:pt x="142875" y="20672"/>
                  <a:pt x="142875" y="28575"/>
                </a:cubicBezTo>
                <a:lnTo>
                  <a:pt x="142875" y="57150"/>
                </a:lnTo>
                <a:cubicBezTo>
                  <a:pt x="142875" y="65053"/>
                  <a:pt x="136490" y="71438"/>
                  <a:pt x="128588" y="71438"/>
                </a:cubicBezTo>
                <a:lnTo>
                  <a:pt x="125016" y="71438"/>
                </a:lnTo>
                <a:lnTo>
                  <a:pt x="125016" y="100013"/>
                </a:lnTo>
                <a:lnTo>
                  <a:pt x="178594" y="100013"/>
                </a:lnTo>
                <a:cubicBezTo>
                  <a:pt x="196364" y="100013"/>
                  <a:pt x="210741" y="114389"/>
                  <a:pt x="210741" y="132159"/>
                </a:cubicBezTo>
                <a:lnTo>
                  <a:pt x="210741" y="157163"/>
                </a:lnTo>
                <a:lnTo>
                  <a:pt x="214313" y="157163"/>
                </a:lnTo>
                <a:cubicBezTo>
                  <a:pt x="222215" y="157163"/>
                  <a:pt x="228600" y="163547"/>
                  <a:pt x="228600" y="171450"/>
                </a:cubicBezTo>
                <a:lnTo>
                  <a:pt x="228600" y="200025"/>
                </a:lnTo>
                <a:cubicBezTo>
                  <a:pt x="228600" y="207928"/>
                  <a:pt x="222215" y="214313"/>
                  <a:pt x="214313" y="214313"/>
                </a:cubicBezTo>
                <a:lnTo>
                  <a:pt x="185738" y="214313"/>
                </a:lnTo>
                <a:cubicBezTo>
                  <a:pt x="177835" y="214313"/>
                  <a:pt x="171450" y="207928"/>
                  <a:pt x="171450" y="200025"/>
                </a:cubicBezTo>
                <a:lnTo>
                  <a:pt x="171450" y="171450"/>
                </a:lnTo>
                <a:cubicBezTo>
                  <a:pt x="171450" y="163547"/>
                  <a:pt x="177835" y="157163"/>
                  <a:pt x="185738" y="157163"/>
                </a:cubicBezTo>
                <a:lnTo>
                  <a:pt x="189309" y="157163"/>
                </a:lnTo>
                <a:lnTo>
                  <a:pt x="189309" y="132159"/>
                </a:lnTo>
                <a:cubicBezTo>
                  <a:pt x="189309" y="126221"/>
                  <a:pt x="184532" y="121444"/>
                  <a:pt x="178594" y="121444"/>
                </a:cubicBezTo>
                <a:lnTo>
                  <a:pt x="125016" y="121444"/>
                </a:lnTo>
                <a:lnTo>
                  <a:pt x="125016" y="157163"/>
                </a:lnTo>
                <a:lnTo>
                  <a:pt x="128588" y="157163"/>
                </a:lnTo>
                <a:cubicBezTo>
                  <a:pt x="136490" y="157163"/>
                  <a:pt x="142875" y="163547"/>
                  <a:pt x="142875" y="171450"/>
                </a:cubicBezTo>
                <a:lnTo>
                  <a:pt x="142875" y="200025"/>
                </a:lnTo>
                <a:cubicBezTo>
                  <a:pt x="142875" y="207928"/>
                  <a:pt x="136490" y="214313"/>
                  <a:pt x="128588" y="214313"/>
                </a:cubicBezTo>
                <a:lnTo>
                  <a:pt x="100013" y="214313"/>
                </a:lnTo>
                <a:cubicBezTo>
                  <a:pt x="92110" y="214313"/>
                  <a:pt x="85725" y="207928"/>
                  <a:pt x="85725" y="200025"/>
                </a:cubicBezTo>
                <a:lnTo>
                  <a:pt x="85725" y="171450"/>
                </a:lnTo>
                <a:cubicBezTo>
                  <a:pt x="85725" y="163547"/>
                  <a:pt x="92110" y="157163"/>
                  <a:pt x="100013" y="157163"/>
                </a:cubicBezTo>
                <a:lnTo>
                  <a:pt x="103584" y="157163"/>
                </a:lnTo>
                <a:lnTo>
                  <a:pt x="103584" y="121444"/>
                </a:lnTo>
                <a:lnTo>
                  <a:pt x="50006" y="121444"/>
                </a:lnTo>
                <a:cubicBezTo>
                  <a:pt x="44068" y="121444"/>
                  <a:pt x="39291" y="126221"/>
                  <a:pt x="39291" y="132159"/>
                </a:cubicBezTo>
                <a:lnTo>
                  <a:pt x="39291" y="157163"/>
                </a:lnTo>
                <a:lnTo>
                  <a:pt x="42863" y="157163"/>
                </a:lnTo>
                <a:cubicBezTo>
                  <a:pt x="50765" y="157163"/>
                  <a:pt x="57150" y="163547"/>
                  <a:pt x="57150" y="171450"/>
                </a:cubicBezTo>
                <a:lnTo>
                  <a:pt x="57150" y="200025"/>
                </a:lnTo>
                <a:cubicBezTo>
                  <a:pt x="57150" y="207928"/>
                  <a:pt x="50765" y="214313"/>
                  <a:pt x="42863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lnTo>
                  <a:pt x="0" y="171450"/>
                </a:lnTo>
                <a:cubicBezTo>
                  <a:pt x="0" y="163547"/>
                  <a:pt x="6385" y="157163"/>
                  <a:pt x="14288" y="157163"/>
                </a:cubicBezTo>
                <a:lnTo>
                  <a:pt x="17859" y="157163"/>
                </a:lnTo>
                <a:lnTo>
                  <a:pt x="17859" y="132159"/>
                </a:lnTo>
                <a:cubicBezTo>
                  <a:pt x="17859" y="114389"/>
                  <a:pt x="32236" y="100013"/>
                  <a:pt x="50006" y="100013"/>
                </a:cubicBezTo>
                <a:lnTo>
                  <a:pt x="103584" y="100013"/>
                </a:lnTo>
                <a:lnTo>
                  <a:pt x="103584" y="71438"/>
                </a:lnTo>
                <a:lnTo>
                  <a:pt x="100013" y="71438"/>
                </a:lnTo>
                <a:cubicBezTo>
                  <a:pt x="92110" y="71438"/>
                  <a:pt x="85725" y="65053"/>
                  <a:pt x="85725" y="57150"/>
                </a:cubicBezTo>
                <a:lnTo>
                  <a:pt x="85725" y="28575"/>
                </a:lnTo>
                <a:close/>
              </a:path>
            </a:pathLst>
          </a:custGeom>
          <a:solidFill>
            <a:srgbClr val="E5E7EB"/>
          </a:solidFill>
        </p:spPr>
      </p:sp>
      <p:sp>
        <p:nvSpPr>
          <p:cNvPr id="38" name="Text 36"/>
          <p:cNvSpPr/>
          <p:nvPr/>
        </p:nvSpPr>
        <p:spPr>
          <a:xfrm>
            <a:off x="8761589" y="6386599"/>
            <a:ext cx="68834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5E7E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完整流程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469489" y="6894599"/>
            <a:ext cx="71628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5E7EB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1. Sync Core 读取变更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469489" y="7250199"/>
            <a:ext cx="71628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5E7EB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2. 推送前设置抑制标志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469489" y="7605799"/>
            <a:ext cx="71628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5E7EB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3. 执行远程写入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469489" y="7961399"/>
            <a:ext cx="71628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5E7EB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4. 清除抑制标志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3333" y="465667"/>
            <a:ext cx="63500" cy="423333"/>
          </a:xfrm>
          <a:custGeom>
            <a:avLst/>
            <a:gdLst/>
            <a:ahLst/>
            <a:cxnLst/>
            <a:rect l="l" t="t" r="r" b="b"/>
            <a:pathLst>
              <a:path w="63500" h="423333">
                <a:moveTo>
                  <a:pt x="0" y="0"/>
                </a:moveTo>
                <a:lnTo>
                  <a:pt x="63500" y="0"/>
                </a:lnTo>
                <a:lnTo>
                  <a:pt x="63500" y="423333"/>
                </a:lnTo>
                <a:lnTo>
                  <a:pt x="0" y="423333"/>
                </a:lnTo>
                <a:lnTo>
                  <a:pt x="0" y="0"/>
                </a:lnTo>
                <a:close/>
              </a:path>
            </a:pathLst>
          </a:custGeom>
          <a:solidFill>
            <a:srgbClr val="4F9A94"/>
          </a:solidFill>
        </p:spPr>
      </p:sp>
      <p:sp>
        <p:nvSpPr>
          <p:cNvPr id="3" name="Text 1"/>
          <p:cNvSpPr/>
          <p:nvPr/>
        </p:nvSpPr>
        <p:spPr>
          <a:xfrm>
            <a:off x="613833" y="423333"/>
            <a:ext cx="58420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000" b="1" dirty="0">
                <a:solidFill>
                  <a:srgbClr val="E5E7E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冲突检测模型：向量时钟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77333" y="1016000"/>
            <a:ext cx="15261167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5" dirty="0">
                <a:solidFill>
                  <a:srgbClr val="6B728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Vector Clock Based Conflict Detection</a:t>
            </a:r>
            <a:endParaRPr lang="en-US" sz="1600" dirty="0"/>
          </a:p>
        </p:txBody>
      </p:sp>
      <p:grpSp>
        <p:nvGrpSpPr>
          <p:cNvPr id="61" name="组合 60"/>
          <p:cNvGrpSpPr/>
          <p:nvPr/>
        </p:nvGrpSpPr>
        <p:grpSpPr>
          <a:xfrm>
            <a:off x="427990" y="1523365"/>
            <a:ext cx="7593330" cy="2879090"/>
            <a:chOff x="674" y="2399"/>
            <a:chExt cx="11958" cy="5602"/>
          </a:xfrm>
        </p:grpSpPr>
        <p:sp>
          <p:nvSpPr>
            <p:cNvPr id="5" name="Shape 3"/>
            <p:cNvSpPr/>
            <p:nvPr/>
          </p:nvSpPr>
          <p:spPr>
            <a:xfrm>
              <a:off x="700" y="2400"/>
              <a:ext cx="11933" cy="2067"/>
            </a:xfrm>
            <a:custGeom>
              <a:avLst/>
              <a:gdLst/>
              <a:ahLst/>
              <a:cxnLst/>
              <a:rect l="l" t="t" r="r" b="b"/>
              <a:pathLst>
                <a:path w="7577667" h="1312333">
                  <a:moveTo>
                    <a:pt x="0" y="0"/>
                  </a:moveTo>
                  <a:lnTo>
                    <a:pt x="7492995" y="0"/>
                  </a:lnTo>
                  <a:cubicBezTo>
                    <a:pt x="7539758" y="0"/>
                    <a:pt x="7577667" y="37909"/>
                    <a:pt x="7577667" y="84672"/>
                  </a:cubicBezTo>
                  <a:lnTo>
                    <a:pt x="7577667" y="1227662"/>
                  </a:lnTo>
                  <a:cubicBezTo>
                    <a:pt x="7577667" y="1274425"/>
                    <a:pt x="7539758" y="1312333"/>
                    <a:pt x="7492995" y="1312333"/>
                  </a:cubicBezTo>
                  <a:lnTo>
                    <a:pt x="0" y="13123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4A5C">
                <a:alpha val="30196"/>
              </a:srgbClr>
            </a:solidFill>
          </p:spPr>
        </p:sp>
        <p:sp>
          <p:nvSpPr>
            <p:cNvPr id="6" name="Shape 4"/>
            <p:cNvSpPr/>
            <p:nvPr/>
          </p:nvSpPr>
          <p:spPr>
            <a:xfrm>
              <a:off x="674" y="2399"/>
              <a:ext cx="120" cy="2068"/>
            </a:xfrm>
            <a:custGeom>
              <a:avLst/>
              <a:gdLst/>
              <a:ahLst/>
              <a:cxnLst/>
              <a:rect l="l" t="t" r="r" b="b"/>
              <a:pathLst>
                <a:path w="42333" h="1312333">
                  <a:moveTo>
                    <a:pt x="0" y="0"/>
                  </a:moveTo>
                  <a:lnTo>
                    <a:pt x="42333" y="0"/>
                  </a:lnTo>
                  <a:lnTo>
                    <a:pt x="42333" y="1312333"/>
                  </a:lnTo>
                  <a:lnTo>
                    <a:pt x="0" y="13123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9A94"/>
            </a:solidFill>
          </p:spPr>
        </p:sp>
        <p:sp>
          <p:nvSpPr>
            <p:cNvPr id="7" name="Shape 5"/>
            <p:cNvSpPr/>
            <p:nvPr/>
          </p:nvSpPr>
          <p:spPr>
            <a:xfrm>
              <a:off x="1100" y="2700"/>
              <a:ext cx="300" cy="400"/>
            </a:xfrm>
            <a:custGeom>
              <a:avLst/>
              <a:gdLst/>
              <a:ahLst/>
              <a:cxnLst/>
              <a:rect l="l" t="t" r="r" b="b"/>
              <a:pathLst>
                <a:path w="190500" h="254000">
                  <a:moveTo>
                    <a:pt x="145306" y="190500"/>
                  </a:moveTo>
                  <a:cubicBezTo>
                    <a:pt x="148927" y="179437"/>
                    <a:pt x="156170" y="169416"/>
                    <a:pt x="164356" y="160784"/>
                  </a:cubicBezTo>
                  <a:cubicBezTo>
                    <a:pt x="180578" y="143718"/>
                    <a:pt x="190500" y="120650"/>
                    <a:pt x="190500" y="95250"/>
                  </a:cubicBezTo>
                  <a:cubicBezTo>
                    <a:pt x="190500" y="42664"/>
                    <a:pt x="147836" y="0"/>
                    <a:pt x="95250" y="0"/>
                  </a:cubicBezTo>
                  <a:cubicBezTo>
                    <a:pt x="42664" y="0"/>
                    <a:pt x="0" y="42664"/>
                    <a:pt x="0" y="95250"/>
                  </a:cubicBezTo>
                  <a:cubicBezTo>
                    <a:pt x="0" y="120650"/>
                    <a:pt x="9922" y="143718"/>
                    <a:pt x="26144" y="160784"/>
                  </a:cubicBezTo>
                  <a:cubicBezTo>
                    <a:pt x="34330" y="169416"/>
                    <a:pt x="41622" y="179437"/>
                    <a:pt x="45194" y="190500"/>
                  </a:cubicBezTo>
                  <a:lnTo>
                    <a:pt x="145256" y="190500"/>
                  </a:lnTo>
                  <a:close/>
                  <a:moveTo>
                    <a:pt x="142875" y="214313"/>
                  </a:moveTo>
                  <a:lnTo>
                    <a:pt x="47625" y="214313"/>
                  </a:lnTo>
                  <a:lnTo>
                    <a:pt x="47625" y="222250"/>
                  </a:lnTo>
                  <a:cubicBezTo>
                    <a:pt x="47625" y="244177"/>
                    <a:pt x="65385" y="261937"/>
                    <a:pt x="87313" y="261937"/>
                  </a:cubicBezTo>
                  <a:lnTo>
                    <a:pt x="103188" y="261937"/>
                  </a:lnTo>
                  <a:cubicBezTo>
                    <a:pt x="125115" y="261937"/>
                    <a:pt x="142875" y="244177"/>
                    <a:pt x="142875" y="222250"/>
                  </a:cubicBezTo>
                  <a:lnTo>
                    <a:pt x="142875" y="214313"/>
                  </a:lnTo>
                  <a:close/>
                  <a:moveTo>
                    <a:pt x="91281" y="55563"/>
                  </a:moveTo>
                  <a:cubicBezTo>
                    <a:pt x="71537" y="55563"/>
                    <a:pt x="55563" y="71537"/>
                    <a:pt x="55563" y="91281"/>
                  </a:cubicBezTo>
                  <a:cubicBezTo>
                    <a:pt x="55563" y="97879"/>
                    <a:pt x="50254" y="103188"/>
                    <a:pt x="43656" y="103188"/>
                  </a:cubicBezTo>
                  <a:cubicBezTo>
                    <a:pt x="37058" y="103188"/>
                    <a:pt x="31750" y="97879"/>
                    <a:pt x="31750" y="91281"/>
                  </a:cubicBezTo>
                  <a:cubicBezTo>
                    <a:pt x="31750" y="58390"/>
                    <a:pt x="58390" y="31750"/>
                    <a:pt x="91281" y="31750"/>
                  </a:cubicBezTo>
                  <a:cubicBezTo>
                    <a:pt x="97879" y="31750"/>
                    <a:pt x="103188" y="37058"/>
                    <a:pt x="103188" y="43656"/>
                  </a:cubicBezTo>
                  <a:cubicBezTo>
                    <a:pt x="103188" y="50254"/>
                    <a:pt x="97879" y="55563"/>
                    <a:pt x="91281" y="55563"/>
                  </a:cubicBezTo>
                  <a:close/>
                </a:path>
              </a:pathLst>
            </a:custGeom>
            <a:solidFill>
              <a:srgbClr val="4F9A94"/>
            </a:solidFill>
          </p:spPr>
        </p:sp>
        <p:sp>
          <p:nvSpPr>
            <p:cNvPr id="8" name="Text 6"/>
            <p:cNvSpPr/>
            <p:nvPr/>
          </p:nvSpPr>
          <p:spPr>
            <a:xfrm>
              <a:off x="1700" y="2667"/>
              <a:ext cx="1500" cy="46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665" b="1" dirty="0">
                  <a:solidFill>
                    <a:srgbClr val="E5E7EB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核心原理</a:t>
              </a:r>
              <a:endParaRPr lang="en-US" sz="16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1000" y="3333"/>
              <a:ext cx="11500" cy="86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en-US" sz="1335" dirty="0">
                  <a:solidFill>
                    <a:srgbClr val="E5E7EB">
                      <a:alpha val="90000"/>
                    </a:srgbClr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基于</a:t>
              </a:r>
              <a:r>
                <a:rPr lang="en-US" sz="1335" b="1" dirty="0">
                  <a:solidFill>
                    <a:srgbClr val="4F9A94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逻辑时钟</a:t>
              </a:r>
              <a:r>
                <a:rPr lang="en-US" sz="1335" dirty="0">
                  <a:solidFill>
                    <a:srgbClr val="E5E7EB">
                      <a:alpha val="90000"/>
                    </a:srgbClr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而非物理时间，解决分布式系统中的时钟不同步问题。每个节点维护一个计数器，通过向量记录各节点的状态。</a:t>
              </a:r>
              <a:endParaRPr lang="en-US" sz="16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700" y="4733"/>
              <a:ext cx="11933" cy="2533"/>
            </a:xfrm>
            <a:custGeom>
              <a:avLst/>
              <a:gdLst/>
              <a:ahLst/>
              <a:cxnLst/>
              <a:rect l="l" t="t" r="r" b="b"/>
              <a:pathLst>
                <a:path w="7577667" h="2772833">
                  <a:moveTo>
                    <a:pt x="0" y="0"/>
                  </a:moveTo>
                  <a:lnTo>
                    <a:pt x="7493012" y="0"/>
                  </a:lnTo>
                  <a:cubicBezTo>
                    <a:pt x="7539766" y="0"/>
                    <a:pt x="7577667" y="37901"/>
                    <a:pt x="7577667" y="84655"/>
                  </a:cubicBezTo>
                  <a:lnTo>
                    <a:pt x="7577667" y="2688179"/>
                  </a:lnTo>
                  <a:cubicBezTo>
                    <a:pt x="7577667" y="2734932"/>
                    <a:pt x="7539766" y="2772833"/>
                    <a:pt x="7493012" y="2772833"/>
                  </a:cubicBezTo>
                  <a:lnTo>
                    <a:pt x="0" y="27728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4A5C">
                <a:alpha val="30196"/>
              </a:srgbClr>
            </a:solidFill>
          </p:spPr>
        </p:sp>
        <p:sp>
          <p:nvSpPr>
            <p:cNvPr id="11" name="Shape 9"/>
            <p:cNvSpPr/>
            <p:nvPr/>
          </p:nvSpPr>
          <p:spPr>
            <a:xfrm flipH="1">
              <a:off x="679" y="4733"/>
              <a:ext cx="120" cy="3269"/>
            </a:xfrm>
            <a:custGeom>
              <a:avLst/>
              <a:gdLst/>
              <a:ahLst/>
              <a:cxnLst/>
              <a:rect l="l" t="t" r="r" b="b"/>
              <a:pathLst>
                <a:path w="42333" h="2772833">
                  <a:moveTo>
                    <a:pt x="0" y="0"/>
                  </a:moveTo>
                  <a:lnTo>
                    <a:pt x="42333" y="0"/>
                  </a:lnTo>
                  <a:lnTo>
                    <a:pt x="42333" y="2772833"/>
                  </a:lnTo>
                  <a:lnTo>
                    <a:pt x="0" y="27728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B7280"/>
            </a:solidFill>
          </p:spPr>
        </p:sp>
        <p:sp>
          <p:nvSpPr>
            <p:cNvPr id="12" name="Shape 10"/>
            <p:cNvSpPr/>
            <p:nvPr/>
          </p:nvSpPr>
          <p:spPr>
            <a:xfrm>
              <a:off x="1025" y="5033"/>
              <a:ext cx="450" cy="400"/>
            </a:xfrm>
            <a:custGeom>
              <a:avLst/>
              <a:gdLst/>
              <a:ahLst/>
              <a:cxnLst/>
              <a:rect l="l" t="t" r="r" b="b"/>
              <a:pathLst>
                <a:path w="285750" h="254000">
                  <a:moveTo>
                    <a:pt x="178991" y="595"/>
                  </a:moveTo>
                  <a:cubicBezTo>
                    <a:pt x="170557" y="-1836"/>
                    <a:pt x="161776" y="3076"/>
                    <a:pt x="159345" y="11509"/>
                  </a:cubicBezTo>
                  <a:lnTo>
                    <a:pt x="95845" y="233759"/>
                  </a:lnTo>
                  <a:cubicBezTo>
                    <a:pt x="93414" y="242193"/>
                    <a:pt x="98326" y="250974"/>
                    <a:pt x="106759" y="253405"/>
                  </a:cubicBezTo>
                  <a:cubicBezTo>
                    <a:pt x="115193" y="255836"/>
                    <a:pt x="123974" y="250924"/>
                    <a:pt x="126405" y="242491"/>
                  </a:cubicBezTo>
                  <a:lnTo>
                    <a:pt x="189905" y="20241"/>
                  </a:lnTo>
                  <a:cubicBezTo>
                    <a:pt x="192336" y="11807"/>
                    <a:pt x="187424" y="3026"/>
                    <a:pt x="178991" y="595"/>
                  </a:cubicBezTo>
                  <a:close/>
                  <a:moveTo>
                    <a:pt x="211038" y="68114"/>
                  </a:moveTo>
                  <a:cubicBezTo>
                    <a:pt x="204837" y="74315"/>
                    <a:pt x="204837" y="84386"/>
                    <a:pt x="211038" y="90587"/>
                  </a:cubicBezTo>
                  <a:lnTo>
                    <a:pt x="247452" y="127000"/>
                  </a:lnTo>
                  <a:lnTo>
                    <a:pt x="211038" y="163413"/>
                  </a:lnTo>
                  <a:cubicBezTo>
                    <a:pt x="204837" y="169614"/>
                    <a:pt x="204837" y="179685"/>
                    <a:pt x="211038" y="185886"/>
                  </a:cubicBezTo>
                  <a:cubicBezTo>
                    <a:pt x="217239" y="192087"/>
                    <a:pt x="227310" y="192087"/>
                    <a:pt x="233511" y="185886"/>
                  </a:cubicBezTo>
                  <a:lnTo>
                    <a:pt x="281136" y="138261"/>
                  </a:lnTo>
                  <a:cubicBezTo>
                    <a:pt x="287338" y="132060"/>
                    <a:pt x="287338" y="121989"/>
                    <a:pt x="281136" y="115788"/>
                  </a:cubicBezTo>
                  <a:lnTo>
                    <a:pt x="233511" y="68163"/>
                  </a:lnTo>
                  <a:cubicBezTo>
                    <a:pt x="227310" y="61962"/>
                    <a:pt x="217239" y="61962"/>
                    <a:pt x="211038" y="68163"/>
                  </a:cubicBezTo>
                  <a:close/>
                  <a:moveTo>
                    <a:pt x="74761" y="68114"/>
                  </a:moveTo>
                  <a:cubicBezTo>
                    <a:pt x="68560" y="61912"/>
                    <a:pt x="58489" y="61912"/>
                    <a:pt x="52288" y="68114"/>
                  </a:cubicBezTo>
                  <a:lnTo>
                    <a:pt x="4663" y="115739"/>
                  </a:lnTo>
                  <a:cubicBezTo>
                    <a:pt x="-1538" y="121940"/>
                    <a:pt x="-1538" y="132011"/>
                    <a:pt x="4663" y="138212"/>
                  </a:cubicBezTo>
                  <a:lnTo>
                    <a:pt x="52288" y="185837"/>
                  </a:lnTo>
                  <a:cubicBezTo>
                    <a:pt x="58489" y="192038"/>
                    <a:pt x="68560" y="192038"/>
                    <a:pt x="74761" y="185837"/>
                  </a:cubicBezTo>
                  <a:cubicBezTo>
                    <a:pt x="80962" y="179636"/>
                    <a:pt x="80962" y="169565"/>
                    <a:pt x="74761" y="163364"/>
                  </a:cubicBezTo>
                  <a:lnTo>
                    <a:pt x="38348" y="127000"/>
                  </a:lnTo>
                  <a:lnTo>
                    <a:pt x="74712" y="90587"/>
                  </a:lnTo>
                  <a:cubicBezTo>
                    <a:pt x="80913" y="84386"/>
                    <a:pt x="80913" y="74315"/>
                    <a:pt x="74712" y="68114"/>
                  </a:cubicBezTo>
                  <a:close/>
                </a:path>
              </a:pathLst>
            </a:custGeom>
            <a:solidFill>
              <a:srgbClr val="6B7280"/>
            </a:solidFill>
          </p:spPr>
        </p:sp>
        <p:sp>
          <p:nvSpPr>
            <p:cNvPr id="13" name="Text 11"/>
            <p:cNvSpPr/>
            <p:nvPr/>
          </p:nvSpPr>
          <p:spPr>
            <a:xfrm>
              <a:off x="1700" y="5000"/>
              <a:ext cx="2167" cy="46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665" b="1" dirty="0">
                  <a:solidFill>
                    <a:srgbClr val="E5E7EB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向量时钟结构</a:t>
              </a:r>
              <a:endParaRPr lang="en-US" sz="16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1000" y="5667"/>
              <a:ext cx="11367" cy="1134"/>
            </a:xfrm>
            <a:custGeom>
              <a:avLst/>
              <a:gdLst/>
              <a:ahLst/>
              <a:cxnLst/>
              <a:rect l="l" t="t" r="r" b="b"/>
              <a:pathLst>
                <a:path w="7217833" h="1714500">
                  <a:moveTo>
                    <a:pt x="84662" y="0"/>
                  </a:moveTo>
                  <a:lnTo>
                    <a:pt x="7133171" y="0"/>
                  </a:lnTo>
                  <a:cubicBezTo>
                    <a:pt x="7179929" y="0"/>
                    <a:pt x="7217833" y="37904"/>
                    <a:pt x="7217833" y="84662"/>
                  </a:cubicBezTo>
                  <a:lnTo>
                    <a:pt x="7217833" y="1629838"/>
                  </a:lnTo>
                  <a:cubicBezTo>
                    <a:pt x="7217833" y="1676596"/>
                    <a:pt x="7179929" y="1714500"/>
                    <a:pt x="7133171" y="1714500"/>
                  </a:cubicBezTo>
                  <a:lnTo>
                    <a:pt x="84662" y="1714500"/>
                  </a:lnTo>
                  <a:cubicBezTo>
                    <a:pt x="37904" y="1714500"/>
                    <a:pt x="0" y="1676596"/>
                    <a:pt x="0" y="1629838"/>
                  </a:cubicBezTo>
                  <a:lnTo>
                    <a:pt x="0" y="84662"/>
                  </a:lnTo>
                  <a:cubicBezTo>
                    <a:pt x="0" y="37936"/>
                    <a:pt x="37936" y="0"/>
                    <a:pt x="84662" y="0"/>
                  </a:cubicBezTo>
                  <a:close/>
                </a:path>
              </a:pathLst>
            </a:custGeom>
            <a:solidFill>
              <a:srgbClr val="1A1D21">
                <a:alpha val="70196"/>
              </a:srgbClr>
            </a:solidFill>
          </p:spPr>
        </p:sp>
        <p:sp>
          <p:nvSpPr>
            <p:cNvPr id="15" name="Text 13"/>
            <p:cNvSpPr/>
            <p:nvPr/>
          </p:nvSpPr>
          <p:spPr>
            <a:xfrm>
              <a:off x="1267" y="5933"/>
              <a:ext cx="10967" cy="4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35" dirty="0">
                  <a:solidFill>
                    <a:srgbClr val="E5E7EB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v_clock =</a:t>
              </a:r>
              <a:endParaRPr lang="en-US" sz="16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2773" y="5667"/>
              <a:ext cx="4426" cy="134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35" dirty="0">
                  <a:solidFill>
                    <a:schemeClr val="bg1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{ "N": 5, // North </a:t>
              </a:r>
              <a:r>
                <a:rPr lang="zh-CN" altLang="en-US" sz="1335" dirty="0">
                  <a:solidFill>
                    <a:schemeClr val="bg1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版本</a:t>
              </a:r>
              <a:r>
                <a:rPr lang="en-US" sz="1335" dirty="0">
                  <a:solidFill>
                    <a:schemeClr val="bg1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计数 </a:t>
              </a:r>
              <a:endParaRPr lang="en-US" sz="1335" dirty="0">
                <a:solidFill>
                  <a:schemeClr val="bg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endParaRPr>
            </a:p>
            <a:p>
              <a:pPr>
                <a:lnSpc>
                  <a:spcPct val="130000"/>
                </a:lnSpc>
              </a:pPr>
              <a:r>
                <a:rPr lang="en-US" sz="1335" dirty="0">
                  <a:solidFill>
                    <a:schemeClr val="bg1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"S": 3 // South </a:t>
              </a:r>
              <a:r>
                <a:rPr lang="zh-CN" altLang="en-US" sz="1335" dirty="0">
                  <a:solidFill>
                    <a:schemeClr val="bg1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版本</a:t>
              </a:r>
              <a:r>
                <a:rPr lang="en-US" sz="1335" dirty="0">
                  <a:solidFill>
                    <a:schemeClr val="bg1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计数 }</a:t>
              </a:r>
              <a:endParaRPr lang="en-US" sz="1335" dirty="0">
                <a:solidFill>
                  <a:schemeClr val="bg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endParaRPr>
            </a:p>
          </p:txBody>
        </p:sp>
        <p:sp>
          <p:nvSpPr>
            <p:cNvPr id="17" name="Shape 15"/>
            <p:cNvSpPr/>
            <p:nvPr/>
          </p:nvSpPr>
          <p:spPr>
            <a:xfrm>
              <a:off x="1000" y="7700"/>
              <a:ext cx="233" cy="233"/>
            </a:xfrm>
            <a:custGeom>
              <a:avLst/>
              <a:gdLst/>
              <a:ahLst/>
              <a:cxnLst/>
              <a:rect l="l" t="t" r="r" b="b"/>
              <a:pathLst>
                <a:path w="148167" h="148167">
                  <a:moveTo>
                    <a:pt x="74083" y="148167"/>
                  </a:moveTo>
                  <a:cubicBezTo>
                    <a:pt x="114971" y="148167"/>
                    <a:pt x="148167" y="114971"/>
                    <a:pt x="148167" y="74083"/>
                  </a:cubicBezTo>
                  <a:cubicBezTo>
                    <a:pt x="148167" y="33196"/>
                    <a:pt x="114971" y="0"/>
                    <a:pt x="74083" y="0"/>
                  </a:cubicBezTo>
                  <a:cubicBezTo>
                    <a:pt x="33196" y="0"/>
                    <a:pt x="0" y="33196"/>
                    <a:pt x="0" y="74083"/>
                  </a:cubicBezTo>
                  <a:cubicBezTo>
                    <a:pt x="0" y="114971"/>
                    <a:pt x="33196" y="148167"/>
                    <a:pt x="74083" y="148167"/>
                  </a:cubicBezTo>
                  <a:close/>
                  <a:moveTo>
                    <a:pt x="64823" y="46302"/>
                  </a:moveTo>
                  <a:cubicBezTo>
                    <a:pt x="64823" y="41191"/>
                    <a:pt x="68972" y="37042"/>
                    <a:pt x="74083" y="37042"/>
                  </a:cubicBezTo>
                  <a:cubicBezTo>
                    <a:pt x="79194" y="37042"/>
                    <a:pt x="83344" y="41191"/>
                    <a:pt x="83344" y="46302"/>
                  </a:cubicBezTo>
                  <a:cubicBezTo>
                    <a:pt x="83344" y="51413"/>
                    <a:pt x="79194" y="55562"/>
                    <a:pt x="74083" y="55562"/>
                  </a:cubicBezTo>
                  <a:cubicBezTo>
                    <a:pt x="68972" y="55562"/>
                    <a:pt x="64823" y="51413"/>
                    <a:pt x="64823" y="46302"/>
                  </a:cubicBezTo>
                  <a:close/>
                  <a:moveTo>
                    <a:pt x="62508" y="64823"/>
                  </a:moveTo>
                  <a:lnTo>
                    <a:pt x="76398" y="64823"/>
                  </a:lnTo>
                  <a:cubicBezTo>
                    <a:pt x="80247" y="64823"/>
                    <a:pt x="83344" y="67919"/>
                    <a:pt x="83344" y="71768"/>
                  </a:cubicBezTo>
                  <a:lnTo>
                    <a:pt x="83344" y="97234"/>
                  </a:lnTo>
                  <a:lnTo>
                    <a:pt x="85659" y="97234"/>
                  </a:lnTo>
                  <a:cubicBezTo>
                    <a:pt x="89508" y="97234"/>
                    <a:pt x="92604" y="100331"/>
                    <a:pt x="92604" y="104180"/>
                  </a:cubicBezTo>
                  <a:cubicBezTo>
                    <a:pt x="92604" y="108029"/>
                    <a:pt x="89508" y="111125"/>
                    <a:pt x="85659" y="111125"/>
                  </a:cubicBezTo>
                  <a:lnTo>
                    <a:pt x="62508" y="111125"/>
                  </a:lnTo>
                  <a:cubicBezTo>
                    <a:pt x="58659" y="111125"/>
                    <a:pt x="55562" y="108029"/>
                    <a:pt x="55562" y="104180"/>
                  </a:cubicBezTo>
                  <a:cubicBezTo>
                    <a:pt x="55562" y="100331"/>
                    <a:pt x="58659" y="97234"/>
                    <a:pt x="62508" y="97234"/>
                  </a:cubicBezTo>
                  <a:lnTo>
                    <a:pt x="69453" y="97234"/>
                  </a:lnTo>
                  <a:lnTo>
                    <a:pt x="69453" y="78714"/>
                  </a:lnTo>
                  <a:lnTo>
                    <a:pt x="62508" y="78714"/>
                  </a:lnTo>
                  <a:cubicBezTo>
                    <a:pt x="58659" y="78714"/>
                    <a:pt x="55562" y="75617"/>
                    <a:pt x="55562" y="71768"/>
                  </a:cubicBezTo>
                  <a:cubicBezTo>
                    <a:pt x="55562" y="67919"/>
                    <a:pt x="58659" y="64823"/>
                    <a:pt x="62508" y="64823"/>
                  </a:cubicBezTo>
                  <a:close/>
                </a:path>
              </a:pathLst>
            </a:custGeom>
            <a:solidFill>
              <a:srgbClr val="4F9A94"/>
            </a:solidFill>
          </p:spPr>
        </p:sp>
        <p:sp>
          <p:nvSpPr>
            <p:cNvPr id="18" name="Text 16"/>
            <p:cNvSpPr/>
            <p:nvPr/>
          </p:nvSpPr>
          <p:spPr>
            <a:xfrm>
              <a:off x="1378" y="7663"/>
              <a:ext cx="11072" cy="33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600" dirty="0">
                  <a:solidFill>
                    <a:schemeClr val="bg1"/>
                  </a:solidFill>
                </a:rPr>
                <a:t>N</a:t>
              </a:r>
              <a:r>
                <a:rPr lang="zh-CN" altLang="en-US" sz="1600" dirty="0">
                  <a:solidFill>
                    <a:schemeClr val="bg1"/>
                  </a:solidFill>
                </a:rPr>
                <a:t>：本部</a:t>
              </a:r>
              <a:r>
                <a:rPr lang="en-US" altLang="zh-CN" sz="1600" dirty="0">
                  <a:solidFill>
                    <a:schemeClr val="bg1"/>
                  </a:solidFill>
                </a:rPr>
                <a:t> S</a:t>
              </a:r>
              <a:r>
                <a:rPr lang="zh-CN" altLang="en-US" sz="1600" dirty="0">
                  <a:solidFill>
                    <a:schemeClr val="bg1"/>
                  </a:solidFill>
                </a:rPr>
                <a:t>：南校</a:t>
              </a:r>
              <a:endParaRPr lang="zh-CN" altLang="en-US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62" name="组合 61"/>
          <p:cNvGrpSpPr/>
          <p:nvPr/>
        </p:nvGrpSpPr>
        <p:grpSpPr>
          <a:xfrm>
            <a:off x="478790" y="7711440"/>
            <a:ext cx="7586980" cy="1003300"/>
            <a:chOff x="674" y="9370"/>
            <a:chExt cx="11948" cy="1580"/>
          </a:xfrm>
        </p:grpSpPr>
        <p:sp>
          <p:nvSpPr>
            <p:cNvPr id="19" name="Shape 17"/>
            <p:cNvSpPr/>
            <p:nvPr/>
          </p:nvSpPr>
          <p:spPr>
            <a:xfrm>
              <a:off x="674" y="9370"/>
              <a:ext cx="11948" cy="1581"/>
            </a:xfrm>
            <a:custGeom>
              <a:avLst/>
              <a:gdLst/>
              <a:ahLst/>
              <a:cxnLst/>
              <a:rect l="l" t="t" r="r" b="b"/>
              <a:pathLst>
                <a:path w="7587074" h="1004241">
                  <a:moveTo>
                    <a:pt x="84668" y="0"/>
                  </a:moveTo>
                  <a:lnTo>
                    <a:pt x="7502407" y="0"/>
                  </a:lnTo>
                  <a:cubicBezTo>
                    <a:pt x="7549167" y="0"/>
                    <a:pt x="7587074" y="37907"/>
                    <a:pt x="7587074" y="84668"/>
                  </a:cubicBezTo>
                  <a:lnTo>
                    <a:pt x="7587074" y="919573"/>
                  </a:lnTo>
                  <a:cubicBezTo>
                    <a:pt x="7587074" y="966334"/>
                    <a:pt x="7549167" y="1004241"/>
                    <a:pt x="7502407" y="1004241"/>
                  </a:cubicBezTo>
                  <a:lnTo>
                    <a:pt x="84668" y="1004241"/>
                  </a:lnTo>
                  <a:cubicBezTo>
                    <a:pt x="37938" y="1004241"/>
                    <a:pt x="0" y="966302"/>
                    <a:pt x="0" y="919573"/>
                  </a:cubicBezTo>
                  <a:lnTo>
                    <a:pt x="0" y="84668"/>
                  </a:lnTo>
                  <a:cubicBezTo>
                    <a:pt x="0" y="37938"/>
                    <a:pt x="37938" y="0"/>
                    <a:pt x="84668" y="0"/>
                  </a:cubicBezTo>
                  <a:close/>
                </a:path>
              </a:pathLst>
            </a:custGeom>
            <a:solidFill>
              <a:srgbClr val="4F9A94">
                <a:alpha val="20000"/>
              </a:srgbClr>
            </a:solidFill>
            <a:ln w="11289">
              <a:solidFill>
                <a:srgbClr val="4F9A94"/>
              </a:solidFill>
              <a:prstDash val="solid"/>
            </a:ln>
          </p:spPr>
        </p:sp>
        <p:sp>
          <p:nvSpPr>
            <p:cNvPr id="20" name="Shape 18"/>
            <p:cNvSpPr/>
            <p:nvPr/>
          </p:nvSpPr>
          <p:spPr>
            <a:xfrm>
              <a:off x="1009" y="9728"/>
              <a:ext cx="263" cy="300"/>
            </a:xfrm>
            <a:custGeom>
              <a:avLst/>
              <a:gdLst/>
              <a:ahLst/>
              <a:cxnLst/>
              <a:rect l="l" t="t" r="r" b="b"/>
              <a:pathLst>
                <a:path w="166688" h="190500">
                  <a:moveTo>
                    <a:pt x="166688" y="76572"/>
                  </a:moveTo>
                  <a:cubicBezTo>
                    <a:pt x="161181" y="80218"/>
                    <a:pt x="154856" y="83158"/>
                    <a:pt x="148270" y="85502"/>
                  </a:cubicBezTo>
                  <a:cubicBezTo>
                    <a:pt x="130783" y="91753"/>
                    <a:pt x="107826" y="95250"/>
                    <a:pt x="83344" y="95250"/>
                  </a:cubicBezTo>
                  <a:cubicBezTo>
                    <a:pt x="58862" y="95250"/>
                    <a:pt x="35868" y="91715"/>
                    <a:pt x="18417" y="85502"/>
                  </a:cubicBezTo>
                  <a:cubicBezTo>
                    <a:pt x="11869" y="83158"/>
                    <a:pt x="5507" y="80218"/>
                    <a:pt x="0" y="76572"/>
                  </a:cubicBezTo>
                  <a:lnTo>
                    <a:pt x="0" y="107156"/>
                  </a:lnTo>
                  <a:cubicBezTo>
                    <a:pt x="0" y="123602"/>
                    <a:pt x="37319" y="136922"/>
                    <a:pt x="83344" y="136922"/>
                  </a:cubicBezTo>
                  <a:cubicBezTo>
                    <a:pt x="129369" y="136922"/>
                    <a:pt x="166688" y="123602"/>
                    <a:pt x="166688" y="107156"/>
                  </a:cubicBezTo>
                  <a:lnTo>
                    <a:pt x="166688" y="76572"/>
                  </a:lnTo>
                  <a:close/>
                  <a:moveTo>
                    <a:pt x="166688" y="47625"/>
                  </a:moveTo>
                  <a:lnTo>
                    <a:pt x="166688" y="29766"/>
                  </a:lnTo>
                  <a:cubicBezTo>
                    <a:pt x="166688" y="13320"/>
                    <a:pt x="129369" y="0"/>
                    <a:pt x="83344" y="0"/>
                  </a:cubicBezTo>
                  <a:cubicBezTo>
                    <a:pt x="37319" y="0"/>
                    <a:pt x="0" y="13320"/>
                    <a:pt x="0" y="29766"/>
                  </a:cubicBezTo>
                  <a:lnTo>
                    <a:pt x="0" y="47625"/>
                  </a:lnTo>
                  <a:cubicBezTo>
                    <a:pt x="0" y="64071"/>
                    <a:pt x="37319" y="77391"/>
                    <a:pt x="83344" y="77391"/>
                  </a:cubicBezTo>
                  <a:cubicBezTo>
                    <a:pt x="129369" y="77391"/>
                    <a:pt x="166688" y="64071"/>
                    <a:pt x="166688" y="47625"/>
                  </a:cubicBezTo>
                  <a:close/>
                  <a:moveTo>
                    <a:pt x="148270" y="145033"/>
                  </a:moveTo>
                  <a:cubicBezTo>
                    <a:pt x="130820" y="151247"/>
                    <a:pt x="107863" y="154781"/>
                    <a:pt x="83344" y="154781"/>
                  </a:cubicBezTo>
                  <a:cubicBezTo>
                    <a:pt x="58824" y="154781"/>
                    <a:pt x="35868" y="151247"/>
                    <a:pt x="18417" y="145033"/>
                  </a:cubicBezTo>
                  <a:cubicBezTo>
                    <a:pt x="11869" y="142689"/>
                    <a:pt x="5507" y="139750"/>
                    <a:pt x="0" y="136103"/>
                  </a:cubicBezTo>
                  <a:lnTo>
                    <a:pt x="0" y="160734"/>
                  </a:lnTo>
                  <a:cubicBezTo>
                    <a:pt x="0" y="177180"/>
                    <a:pt x="37319" y="190500"/>
                    <a:pt x="83344" y="190500"/>
                  </a:cubicBezTo>
                  <a:cubicBezTo>
                    <a:pt x="129369" y="190500"/>
                    <a:pt x="166688" y="177180"/>
                    <a:pt x="166688" y="160734"/>
                  </a:cubicBezTo>
                  <a:lnTo>
                    <a:pt x="166688" y="136103"/>
                  </a:lnTo>
                  <a:cubicBezTo>
                    <a:pt x="161181" y="139750"/>
                    <a:pt x="154856" y="142689"/>
                    <a:pt x="148270" y="145033"/>
                  </a:cubicBezTo>
                  <a:close/>
                </a:path>
              </a:pathLst>
            </a:custGeom>
            <a:solidFill>
              <a:srgbClr val="4F9A94"/>
            </a:solidFill>
          </p:spPr>
        </p:sp>
        <p:sp>
          <p:nvSpPr>
            <p:cNvPr id="21" name="Text 19"/>
            <p:cNvSpPr/>
            <p:nvPr/>
          </p:nvSpPr>
          <p:spPr>
            <a:xfrm>
              <a:off x="1331" y="9644"/>
              <a:ext cx="11167" cy="46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500" b="1" dirty="0">
                  <a:solidFill>
                    <a:srgbClr val="4F9A94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落库设计</a:t>
              </a:r>
              <a:endParaRPr lang="en-US" sz="16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948" y="10244"/>
              <a:ext cx="11533" cy="43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en-US" sz="1335" dirty="0">
                  <a:solidFill>
                    <a:srgbClr val="E5E7EB">
                      <a:alpha val="90000"/>
                    </a:srgbClr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冲突快照写入 Hub 的</a:t>
              </a:r>
              <a:r>
                <a:rPr lang="en-US" sz="1335" b="1" dirty="0">
                  <a:solidFill>
                    <a:srgbClr val="4F9A94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conflict_records</a:t>
              </a:r>
              <a:r>
                <a:rPr lang="en-US" sz="1335" dirty="0">
                  <a:solidFill>
                    <a:srgbClr val="E5E7EB">
                      <a:alpha val="90000"/>
                    </a:srgbClr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表，并</a:t>
              </a:r>
              <a:r>
                <a:rPr lang="en-US" sz="1335" b="1" dirty="0">
                  <a:solidFill>
                    <a:srgbClr val="4F9A94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停止同步该行</a:t>
              </a:r>
              <a:r>
                <a:rPr lang="en-US" sz="1335" dirty="0">
                  <a:solidFill>
                    <a:srgbClr val="E5E7EB">
                      <a:alpha val="90000"/>
                    </a:srgbClr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，等待人工介入处理。</a:t>
              </a:r>
              <a:endParaRPr lang="en-US" sz="1600" dirty="0"/>
            </a:p>
          </p:txBody>
        </p:sp>
      </p:grpSp>
      <p:grpSp>
        <p:nvGrpSpPr>
          <p:cNvPr id="56" name="组合 55"/>
          <p:cNvGrpSpPr/>
          <p:nvPr/>
        </p:nvGrpSpPr>
        <p:grpSpPr>
          <a:xfrm>
            <a:off x="456565" y="4657090"/>
            <a:ext cx="7586345" cy="2766060"/>
            <a:chOff x="13000" y="2400"/>
            <a:chExt cx="11932" cy="6732"/>
          </a:xfrm>
        </p:grpSpPr>
        <p:sp>
          <p:nvSpPr>
            <p:cNvPr id="23" name="Shape 21"/>
            <p:cNvSpPr/>
            <p:nvPr/>
          </p:nvSpPr>
          <p:spPr>
            <a:xfrm>
              <a:off x="13000" y="2400"/>
              <a:ext cx="11933" cy="6733"/>
            </a:xfrm>
            <a:custGeom>
              <a:avLst/>
              <a:gdLst/>
              <a:ahLst/>
              <a:cxnLst/>
              <a:rect l="l" t="t" r="r" b="b"/>
              <a:pathLst>
                <a:path w="7577667" h="4275667">
                  <a:moveTo>
                    <a:pt x="0" y="0"/>
                  </a:moveTo>
                  <a:lnTo>
                    <a:pt x="7493008" y="0"/>
                  </a:lnTo>
                  <a:cubicBezTo>
                    <a:pt x="7539764" y="0"/>
                    <a:pt x="7577667" y="37903"/>
                    <a:pt x="7577667" y="84658"/>
                  </a:cubicBezTo>
                  <a:lnTo>
                    <a:pt x="7577667" y="4191008"/>
                  </a:lnTo>
                  <a:cubicBezTo>
                    <a:pt x="7577667" y="4237764"/>
                    <a:pt x="7539764" y="4275667"/>
                    <a:pt x="7493008" y="4275667"/>
                  </a:cubicBezTo>
                  <a:lnTo>
                    <a:pt x="0" y="42756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4A5C">
                <a:alpha val="30196"/>
              </a:srgbClr>
            </a:solidFill>
          </p:spPr>
        </p:sp>
        <p:sp>
          <p:nvSpPr>
            <p:cNvPr id="24" name="Shape 22"/>
            <p:cNvSpPr/>
            <p:nvPr/>
          </p:nvSpPr>
          <p:spPr>
            <a:xfrm>
              <a:off x="13000" y="2400"/>
              <a:ext cx="67" cy="6733"/>
            </a:xfrm>
            <a:custGeom>
              <a:avLst/>
              <a:gdLst/>
              <a:ahLst/>
              <a:cxnLst/>
              <a:rect l="l" t="t" r="r" b="b"/>
              <a:pathLst>
                <a:path w="42333" h="4275667">
                  <a:moveTo>
                    <a:pt x="0" y="0"/>
                  </a:moveTo>
                  <a:lnTo>
                    <a:pt x="42333" y="0"/>
                  </a:lnTo>
                  <a:lnTo>
                    <a:pt x="42333" y="4275667"/>
                  </a:lnTo>
                  <a:lnTo>
                    <a:pt x="0" y="42756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9A94"/>
            </a:solidFill>
          </p:spPr>
        </p:sp>
        <p:sp>
          <p:nvSpPr>
            <p:cNvPr id="25" name="Shape 23"/>
            <p:cNvSpPr/>
            <p:nvPr/>
          </p:nvSpPr>
          <p:spPr>
            <a:xfrm>
              <a:off x="13300" y="2700"/>
              <a:ext cx="500" cy="400"/>
            </a:xfrm>
            <a:custGeom>
              <a:avLst/>
              <a:gdLst/>
              <a:ahLst/>
              <a:cxnLst/>
              <a:rect l="l" t="t" r="r" b="b"/>
              <a:pathLst>
                <a:path w="317500" h="254000">
                  <a:moveTo>
                    <a:pt x="190500" y="15875"/>
                  </a:moveTo>
                  <a:lnTo>
                    <a:pt x="254000" y="15875"/>
                  </a:lnTo>
                  <a:cubicBezTo>
                    <a:pt x="262781" y="15875"/>
                    <a:pt x="269875" y="22969"/>
                    <a:pt x="269875" y="31750"/>
                  </a:cubicBezTo>
                  <a:cubicBezTo>
                    <a:pt x="269875" y="40531"/>
                    <a:pt x="262781" y="47625"/>
                    <a:pt x="254000" y="47625"/>
                  </a:cubicBezTo>
                  <a:lnTo>
                    <a:pt x="197644" y="47625"/>
                  </a:lnTo>
                  <a:cubicBezTo>
                    <a:pt x="195064" y="60424"/>
                    <a:pt x="186283" y="70991"/>
                    <a:pt x="174625" y="76051"/>
                  </a:cubicBezTo>
                  <a:lnTo>
                    <a:pt x="174625" y="222250"/>
                  </a:lnTo>
                  <a:lnTo>
                    <a:pt x="254000" y="222250"/>
                  </a:lnTo>
                  <a:cubicBezTo>
                    <a:pt x="262781" y="222250"/>
                    <a:pt x="269875" y="229344"/>
                    <a:pt x="269875" y="238125"/>
                  </a:cubicBezTo>
                  <a:cubicBezTo>
                    <a:pt x="269875" y="246906"/>
                    <a:pt x="262781" y="254000"/>
                    <a:pt x="254000" y="254000"/>
                  </a:cubicBezTo>
                  <a:lnTo>
                    <a:pt x="63500" y="254000"/>
                  </a:lnTo>
                  <a:cubicBezTo>
                    <a:pt x="54719" y="254000"/>
                    <a:pt x="47625" y="246906"/>
                    <a:pt x="47625" y="238125"/>
                  </a:cubicBezTo>
                  <a:cubicBezTo>
                    <a:pt x="47625" y="229344"/>
                    <a:pt x="54719" y="222250"/>
                    <a:pt x="63500" y="222250"/>
                  </a:cubicBezTo>
                  <a:lnTo>
                    <a:pt x="142875" y="222250"/>
                  </a:lnTo>
                  <a:lnTo>
                    <a:pt x="142875" y="76051"/>
                  </a:lnTo>
                  <a:cubicBezTo>
                    <a:pt x="131217" y="70941"/>
                    <a:pt x="122436" y="60375"/>
                    <a:pt x="119856" y="47625"/>
                  </a:cubicBezTo>
                  <a:lnTo>
                    <a:pt x="63500" y="47625"/>
                  </a:lnTo>
                  <a:cubicBezTo>
                    <a:pt x="54719" y="47625"/>
                    <a:pt x="47625" y="40531"/>
                    <a:pt x="47625" y="31750"/>
                  </a:cubicBezTo>
                  <a:cubicBezTo>
                    <a:pt x="47625" y="22969"/>
                    <a:pt x="54719" y="15875"/>
                    <a:pt x="63500" y="15875"/>
                  </a:cubicBezTo>
                  <a:lnTo>
                    <a:pt x="127000" y="15875"/>
                  </a:lnTo>
                  <a:cubicBezTo>
                    <a:pt x="134243" y="6251"/>
                    <a:pt x="145752" y="0"/>
                    <a:pt x="158750" y="0"/>
                  </a:cubicBezTo>
                  <a:cubicBezTo>
                    <a:pt x="171748" y="0"/>
                    <a:pt x="183257" y="6251"/>
                    <a:pt x="190500" y="15875"/>
                  </a:cubicBezTo>
                  <a:close/>
                  <a:moveTo>
                    <a:pt x="218083" y="158750"/>
                  </a:moveTo>
                  <a:lnTo>
                    <a:pt x="289917" y="158750"/>
                  </a:lnTo>
                  <a:lnTo>
                    <a:pt x="254000" y="97135"/>
                  </a:lnTo>
                  <a:lnTo>
                    <a:pt x="218083" y="158750"/>
                  </a:lnTo>
                  <a:close/>
                  <a:moveTo>
                    <a:pt x="254000" y="206375"/>
                  </a:moveTo>
                  <a:cubicBezTo>
                    <a:pt x="222796" y="206375"/>
                    <a:pt x="196850" y="189508"/>
                    <a:pt x="191492" y="167233"/>
                  </a:cubicBezTo>
                  <a:cubicBezTo>
                    <a:pt x="190202" y="161776"/>
                    <a:pt x="191988" y="156170"/>
                    <a:pt x="194816" y="151309"/>
                  </a:cubicBezTo>
                  <a:lnTo>
                    <a:pt x="242044" y="70346"/>
                  </a:lnTo>
                  <a:cubicBezTo>
                    <a:pt x="244525" y="66080"/>
                    <a:pt x="249089" y="63500"/>
                    <a:pt x="254000" y="63500"/>
                  </a:cubicBezTo>
                  <a:cubicBezTo>
                    <a:pt x="258911" y="63500"/>
                    <a:pt x="263475" y="66129"/>
                    <a:pt x="265956" y="70346"/>
                  </a:cubicBezTo>
                  <a:lnTo>
                    <a:pt x="313184" y="151309"/>
                  </a:lnTo>
                  <a:cubicBezTo>
                    <a:pt x="316012" y="156170"/>
                    <a:pt x="317798" y="161776"/>
                    <a:pt x="316508" y="167233"/>
                  </a:cubicBezTo>
                  <a:cubicBezTo>
                    <a:pt x="311150" y="189458"/>
                    <a:pt x="285204" y="206375"/>
                    <a:pt x="254000" y="206375"/>
                  </a:cubicBezTo>
                  <a:close/>
                  <a:moveTo>
                    <a:pt x="62905" y="97135"/>
                  </a:moveTo>
                  <a:lnTo>
                    <a:pt x="26988" y="158750"/>
                  </a:lnTo>
                  <a:lnTo>
                    <a:pt x="98871" y="158750"/>
                  </a:lnTo>
                  <a:lnTo>
                    <a:pt x="62905" y="97135"/>
                  </a:lnTo>
                  <a:close/>
                  <a:moveTo>
                    <a:pt x="446" y="167233"/>
                  </a:moveTo>
                  <a:cubicBezTo>
                    <a:pt x="-843" y="161776"/>
                    <a:pt x="943" y="156170"/>
                    <a:pt x="3770" y="151309"/>
                  </a:cubicBezTo>
                  <a:lnTo>
                    <a:pt x="50998" y="70346"/>
                  </a:lnTo>
                  <a:cubicBezTo>
                    <a:pt x="53479" y="66080"/>
                    <a:pt x="58043" y="63500"/>
                    <a:pt x="62954" y="63500"/>
                  </a:cubicBezTo>
                  <a:cubicBezTo>
                    <a:pt x="67866" y="63500"/>
                    <a:pt x="72430" y="66129"/>
                    <a:pt x="74910" y="70346"/>
                  </a:cubicBezTo>
                  <a:lnTo>
                    <a:pt x="122138" y="151309"/>
                  </a:lnTo>
                  <a:cubicBezTo>
                    <a:pt x="124966" y="156170"/>
                    <a:pt x="126752" y="161776"/>
                    <a:pt x="125462" y="167233"/>
                  </a:cubicBezTo>
                  <a:cubicBezTo>
                    <a:pt x="120104" y="189458"/>
                    <a:pt x="94159" y="206375"/>
                    <a:pt x="62954" y="206375"/>
                  </a:cubicBezTo>
                  <a:cubicBezTo>
                    <a:pt x="31750" y="206375"/>
                    <a:pt x="5804" y="189508"/>
                    <a:pt x="446" y="167233"/>
                  </a:cubicBezTo>
                  <a:close/>
                </a:path>
              </a:pathLst>
            </a:custGeom>
            <a:solidFill>
              <a:srgbClr val="4F9A94"/>
            </a:solidFill>
          </p:spPr>
        </p:sp>
        <p:sp>
          <p:nvSpPr>
            <p:cNvPr id="26" name="Text 24"/>
            <p:cNvSpPr/>
            <p:nvPr/>
          </p:nvSpPr>
          <p:spPr>
            <a:xfrm>
              <a:off x="14000" y="2667"/>
              <a:ext cx="1500" cy="46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665" b="1" dirty="0">
                  <a:solidFill>
                    <a:srgbClr val="E5E7EB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判定逻辑</a:t>
              </a:r>
              <a:endParaRPr lang="en-US" sz="160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13300" y="3333"/>
              <a:ext cx="11367" cy="2667"/>
            </a:xfrm>
            <a:custGeom>
              <a:avLst/>
              <a:gdLst/>
              <a:ahLst/>
              <a:cxnLst/>
              <a:rect l="l" t="t" r="r" b="b"/>
              <a:pathLst>
                <a:path w="7217833" h="1693333">
                  <a:moveTo>
                    <a:pt x="84667" y="0"/>
                  </a:moveTo>
                  <a:lnTo>
                    <a:pt x="7133167" y="0"/>
                  </a:lnTo>
                  <a:cubicBezTo>
                    <a:pt x="7179927" y="0"/>
                    <a:pt x="7217833" y="37907"/>
                    <a:pt x="7217833" y="84667"/>
                  </a:cubicBezTo>
                  <a:lnTo>
                    <a:pt x="7217833" y="1608667"/>
                  </a:lnTo>
                  <a:cubicBezTo>
                    <a:pt x="7217833" y="1655427"/>
                    <a:pt x="7179927" y="1693333"/>
                    <a:pt x="7133167" y="1693333"/>
                  </a:cubicBezTo>
                  <a:lnTo>
                    <a:pt x="84667" y="1693333"/>
                  </a:lnTo>
                  <a:cubicBezTo>
                    <a:pt x="37907" y="1693333"/>
                    <a:pt x="0" y="1655427"/>
                    <a:pt x="0" y="1608667"/>
                  </a:cubicBezTo>
                  <a:lnTo>
                    <a:pt x="0" y="84667"/>
                  </a:lnTo>
                  <a:cubicBezTo>
                    <a:pt x="0" y="37907"/>
                    <a:pt x="37907" y="0"/>
                    <a:pt x="84667" y="0"/>
                  </a:cubicBezTo>
                  <a:close/>
                </a:path>
              </a:pathLst>
            </a:custGeom>
            <a:solidFill>
              <a:srgbClr val="1A1D21">
                <a:alpha val="70196"/>
              </a:srgbClr>
            </a:solidFill>
          </p:spPr>
        </p:sp>
        <p:sp>
          <p:nvSpPr>
            <p:cNvPr id="28" name="Shape 26"/>
            <p:cNvSpPr/>
            <p:nvPr/>
          </p:nvSpPr>
          <p:spPr>
            <a:xfrm>
              <a:off x="13567" y="3600"/>
              <a:ext cx="200" cy="267"/>
            </a:xfrm>
            <a:custGeom>
              <a:avLst/>
              <a:gdLst/>
              <a:ahLst/>
              <a:cxnLst/>
              <a:rect l="l" t="t" r="r" b="b"/>
              <a:pathLst>
                <a:path w="127000" h="169333">
                  <a:moveTo>
                    <a:pt x="70974" y="5755"/>
                  </a:moveTo>
                  <a:cubicBezTo>
                    <a:pt x="66840" y="1621"/>
                    <a:pt x="60127" y="1621"/>
                    <a:pt x="55992" y="5755"/>
                  </a:cubicBezTo>
                  <a:lnTo>
                    <a:pt x="3076" y="58671"/>
                  </a:lnTo>
                  <a:cubicBezTo>
                    <a:pt x="-1058" y="62805"/>
                    <a:pt x="-1058" y="69519"/>
                    <a:pt x="3076" y="73653"/>
                  </a:cubicBezTo>
                  <a:cubicBezTo>
                    <a:pt x="7210" y="77788"/>
                    <a:pt x="13924" y="77788"/>
                    <a:pt x="18058" y="73653"/>
                  </a:cubicBezTo>
                  <a:lnTo>
                    <a:pt x="52917" y="38795"/>
                  </a:lnTo>
                  <a:lnTo>
                    <a:pt x="52917" y="161396"/>
                  </a:lnTo>
                  <a:cubicBezTo>
                    <a:pt x="52917" y="167250"/>
                    <a:pt x="57646" y="171979"/>
                    <a:pt x="63500" y="171979"/>
                  </a:cubicBezTo>
                  <a:cubicBezTo>
                    <a:pt x="69354" y="171979"/>
                    <a:pt x="74083" y="167250"/>
                    <a:pt x="74083" y="161396"/>
                  </a:cubicBezTo>
                  <a:lnTo>
                    <a:pt x="74083" y="38795"/>
                  </a:lnTo>
                  <a:lnTo>
                    <a:pt x="108942" y="73653"/>
                  </a:lnTo>
                  <a:cubicBezTo>
                    <a:pt x="113076" y="77788"/>
                    <a:pt x="119790" y="77788"/>
                    <a:pt x="123924" y="73653"/>
                  </a:cubicBezTo>
                  <a:cubicBezTo>
                    <a:pt x="128058" y="69519"/>
                    <a:pt x="128058" y="62805"/>
                    <a:pt x="123924" y="58671"/>
                  </a:cubicBezTo>
                  <a:lnTo>
                    <a:pt x="71008" y="5755"/>
                  </a:lnTo>
                  <a:close/>
                </a:path>
              </a:pathLst>
            </a:custGeom>
            <a:solidFill>
              <a:srgbClr val="4F9A94"/>
            </a:solidFill>
          </p:spPr>
        </p:sp>
        <p:sp>
          <p:nvSpPr>
            <p:cNvPr id="29" name="Text 27"/>
            <p:cNvSpPr/>
            <p:nvPr/>
          </p:nvSpPr>
          <p:spPr>
            <a:xfrm>
              <a:off x="13833" y="3533"/>
              <a:ext cx="10767" cy="4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35" b="1" dirty="0">
                  <a:solidFill>
                    <a:srgbClr val="4F9A94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支配（Dominance）</a:t>
              </a:r>
              <a:endParaRPr lang="en-US" sz="1600" dirty="0"/>
            </a:p>
          </p:txBody>
        </p:sp>
        <p:sp>
          <p:nvSpPr>
            <p:cNvPr id="30" name="Text 28"/>
            <p:cNvSpPr/>
            <p:nvPr/>
          </p:nvSpPr>
          <p:spPr>
            <a:xfrm>
              <a:off x="13500" y="4067"/>
              <a:ext cx="11083" cy="33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165" dirty="0">
                  <a:solidFill>
                    <a:srgbClr val="E5E7EB">
                      <a:alpha val="90000"/>
                    </a:srgbClr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当 V_new &gt; V_old 时，安全覆盖</a:t>
              </a:r>
              <a:endParaRPr lang="en-US" sz="1600" dirty="0"/>
            </a:p>
          </p:txBody>
        </p:sp>
        <p:sp>
          <p:nvSpPr>
            <p:cNvPr id="31" name="Shape 29"/>
            <p:cNvSpPr/>
            <p:nvPr/>
          </p:nvSpPr>
          <p:spPr>
            <a:xfrm>
              <a:off x="13500" y="4533"/>
              <a:ext cx="10967" cy="1267"/>
            </a:xfrm>
            <a:custGeom>
              <a:avLst/>
              <a:gdLst/>
              <a:ahLst/>
              <a:cxnLst/>
              <a:rect l="l" t="t" r="r" b="b"/>
              <a:pathLst>
                <a:path w="6963833" h="804333">
                  <a:moveTo>
                    <a:pt x="42332" y="0"/>
                  </a:moveTo>
                  <a:lnTo>
                    <a:pt x="6921501" y="0"/>
                  </a:lnTo>
                  <a:cubicBezTo>
                    <a:pt x="6944881" y="0"/>
                    <a:pt x="6963833" y="18953"/>
                    <a:pt x="6963833" y="42332"/>
                  </a:cubicBezTo>
                  <a:lnTo>
                    <a:pt x="6963833" y="762001"/>
                  </a:lnTo>
                  <a:cubicBezTo>
                    <a:pt x="6963833" y="785381"/>
                    <a:pt x="6944881" y="804333"/>
                    <a:pt x="6921501" y="804333"/>
                  </a:cubicBezTo>
                  <a:lnTo>
                    <a:pt x="42332" y="804333"/>
                  </a:lnTo>
                  <a:cubicBezTo>
                    <a:pt x="18953" y="804333"/>
                    <a:pt x="0" y="785381"/>
                    <a:pt x="0" y="762001"/>
                  </a:cubicBezTo>
                  <a:lnTo>
                    <a:pt x="0" y="42332"/>
                  </a:lnTo>
                  <a:cubicBezTo>
                    <a:pt x="0" y="18968"/>
                    <a:pt x="18968" y="0"/>
                    <a:pt x="42332" y="0"/>
                  </a:cubicBezTo>
                  <a:close/>
                </a:path>
              </a:pathLst>
            </a:custGeom>
            <a:solidFill>
              <a:srgbClr val="3D4A5C">
                <a:alpha val="50196"/>
              </a:srgbClr>
            </a:solidFill>
          </p:spPr>
        </p:sp>
        <p:sp>
          <p:nvSpPr>
            <p:cNvPr id="32" name="Text 30"/>
            <p:cNvSpPr/>
            <p:nvPr/>
          </p:nvSpPr>
          <p:spPr>
            <a:xfrm>
              <a:off x="13500" y="4533"/>
              <a:ext cx="11083" cy="1267"/>
            </a:xfrm>
            <a:prstGeom prst="rect">
              <a:avLst/>
            </a:prstGeom>
            <a:noFill/>
          </p:spPr>
          <p:txBody>
            <a:bodyPr wrap="square" lIns="84667" tIns="84667" rIns="84667" bIns="84667" rtlCol="0" anchor="ctr"/>
            <a:lstStyle/>
            <a:p>
              <a:pPr>
                <a:lnSpc>
                  <a:spcPct val="120000"/>
                </a:lnSpc>
              </a:pPr>
              <a:r>
                <a:rPr lang="en-US" sz="1165" dirty="0">
                  <a:solidFill>
                    <a:srgbClr val="E5E7EB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V_old = {N:1, S:2}</a:t>
              </a:r>
              <a:endParaRPr lang="en-US" sz="1600" dirty="0"/>
            </a:p>
            <a:p>
              <a:pPr>
                <a:lnSpc>
                  <a:spcPct val="120000"/>
                </a:lnSpc>
              </a:pPr>
              <a:r>
                <a:rPr lang="en-US" sz="1165" dirty="0">
                  <a:solidFill>
                    <a:srgbClr val="E5E7EB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V_new = {N:2, S:2}</a:t>
              </a:r>
              <a:endParaRPr lang="en-US" sz="1600" dirty="0"/>
            </a:p>
            <a:p>
              <a:pPr>
                <a:lnSpc>
                  <a:spcPct val="120000"/>
                </a:lnSpc>
              </a:pPr>
              <a:r>
                <a:rPr lang="en-US" sz="1165" dirty="0">
                  <a:solidFill>
                    <a:srgbClr val="4F9A94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→ 新版本支配旧版本，安全更新</a:t>
              </a:r>
              <a:endParaRPr lang="en-US" sz="1600" dirty="0"/>
            </a:p>
          </p:txBody>
        </p:sp>
        <p:sp>
          <p:nvSpPr>
            <p:cNvPr id="33" name="Shape 31"/>
            <p:cNvSpPr/>
            <p:nvPr/>
          </p:nvSpPr>
          <p:spPr>
            <a:xfrm>
              <a:off x="13300" y="6200"/>
              <a:ext cx="11367" cy="2667"/>
            </a:xfrm>
            <a:custGeom>
              <a:avLst/>
              <a:gdLst/>
              <a:ahLst/>
              <a:cxnLst/>
              <a:rect l="l" t="t" r="r" b="b"/>
              <a:pathLst>
                <a:path w="7217833" h="1693333">
                  <a:moveTo>
                    <a:pt x="84667" y="0"/>
                  </a:moveTo>
                  <a:lnTo>
                    <a:pt x="7133167" y="0"/>
                  </a:lnTo>
                  <a:cubicBezTo>
                    <a:pt x="7179927" y="0"/>
                    <a:pt x="7217833" y="37907"/>
                    <a:pt x="7217833" y="84667"/>
                  </a:cubicBezTo>
                  <a:lnTo>
                    <a:pt x="7217833" y="1608667"/>
                  </a:lnTo>
                  <a:cubicBezTo>
                    <a:pt x="7217833" y="1655427"/>
                    <a:pt x="7179927" y="1693333"/>
                    <a:pt x="7133167" y="1693333"/>
                  </a:cubicBezTo>
                  <a:lnTo>
                    <a:pt x="84667" y="1693333"/>
                  </a:lnTo>
                  <a:cubicBezTo>
                    <a:pt x="37907" y="1693333"/>
                    <a:pt x="0" y="1655427"/>
                    <a:pt x="0" y="1608667"/>
                  </a:cubicBezTo>
                  <a:lnTo>
                    <a:pt x="0" y="84667"/>
                  </a:lnTo>
                  <a:cubicBezTo>
                    <a:pt x="0" y="37907"/>
                    <a:pt x="37907" y="0"/>
                    <a:pt x="84667" y="0"/>
                  </a:cubicBezTo>
                  <a:close/>
                </a:path>
              </a:pathLst>
            </a:custGeom>
            <a:solidFill>
              <a:srgbClr val="1A1D21">
                <a:alpha val="70196"/>
              </a:srgbClr>
            </a:solidFill>
          </p:spPr>
        </p:sp>
        <p:sp>
          <p:nvSpPr>
            <p:cNvPr id="34" name="Shape 32"/>
            <p:cNvSpPr/>
            <p:nvPr/>
          </p:nvSpPr>
          <p:spPr>
            <a:xfrm>
              <a:off x="13533" y="6467"/>
              <a:ext cx="267" cy="267"/>
            </a:xfrm>
            <a:custGeom>
              <a:avLst/>
              <a:gdLst/>
              <a:ahLst/>
              <a:cxnLst/>
              <a:rect l="l" t="t" r="r" b="b"/>
              <a:pathLst>
                <a:path w="169333" h="169333">
                  <a:moveTo>
                    <a:pt x="84667" y="0"/>
                  </a:moveTo>
                  <a:cubicBezTo>
                    <a:pt x="89528" y="0"/>
                    <a:pt x="93993" y="2679"/>
                    <a:pt x="96308" y="6945"/>
                  </a:cubicBezTo>
                  <a:lnTo>
                    <a:pt x="167746" y="139237"/>
                  </a:lnTo>
                  <a:cubicBezTo>
                    <a:pt x="169962" y="143338"/>
                    <a:pt x="169863" y="148299"/>
                    <a:pt x="167481" y="152301"/>
                  </a:cubicBezTo>
                  <a:cubicBezTo>
                    <a:pt x="165100" y="156303"/>
                    <a:pt x="160767" y="158750"/>
                    <a:pt x="156104" y="158750"/>
                  </a:cubicBezTo>
                  <a:lnTo>
                    <a:pt x="13229" y="158750"/>
                  </a:lnTo>
                  <a:cubicBezTo>
                    <a:pt x="8566" y="158750"/>
                    <a:pt x="4266" y="156303"/>
                    <a:pt x="1852" y="152301"/>
                  </a:cubicBezTo>
                  <a:cubicBezTo>
                    <a:pt x="-562" y="148299"/>
                    <a:pt x="-628" y="143338"/>
                    <a:pt x="1588" y="139237"/>
                  </a:cubicBezTo>
                  <a:lnTo>
                    <a:pt x="73025" y="6945"/>
                  </a:lnTo>
                  <a:cubicBezTo>
                    <a:pt x="75340" y="2679"/>
                    <a:pt x="79805" y="0"/>
                    <a:pt x="84667" y="0"/>
                  </a:cubicBezTo>
                  <a:close/>
                  <a:moveTo>
                    <a:pt x="84667" y="55563"/>
                  </a:moveTo>
                  <a:cubicBezTo>
                    <a:pt x="80268" y="55563"/>
                    <a:pt x="76729" y="59101"/>
                    <a:pt x="76729" y="63500"/>
                  </a:cubicBezTo>
                  <a:lnTo>
                    <a:pt x="76729" y="100542"/>
                  </a:lnTo>
                  <a:cubicBezTo>
                    <a:pt x="76729" y="104940"/>
                    <a:pt x="80268" y="108479"/>
                    <a:pt x="84667" y="108479"/>
                  </a:cubicBezTo>
                  <a:cubicBezTo>
                    <a:pt x="89065" y="108479"/>
                    <a:pt x="92604" y="104940"/>
                    <a:pt x="92604" y="100542"/>
                  </a:cubicBezTo>
                  <a:lnTo>
                    <a:pt x="92604" y="63500"/>
                  </a:lnTo>
                  <a:cubicBezTo>
                    <a:pt x="92604" y="59101"/>
                    <a:pt x="89065" y="55563"/>
                    <a:pt x="84667" y="55563"/>
                  </a:cubicBezTo>
                  <a:close/>
                  <a:moveTo>
                    <a:pt x="93497" y="127000"/>
                  </a:moveTo>
                  <a:cubicBezTo>
                    <a:pt x="93698" y="123722"/>
                    <a:pt x="92063" y="120604"/>
                    <a:pt x="89254" y="118904"/>
                  </a:cubicBezTo>
                  <a:cubicBezTo>
                    <a:pt x="86444" y="117204"/>
                    <a:pt x="82923" y="117204"/>
                    <a:pt x="80113" y="118904"/>
                  </a:cubicBezTo>
                  <a:cubicBezTo>
                    <a:pt x="77303" y="120604"/>
                    <a:pt x="75668" y="123722"/>
                    <a:pt x="75869" y="127000"/>
                  </a:cubicBezTo>
                  <a:cubicBezTo>
                    <a:pt x="75668" y="130278"/>
                    <a:pt x="77303" y="133396"/>
                    <a:pt x="80113" y="135096"/>
                  </a:cubicBezTo>
                  <a:cubicBezTo>
                    <a:pt x="82923" y="136796"/>
                    <a:pt x="86444" y="136796"/>
                    <a:pt x="89254" y="135096"/>
                  </a:cubicBezTo>
                  <a:cubicBezTo>
                    <a:pt x="92063" y="133396"/>
                    <a:pt x="93698" y="130278"/>
                    <a:pt x="93497" y="127000"/>
                  </a:cubicBezTo>
                  <a:close/>
                </a:path>
              </a:pathLst>
            </a:custGeom>
            <a:solidFill>
              <a:srgbClr val="6B7280"/>
            </a:solidFill>
          </p:spPr>
        </p:sp>
        <p:sp>
          <p:nvSpPr>
            <p:cNvPr id="35" name="Text 33"/>
            <p:cNvSpPr/>
            <p:nvPr/>
          </p:nvSpPr>
          <p:spPr>
            <a:xfrm>
              <a:off x="13833" y="6400"/>
              <a:ext cx="10767" cy="4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35" b="1" dirty="0">
                  <a:solidFill>
                    <a:srgbClr val="6B7280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并发（Concurrent）</a:t>
              </a:r>
              <a:endParaRPr lang="en-US" sz="1600" dirty="0"/>
            </a:p>
          </p:txBody>
        </p:sp>
        <p:sp>
          <p:nvSpPr>
            <p:cNvPr id="36" name="Text 34"/>
            <p:cNvSpPr/>
            <p:nvPr/>
          </p:nvSpPr>
          <p:spPr>
            <a:xfrm>
              <a:off x="13500" y="6933"/>
              <a:ext cx="11083" cy="33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165" dirty="0">
                  <a:solidFill>
                    <a:srgbClr val="E5E7EB">
                      <a:alpha val="90000"/>
                    </a:srgbClr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当 V_new 与 V_old 互不支配时，判定冲突</a:t>
              </a:r>
              <a:endParaRPr lang="en-US" sz="1600" dirty="0"/>
            </a:p>
          </p:txBody>
        </p:sp>
        <p:sp>
          <p:nvSpPr>
            <p:cNvPr id="37" name="Shape 35"/>
            <p:cNvSpPr/>
            <p:nvPr/>
          </p:nvSpPr>
          <p:spPr>
            <a:xfrm>
              <a:off x="13500" y="7400"/>
              <a:ext cx="10967" cy="1267"/>
            </a:xfrm>
            <a:custGeom>
              <a:avLst/>
              <a:gdLst/>
              <a:ahLst/>
              <a:cxnLst/>
              <a:rect l="l" t="t" r="r" b="b"/>
              <a:pathLst>
                <a:path w="6963833" h="804333">
                  <a:moveTo>
                    <a:pt x="42332" y="0"/>
                  </a:moveTo>
                  <a:lnTo>
                    <a:pt x="6921501" y="0"/>
                  </a:lnTo>
                  <a:cubicBezTo>
                    <a:pt x="6944881" y="0"/>
                    <a:pt x="6963833" y="18953"/>
                    <a:pt x="6963833" y="42332"/>
                  </a:cubicBezTo>
                  <a:lnTo>
                    <a:pt x="6963833" y="762001"/>
                  </a:lnTo>
                  <a:cubicBezTo>
                    <a:pt x="6963833" y="785381"/>
                    <a:pt x="6944881" y="804333"/>
                    <a:pt x="6921501" y="804333"/>
                  </a:cubicBezTo>
                  <a:lnTo>
                    <a:pt x="42332" y="804333"/>
                  </a:lnTo>
                  <a:cubicBezTo>
                    <a:pt x="18953" y="804333"/>
                    <a:pt x="0" y="785381"/>
                    <a:pt x="0" y="762001"/>
                  </a:cubicBezTo>
                  <a:lnTo>
                    <a:pt x="0" y="42332"/>
                  </a:lnTo>
                  <a:cubicBezTo>
                    <a:pt x="0" y="18968"/>
                    <a:pt x="18968" y="0"/>
                    <a:pt x="42332" y="0"/>
                  </a:cubicBezTo>
                  <a:close/>
                </a:path>
              </a:pathLst>
            </a:custGeom>
            <a:solidFill>
              <a:srgbClr val="3D4A5C">
                <a:alpha val="50196"/>
              </a:srgbClr>
            </a:solidFill>
          </p:spPr>
        </p:sp>
        <p:sp>
          <p:nvSpPr>
            <p:cNvPr id="38" name="Text 36"/>
            <p:cNvSpPr/>
            <p:nvPr/>
          </p:nvSpPr>
          <p:spPr>
            <a:xfrm>
              <a:off x="13500" y="7400"/>
              <a:ext cx="11083" cy="1267"/>
            </a:xfrm>
            <a:prstGeom prst="rect">
              <a:avLst/>
            </a:prstGeom>
            <a:noFill/>
          </p:spPr>
          <p:txBody>
            <a:bodyPr wrap="square" lIns="84667" tIns="84667" rIns="84667" bIns="84667" rtlCol="0" anchor="ctr"/>
            <a:lstStyle/>
            <a:p>
              <a:pPr>
                <a:lnSpc>
                  <a:spcPct val="120000"/>
                </a:lnSpc>
              </a:pPr>
              <a:r>
                <a:rPr lang="en-US" sz="1165" dirty="0">
                  <a:solidFill>
                    <a:srgbClr val="E5E7EB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V_A = {N:2, S:1}</a:t>
              </a:r>
              <a:endParaRPr lang="en-US" sz="1600" dirty="0"/>
            </a:p>
            <a:p>
              <a:pPr>
                <a:lnSpc>
                  <a:spcPct val="120000"/>
                </a:lnSpc>
              </a:pPr>
              <a:r>
                <a:rPr lang="en-US" sz="1165" dirty="0">
                  <a:solidFill>
                    <a:srgbClr val="E5E7EB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V_B = {N:1, S:2}</a:t>
              </a:r>
              <a:endParaRPr lang="en-US" sz="1600" dirty="0"/>
            </a:p>
            <a:p>
              <a:pPr>
                <a:lnSpc>
                  <a:spcPct val="120000"/>
                </a:lnSpc>
              </a:pPr>
              <a:r>
                <a:rPr lang="en-US" sz="1165" dirty="0">
                  <a:solidFill>
                    <a:srgbClr val="6B7280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→ 互不支配，发生冲突需要人工解决</a:t>
              </a:r>
              <a:endParaRPr lang="en-US" sz="1600" dirty="0"/>
            </a:p>
          </p:txBody>
        </p:sp>
      </p:grpSp>
      <p:grpSp>
        <p:nvGrpSpPr>
          <p:cNvPr id="64" name="组合 63"/>
          <p:cNvGrpSpPr/>
          <p:nvPr/>
        </p:nvGrpSpPr>
        <p:grpSpPr>
          <a:xfrm>
            <a:off x="8979535" y="5973445"/>
            <a:ext cx="6845935" cy="2908300"/>
            <a:chOff x="12974" y="9407"/>
            <a:chExt cx="11948" cy="4580"/>
          </a:xfrm>
        </p:grpSpPr>
        <p:sp>
          <p:nvSpPr>
            <p:cNvPr id="39" name="Shape 37"/>
            <p:cNvSpPr/>
            <p:nvPr/>
          </p:nvSpPr>
          <p:spPr>
            <a:xfrm>
              <a:off x="12974" y="9407"/>
              <a:ext cx="11948" cy="4581"/>
            </a:xfrm>
            <a:custGeom>
              <a:avLst/>
              <a:gdLst/>
              <a:ahLst/>
              <a:cxnLst/>
              <a:rect l="l" t="t" r="r" b="b"/>
              <a:pathLst>
                <a:path w="7587074" h="2909241">
                  <a:moveTo>
                    <a:pt x="84659" y="0"/>
                  </a:moveTo>
                  <a:lnTo>
                    <a:pt x="7502415" y="0"/>
                  </a:lnTo>
                  <a:cubicBezTo>
                    <a:pt x="7549171" y="0"/>
                    <a:pt x="7587074" y="37903"/>
                    <a:pt x="7587074" y="84659"/>
                  </a:cubicBezTo>
                  <a:lnTo>
                    <a:pt x="7587074" y="2824582"/>
                  </a:lnTo>
                  <a:cubicBezTo>
                    <a:pt x="7587074" y="2871338"/>
                    <a:pt x="7549171" y="2909241"/>
                    <a:pt x="7502415" y="2909241"/>
                  </a:cubicBezTo>
                  <a:lnTo>
                    <a:pt x="84659" y="2909241"/>
                  </a:lnTo>
                  <a:cubicBezTo>
                    <a:pt x="37903" y="2909241"/>
                    <a:pt x="0" y="2871338"/>
                    <a:pt x="0" y="2824582"/>
                  </a:cubicBezTo>
                  <a:lnTo>
                    <a:pt x="0" y="84659"/>
                  </a:lnTo>
                  <a:cubicBezTo>
                    <a:pt x="0" y="37903"/>
                    <a:pt x="37903" y="0"/>
                    <a:pt x="84659" y="0"/>
                  </a:cubicBezTo>
                  <a:close/>
                </a:path>
              </a:pathLst>
            </a:custGeom>
            <a:solidFill>
              <a:srgbClr val="3D4A5C">
                <a:alpha val="30196"/>
              </a:srgbClr>
            </a:solidFill>
            <a:ln w="11289">
              <a:solidFill>
                <a:srgbClr val="3D4A5C"/>
              </a:solidFill>
              <a:prstDash val="solid"/>
            </a:ln>
          </p:spPr>
        </p:sp>
        <p:sp>
          <p:nvSpPr>
            <p:cNvPr id="40" name="Shape 38"/>
            <p:cNvSpPr/>
            <p:nvPr/>
          </p:nvSpPr>
          <p:spPr>
            <a:xfrm>
              <a:off x="13290" y="9765"/>
              <a:ext cx="300" cy="3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71438" y="23812"/>
                  </a:moveTo>
                  <a:cubicBezTo>
                    <a:pt x="71438" y="17227"/>
                    <a:pt x="76758" y="11906"/>
                    <a:pt x="83344" y="11906"/>
                  </a:cubicBezTo>
                  <a:lnTo>
                    <a:pt x="107156" y="11906"/>
                  </a:lnTo>
                  <a:cubicBezTo>
                    <a:pt x="113742" y="11906"/>
                    <a:pt x="119063" y="17227"/>
                    <a:pt x="119063" y="23812"/>
                  </a:cubicBezTo>
                  <a:lnTo>
                    <a:pt x="119063" y="47625"/>
                  </a:lnTo>
                  <a:cubicBezTo>
                    <a:pt x="119063" y="54211"/>
                    <a:pt x="113742" y="59531"/>
                    <a:pt x="107156" y="59531"/>
                  </a:cubicBezTo>
                  <a:lnTo>
                    <a:pt x="104180" y="59531"/>
                  </a:lnTo>
                  <a:lnTo>
                    <a:pt x="104180" y="83344"/>
                  </a:lnTo>
                  <a:lnTo>
                    <a:pt x="148828" y="83344"/>
                  </a:lnTo>
                  <a:cubicBezTo>
                    <a:pt x="163637" y="83344"/>
                    <a:pt x="175617" y="95324"/>
                    <a:pt x="175617" y="110133"/>
                  </a:cubicBezTo>
                  <a:lnTo>
                    <a:pt x="175617" y="130969"/>
                  </a:lnTo>
                  <a:lnTo>
                    <a:pt x="178594" y="130969"/>
                  </a:lnTo>
                  <a:cubicBezTo>
                    <a:pt x="185179" y="130969"/>
                    <a:pt x="190500" y="136289"/>
                    <a:pt x="190500" y="142875"/>
                  </a:cubicBezTo>
                  <a:lnTo>
                    <a:pt x="190500" y="166688"/>
                  </a:lnTo>
                  <a:cubicBezTo>
                    <a:pt x="190500" y="173273"/>
                    <a:pt x="185179" y="178594"/>
                    <a:pt x="178594" y="178594"/>
                  </a:cubicBezTo>
                  <a:lnTo>
                    <a:pt x="154781" y="178594"/>
                  </a:lnTo>
                  <a:cubicBezTo>
                    <a:pt x="148196" y="178594"/>
                    <a:pt x="142875" y="173273"/>
                    <a:pt x="142875" y="166688"/>
                  </a:cubicBezTo>
                  <a:lnTo>
                    <a:pt x="142875" y="142875"/>
                  </a:lnTo>
                  <a:cubicBezTo>
                    <a:pt x="142875" y="136289"/>
                    <a:pt x="148196" y="130969"/>
                    <a:pt x="154781" y="130969"/>
                  </a:cubicBezTo>
                  <a:lnTo>
                    <a:pt x="157758" y="130969"/>
                  </a:lnTo>
                  <a:lnTo>
                    <a:pt x="157758" y="110133"/>
                  </a:lnTo>
                  <a:cubicBezTo>
                    <a:pt x="157758" y="105184"/>
                    <a:pt x="153777" y="101203"/>
                    <a:pt x="148828" y="101203"/>
                  </a:cubicBezTo>
                  <a:lnTo>
                    <a:pt x="104180" y="101203"/>
                  </a:lnTo>
                  <a:lnTo>
                    <a:pt x="104180" y="130969"/>
                  </a:lnTo>
                  <a:lnTo>
                    <a:pt x="107156" y="130969"/>
                  </a:lnTo>
                  <a:cubicBezTo>
                    <a:pt x="113742" y="130969"/>
                    <a:pt x="119063" y="136289"/>
                    <a:pt x="119063" y="142875"/>
                  </a:cubicBezTo>
                  <a:lnTo>
                    <a:pt x="119063" y="166688"/>
                  </a:lnTo>
                  <a:cubicBezTo>
                    <a:pt x="119063" y="173273"/>
                    <a:pt x="113742" y="178594"/>
                    <a:pt x="107156" y="178594"/>
                  </a:cubicBezTo>
                  <a:lnTo>
                    <a:pt x="83344" y="178594"/>
                  </a:lnTo>
                  <a:cubicBezTo>
                    <a:pt x="76758" y="178594"/>
                    <a:pt x="71438" y="173273"/>
                    <a:pt x="71438" y="166688"/>
                  </a:cubicBezTo>
                  <a:lnTo>
                    <a:pt x="71438" y="142875"/>
                  </a:lnTo>
                  <a:cubicBezTo>
                    <a:pt x="71438" y="136289"/>
                    <a:pt x="76758" y="130969"/>
                    <a:pt x="83344" y="130969"/>
                  </a:cubicBezTo>
                  <a:lnTo>
                    <a:pt x="86320" y="130969"/>
                  </a:lnTo>
                  <a:lnTo>
                    <a:pt x="86320" y="101203"/>
                  </a:lnTo>
                  <a:lnTo>
                    <a:pt x="41672" y="101203"/>
                  </a:lnTo>
                  <a:cubicBezTo>
                    <a:pt x="36723" y="101203"/>
                    <a:pt x="32742" y="105184"/>
                    <a:pt x="32742" y="110133"/>
                  </a:cubicBezTo>
                  <a:lnTo>
                    <a:pt x="32742" y="130969"/>
                  </a:lnTo>
                  <a:lnTo>
                    <a:pt x="35719" y="130969"/>
                  </a:lnTo>
                  <a:cubicBezTo>
                    <a:pt x="42304" y="130969"/>
                    <a:pt x="47625" y="136289"/>
                    <a:pt x="47625" y="142875"/>
                  </a:cubicBezTo>
                  <a:lnTo>
                    <a:pt x="47625" y="166688"/>
                  </a:lnTo>
                  <a:cubicBezTo>
                    <a:pt x="47625" y="173273"/>
                    <a:pt x="42304" y="178594"/>
                    <a:pt x="35719" y="178594"/>
                  </a:cubicBezTo>
                  <a:lnTo>
                    <a:pt x="11906" y="178594"/>
                  </a:lnTo>
                  <a:cubicBezTo>
                    <a:pt x="5321" y="178594"/>
                    <a:pt x="0" y="173273"/>
                    <a:pt x="0" y="166688"/>
                  </a:cubicBezTo>
                  <a:lnTo>
                    <a:pt x="0" y="142875"/>
                  </a:lnTo>
                  <a:cubicBezTo>
                    <a:pt x="0" y="136289"/>
                    <a:pt x="5321" y="130969"/>
                    <a:pt x="11906" y="130969"/>
                  </a:cubicBezTo>
                  <a:lnTo>
                    <a:pt x="14883" y="130969"/>
                  </a:lnTo>
                  <a:lnTo>
                    <a:pt x="14883" y="110133"/>
                  </a:lnTo>
                  <a:cubicBezTo>
                    <a:pt x="14883" y="95324"/>
                    <a:pt x="26863" y="83344"/>
                    <a:pt x="41672" y="83344"/>
                  </a:cubicBezTo>
                  <a:lnTo>
                    <a:pt x="86320" y="83344"/>
                  </a:lnTo>
                  <a:lnTo>
                    <a:pt x="86320" y="59531"/>
                  </a:lnTo>
                  <a:lnTo>
                    <a:pt x="83344" y="59531"/>
                  </a:lnTo>
                  <a:cubicBezTo>
                    <a:pt x="76758" y="59531"/>
                    <a:pt x="71438" y="54211"/>
                    <a:pt x="71438" y="47625"/>
                  </a:cubicBezTo>
                  <a:lnTo>
                    <a:pt x="71438" y="23812"/>
                  </a:lnTo>
                  <a:close/>
                </a:path>
              </a:pathLst>
            </a:custGeom>
            <a:solidFill>
              <a:srgbClr val="E5E7EB"/>
            </a:solidFill>
          </p:spPr>
        </p:sp>
        <p:sp>
          <p:nvSpPr>
            <p:cNvPr id="41" name="Text 39"/>
            <p:cNvSpPr/>
            <p:nvPr/>
          </p:nvSpPr>
          <p:spPr>
            <a:xfrm>
              <a:off x="13631" y="9681"/>
              <a:ext cx="11167" cy="46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500" b="1" dirty="0">
                  <a:solidFill>
                    <a:srgbClr val="E5E7EB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判定流程图</a:t>
              </a:r>
              <a:endParaRPr lang="en-US" sz="1600" dirty="0"/>
            </a:p>
          </p:txBody>
        </p:sp>
        <p:sp>
          <p:nvSpPr>
            <p:cNvPr id="42" name="Shape 40"/>
            <p:cNvSpPr/>
            <p:nvPr/>
          </p:nvSpPr>
          <p:spPr>
            <a:xfrm>
              <a:off x="13256" y="10356"/>
              <a:ext cx="11381" cy="681"/>
            </a:xfrm>
            <a:custGeom>
              <a:avLst/>
              <a:gdLst/>
              <a:ahLst/>
              <a:cxnLst/>
              <a:rect l="l" t="t" r="r" b="b"/>
              <a:pathLst>
                <a:path w="7227241" h="432741">
                  <a:moveTo>
                    <a:pt x="84666" y="0"/>
                  </a:moveTo>
                  <a:lnTo>
                    <a:pt x="7142575" y="0"/>
                  </a:lnTo>
                  <a:cubicBezTo>
                    <a:pt x="7189335" y="0"/>
                    <a:pt x="7227241" y="37906"/>
                    <a:pt x="7227241" y="84666"/>
                  </a:cubicBezTo>
                  <a:lnTo>
                    <a:pt x="7227241" y="348075"/>
                  </a:lnTo>
                  <a:cubicBezTo>
                    <a:pt x="7227241" y="394835"/>
                    <a:pt x="7189335" y="432741"/>
                    <a:pt x="7142575" y="432741"/>
                  </a:cubicBezTo>
                  <a:lnTo>
                    <a:pt x="84666" y="432741"/>
                  </a:lnTo>
                  <a:cubicBezTo>
                    <a:pt x="37906" y="432741"/>
                    <a:pt x="0" y="394835"/>
                    <a:pt x="0" y="348075"/>
                  </a:cubicBezTo>
                  <a:lnTo>
                    <a:pt x="0" y="84666"/>
                  </a:lnTo>
                  <a:cubicBezTo>
                    <a:pt x="0" y="37937"/>
                    <a:pt x="37937" y="0"/>
                    <a:pt x="84666" y="0"/>
                  </a:cubicBezTo>
                  <a:close/>
                </a:path>
              </a:pathLst>
            </a:custGeom>
            <a:solidFill>
              <a:srgbClr val="4F9A94">
                <a:alpha val="20000"/>
              </a:srgbClr>
            </a:solidFill>
            <a:ln w="11289">
              <a:solidFill>
                <a:srgbClr val="4F9A94"/>
              </a:solidFill>
              <a:prstDash val="solid"/>
            </a:ln>
          </p:spPr>
        </p:sp>
        <p:sp>
          <p:nvSpPr>
            <p:cNvPr id="43" name="Text 41"/>
            <p:cNvSpPr/>
            <p:nvPr/>
          </p:nvSpPr>
          <p:spPr>
            <a:xfrm>
              <a:off x="13396" y="10496"/>
              <a:ext cx="11100" cy="4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335" dirty="0">
                  <a:solidFill>
                    <a:srgbClr val="E5E7EB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接收到新版本 V_new</a:t>
              </a:r>
              <a:endParaRPr lang="en-US" sz="1600" dirty="0"/>
            </a:p>
          </p:txBody>
        </p:sp>
        <p:sp>
          <p:nvSpPr>
            <p:cNvPr id="44" name="Shape 42"/>
            <p:cNvSpPr/>
            <p:nvPr/>
          </p:nvSpPr>
          <p:spPr>
            <a:xfrm>
              <a:off x="18842" y="11178"/>
              <a:ext cx="225" cy="300"/>
            </a:xfrm>
            <a:custGeom>
              <a:avLst/>
              <a:gdLst/>
              <a:ahLst/>
              <a:cxnLst/>
              <a:rect l="l" t="t" r="r" b="b"/>
              <a:pathLst>
                <a:path w="142875" h="190500">
                  <a:moveTo>
                    <a:pt x="63029" y="187003"/>
                  </a:moveTo>
                  <a:cubicBezTo>
                    <a:pt x="67680" y="191653"/>
                    <a:pt x="75233" y="191653"/>
                    <a:pt x="79883" y="187003"/>
                  </a:cubicBezTo>
                  <a:lnTo>
                    <a:pt x="139415" y="127471"/>
                  </a:lnTo>
                  <a:cubicBezTo>
                    <a:pt x="144066" y="122820"/>
                    <a:pt x="144066" y="115267"/>
                    <a:pt x="139415" y="110617"/>
                  </a:cubicBezTo>
                  <a:cubicBezTo>
                    <a:pt x="134764" y="105966"/>
                    <a:pt x="127211" y="105966"/>
                    <a:pt x="122560" y="110617"/>
                  </a:cubicBezTo>
                  <a:lnTo>
                    <a:pt x="83344" y="149833"/>
                  </a:lnTo>
                  <a:lnTo>
                    <a:pt x="83344" y="11906"/>
                  </a:lnTo>
                  <a:cubicBezTo>
                    <a:pt x="83344" y="5321"/>
                    <a:pt x="78023" y="0"/>
                    <a:pt x="71438" y="0"/>
                  </a:cubicBezTo>
                  <a:cubicBezTo>
                    <a:pt x="64852" y="0"/>
                    <a:pt x="59531" y="5321"/>
                    <a:pt x="59531" y="11906"/>
                  </a:cubicBezTo>
                  <a:lnTo>
                    <a:pt x="59531" y="149833"/>
                  </a:lnTo>
                  <a:lnTo>
                    <a:pt x="20315" y="110617"/>
                  </a:lnTo>
                  <a:cubicBezTo>
                    <a:pt x="15664" y="105966"/>
                    <a:pt x="8111" y="105966"/>
                    <a:pt x="3460" y="110617"/>
                  </a:cubicBezTo>
                  <a:cubicBezTo>
                    <a:pt x="-1191" y="115267"/>
                    <a:pt x="-1191" y="122820"/>
                    <a:pt x="3460" y="127471"/>
                  </a:cubicBezTo>
                  <a:lnTo>
                    <a:pt x="62992" y="187003"/>
                  </a:lnTo>
                  <a:close/>
                </a:path>
              </a:pathLst>
            </a:custGeom>
            <a:solidFill>
              <a:srgbClr val="4F9A94"/>
            </a:solidFill>
          </p:spPr>
        </p:sp>
        <p:sp>
          <p:nvSpPr>
            <p:cNvPr id="45" name="Shape 43"/>
            <p:cNvSpPr/>
            <p:nvPr/>
          </p:nvSpPr>
          <p:spPr>
            <a:xfrm>
              <a:off x="13248" y="11611"/>
              <a:ext cx="5633" cy="933"/>
            </a:xfrm>
            <a:custGeom>
              <a:avLst/>
              <a:gdLst/>
              <a:ahLst/>
              <a:cxnLst/>
              <a:rect l="l" t="t" r="r" b="b"/>
              <a:pathLst>
                <a:path w="3577167" h="592667">
                  <a:moveTo>
                    <a:pt x="42334" y="0"/>
                  </a:moveTo>
                  <a:lnTo>
                    <a:pt x="3534832" y="0"/>
                  </a:lnTo>
                  <a:cubicBezTo>
                    <a:pt x="3558213" y="0"/>
                    <a:pt x="3577167" y="18954"/>
                    <a:pt x="3577167" y="42334"/>
                  </a:cubicBezTo>
                  <a:lnTo>
                    <a:pt x="3577167" y="550332"/>
                  </a:lnTo>
                  <a:cubicBezTo>
                    <a:pt x="3577167" y="573713"/>
                    <a:pt x="3558213" y="592667"/>
                    <a:pt x="3534832" y="592667"/>
                  </a:cubicBezTo>
                  <a:lnTo>
                    <a:pt x="42334" y="592667"/>
                  </a:lnTo>
                  <a:cubicBezTo>
                    <a:pt x="18954" y="592667"/>
                    <a:pt x="0" y="573713"/>
                    <a:pt x="0" y="550332"/>
                  </a:cubicBezTo>
                  <a:lnTo>
                    <a:pt x="0" y="42334"/>
                  </a:lnTo>
                  <a:cubicBezTo>
                    <a:pt x="0" y="18969"/>
                    <a:pt x="18969" y="0"/>
                    <a:pt x="42334" y="0"/>
                  </a:cubicBezTo>
                  <a:close/>
                </a:path>
              </a:pathLst>
            </a:custGeom>
            <a:solidFill>
              <a:srgbClr val="4F9A94">
                <a:alpha val="20000"/>
              </a:srgbClr>
            </a:solidFill>
          </p:spPr>
        </p:sp>
        <p:sp>
          <p:nvSpPr>
            <p:cNvPr id="46" name="Text 44"/>
            <p:cNvSpPr/>
            <p:nvPr/>
          </p:nvSpPr>
          <p:spPr>
            <a:xfrm>
              <a:off x="13323" y="11744"/>
              <a:ext cx="5483" cy="33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165" b="1" dirty="0">
                  <a:solidFill>
                    <a:srgbClr val="4F9A94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V_new &gt; V_old ?</a:t>
              </a:r>
              <a:endParaRPr lang="en-US" sz="1600" dirty="0"/>
            </a:p>
          </p:txBody>
        </p:sp>
        <p:sp>
          <p:nvSpPr>
            <p:cNvPr id="47" name="Text 45"/>
            <p:cNvSpPr/>
            <p:nvPr/>
          </p:nvSpPr>
          <p:spPr>
            <a:xfrm>
              <a:off x="13331" y="12144"/>
              <a:ext cx="5467" cy="26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1000" dirty="0">
                  <a:solidFill>
                    <a:srgbClr val="E5E7EB">
                      <a:alpha val="80000"/>
                    </a:srgbClr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支配关系</a:t>
              </a:r>
              <a:endParaRPr lang="en-US" sz="1600" dirty="0"/>
            </a:p>
          </p:txBody>
        </p:sp>
        <p:sp>
          <p:nvSpPr>
            <p:cNvPr id="48" name="Shape 46"/>
            <p:cNvSpPr/>
            <p:nvPr/>
          </p:nvSpPr>
          <p:spPr>
            <a:xfrm>
              <a:off x="19017" y="11611"/>
              <a:ext cx="5633" cy="933"/>
            </a:xfrm>
            <a:custGeom>
              <a:avLst/>
              <a:gdLst/>
              <a:ahLst/>
              <a:cxnLst/>
              <a:rect l="l" t="t" r="r" b="b"/>
              <a:pathLst>
                <a:path w="3577167" h="592667">
                  <a:moveTo>
                    <a:pt x="42334" y="0"/>
                  </a:moveTo>
                  <a:lnTo>
                    <a:pt x="3534832" y="0"/>
                  </a:lnTo>
                  <a:cubicBezTo>
                    <a:pt x="3558213" y="0"/>
                    <a:pt x="3577167" y="18954"/>
                    <a:pt x="3577167" y="42334"/>
                  </a:cubicBezTo>
                  <a:lnTo>
                    <a:pt x="3577167" y="550332"/>
                  </a:lnTo>
                  <a:cubicBezTo>
                    <a:pt x="3577167" y="573713"/>
                    <a:pt x="3558213" y="592667"/>
                    <a:pt x="3534832" y="592667"/>
                  </a:cubicBezTo>
                  <a:lnTo>
                    <a:pt x="42334" y="592667"/>
                  </a:lnTo>
                  <a:cubicBezTo>
                    <a:pt x="18954" y="592667"/>
                    <a:pt x="0" y="573713"/>
                    <a:pt x="0" y="550332"/>
                  </a:cubicBezTo>
                  <a:lnTo>
                    <a:pt x="0" y="42334"/>
                  </a:lnTo>
                  <a:cubicBezTo>
                    <a:pt x="0" y="18969"/>
                    <a:pt x="18969" y="0"/>
                    <a:pt x="42334" y="0"/>
                  </a:cubicBezTo>
                  <a:close/>
                </a:path>
              </a:pathLst>
            </a:custGeom>
            <a:solidFill>
              <a:srgbClr val="6B7280">
                <a:alpha val="20000"/>
              </a:srgbClr>
            </a:solidFill>
          </p:spPr>
        </p:sp>
        <p:sp>
          <p:nvSpPr>
            <p:cNvPr id="49" name="Text 47"/>
            <p:cNvSpPr/>
            <p:nvPr/>
          </p:nvSpPr>
          <p:spPr>
            <a:xfrm>
              <a:off x="19092" y="11744"/>
              <a:ext cx="5483" cy="33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165" b="1" dirty="0">
                  <a:solidFill>
                    <a:srgbClr val="6B7280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并发关系 ?</a:t>
              </a:r>
              <a:endParaRPr lang="en-US" sz="1600" dirty="0"/>
            </a:p>
          </p:txBody>
        </p:sp>
        <p:sp>
          <p:nvSpPr>
            <p:cNvPr id="50" name="Text 48"/>
            <p:cNvSpPr/>
            <p:nvPr/>
          </p:nvSpPr>
          <p:spPr>
            <a:xfrm>
              <a:off x="19100" y="12144"/>
              <a:ext cx="5467" cy="26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1000" dirty="0">
                  <a:solidFill>
                    <a:srgbClr val="E5E7EB">
                      <a:alpha val="80000"/>
                    </a:srgbClr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互不支配</a:t>
              </a:r>
              <a:endParaRPr lang="en-US" sz="1600" dirty="0"/>
            </a:p>
          </p:txBody>
        </p:sp>
        <p:sp>
          <p:nvSpPr>
            <p:cNvPr id="51" name="Shape 49"/>
            <p:cNvSpPr/>
            <p:nvPr/>
          </p:nvSpPr>
          <p:spPr>
            <a:xfrm>
              <a:off x="18842" y="12678"/>
              <a:ext cx="225" cy="300"/>
            </a:xfrm>
            <a:custGeom>
              <a:avLst/>
              <a:gdLst/>
              <a:ahLst/>
              <a:cxnLst/>
              <a:rect l="l" t="t" r="r" b="b"/>
              <a:pathLst>
                <a:path w="142875" h="190500">
                  <a:moveTo>
                    <a:pt x="63029" y="187003"/>
                  </a:moveTo>
                  <a:cubicBezTo>
                    <a:pt x="67680" y="191653"/>
                    <a:pt x="75233" y="191653"/>
                    <a:pt x="79883" y="187003"/>
                  </a:cubicBezTo>
                  <a:lnTo>
                    <a:pt x="139415" y="127471"/>
                  </a:lnTo>
                  <a:cubicBezTo>
                    <a:pt x="144066" y="122820"/>
                    <a:pt x="144066" y="115267"/>
                    <a:pt x="139415" y="110617"/>
                  </a:cubicBezTo>
                  <a:cubicBezTo>
                    <a:pt x="134764" y="105966"/>
                    <a:pt x="127211" y="105966"/>
                    <a:pt x="122560" y="110617"/>
                  </a:cubicBezTo>
                  <a:lnTo>
                    <a:pt x="83344" y="149833"/>
                  </a:lnTo>
                  <a:lnTo>
                    <a:pt x="83344" y="11906"/>
                  </a:lnTo>
                  <a:cubicBezTo>
                    <a:pt x="83344" y="5321"/>
                    <a:pt x="78023" y="0"/>
                    <a:pt x="71438" y="0"/>
                  </a:cubicBezTo>
                  <a:cubicBezTo>
                    <a:pt x="64852" y="0"/>
                    <a:pt x="59531" y="5321"/>
                    <a:pt x="59531" y="11906"/>
                  </a:cubicBezTo>
                  <a:lnTo>
                    <a:pt x="59531" y="149833"/>
                  </a:lnTo>
                  <a:lnTo>
                    <a:pt x="20315" y="110617"/>
                  </a:lnTo>
                  <a:cubicBezTo>
                    <a:pt x="15664" y="105966"/>
                    <a:pt x="8111" y="105966"/>
                    <a:pt x="3460" y="110617"/>
                  </a:cubicBezTo>
                  <a:cubicBezTo>
                    <a:pt x="-1191" y="115267"/>
                    <a:pt x="-1191" y="122820"/>
                    <a:pt x="3460" y="127471"/>
                  </a:cubicBezTo>
                  <a:lnTo>
                    <a:pt x="62992" y="187003"/>
                  </a:lnTo>
                  <a:close/>
                </a:path>
              </a:pathLst>
            </a:custGeom>
            <a:solidFill>
              <a:srgbClr val="4F9A94"/>
            </a:solidFill>
          </p:spPr>
        </p:sp>
        <p:sp>
          <p:nvSpPr>
            <p:cNvPr id="52" name="Shape 50"/>
            <p:cNvSpPr/>
            <p:nvPr/>
          </p:nvSpPr>
          <p:spPr>
            <a:xfrm>
              <a:off x="13248" y="13111"/>
              <a:ext cx="5633" cy="600"/>
            </a:xfrm>
            <a:custGeom>
              <a:avLst/>
              <a:gdLst/>
              <a:ahLst/>
              <a:cxnLst/>
              <a:rect l="l" t="t" r="r" b="b"/>
              <a:pathLst>
                <a:path w="3577167" h="381000">
                  <a:moveTo>
                    <a:pt x="42333" y="0"/>
                  </a:moveTo>
                  <a:lnTo>
                    <a:pt x="3534834" y="0"/>
                  </a:lnTo>
                  <a:cubicBezTo>
                    <a:pt x="3558214" y="0"/>
                    <a:pt x="3577167" y="18953"/>
                    <a:pt x="3577167" y="42333"/>
                  </a:cubicBezTo>
                  <a:lnTo>
                    <a:pt x="3577167" y="338667"/>
                  </a:lnTo>
                  <a:cubicBezTo>
                    <a:pt x="3577167" y="362047"/>
                    <a:pt x="3558214" y="381000"/>
                    <a:pt x="3534834" y="381000"/>
                  </a:cubicBezTo>
                  <a:lnTo>
                    <a:pt x="42333" y="381000"/>
                  </a:lnTo>
                  <a:cubicBezTo>
                    <a:pt x="18953" y="381000"/>
                    <a:pt x="0" y="362047"/>
                    <a:pt x="0" y="338667"/>
                  </a:cubicBezTo>
                  <a:lnTo>
                    <a:pt x="0" y="42333"/>
                  </a:lnTo>
                  <a:cubicBezTo>
                    <a:pt x="0" y="18969"/>
                    <a:pt x="18969" y="0"/>
                    <a:pt x="42333" y="0"/>
                  </a:cubicBezTo>
                  <a:close/>
                </a:path>
              </a:pathLst>
            </a:custGeom>
            <a:solidFill>
              <a:srgbClr val="4F9A94"/>
            </a:solidFill>
          </p:spPr>
        </p:sp>
        <p:sp>
          <p:nvSpPr>
            <p:cNvPr id="53" name="Text 51"/>
            <p:cNvSpPr/>
            <p:nvPr/>
          </p:nvSpPr>
          <p:spPr>
            <a:xfrm>
              <a:off x="13323" y="13244"/>
              <a:ext cx="5483" cy="33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165" b="1" dirty="0">
                  <a:solidFill>
                    <a:srgbClr val="1A1D21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安全覆盖</a:t>
              </a:r>
              <a:endParaRPr lang="en-US" sz="1600" dirty="0"/>
            </a:p>
          </p:txBody>
        </p:sp>
        <p:sp>
          <p:nvSpPr>
            <p:cNvPr id="54" name="Shape 52"/>
            <p:cNvSpPr/>
            <p:nvPr/>
          </p:nvSpPr>
          <p:spPr>
            <a:xfrm>
              <a:off x="19017" y="13111"/>
              <a:ext cx="5633" cy="600"/>
            </a:xfrm>
            <a:custGeom>
              <a:avLst/>
              <a:gdLst/>
              <a:ahLst/>
              <a:cxnLst/>
              <a:rect l="l" t="t" r="r" b="b"/>
              <a:pathLst>
                <a:path w="3577167" h="381000">
                  <a:moveTo>
                    <a:pt x="42333" y="0"/>
                  </a:moveTo>
                  <a:lnTo>
                    <a:pt x="3534834" y="0"/>
                  </a:lnTo>
                  <a:cubicBezTo>
                    <a:pt x="3558214" y="0"/>
                    <a:pt x="3577167" y="18953"/>
                    <a:pt x="3577167" y="42333"/>
                  </a:cubicBezTo>
                  <a:lnTo>
                    <a:pt x="3577167" y="338667"/>
                  </a:lnTo>
                  <a:cubicBezTo>
                    <a:pt x="3577167" y="362047"/>
                    <a:pt x="3558214" y="381000"/>
                    <a:pt x="3534834" y="381000"/>
                  </a:cubicBezTo>
                  <a:lnTo>
                    <a:pt x="42333" y="381000"/>
                  </a:lnTo>
                  <a:cubicBezTo>
                    <a:pt x="18953" y="381000"/>
                    <a:pt x="0" y="362047"/>
                    <a:pt x="0" y="338667"/>
                  </a:cubicBezTo>
                  <a:lnTo>
                    <a:pt x="0" y="42333"/>
                  </a:lnTo>
                  <a:cubicBezTo>
                    <a:pt x="0" y="18969"/>
                    <a:pt x="18969" y="0"/>
                    <a:pt x="42333" y="0"/>
                  </a:cubicBezTo>
                  <a:close/>
                </a:path>
              </a:pathLst>
            </a:custGeom>
            <a:solidFill>
              <a:srgbClr val="6B7280"/>
            </a:solidFill>
          </p:spPr>
        </p:sp>
        <p:sp>
          <p:nvSpPr>
            <p:cNvPr id="55" name="Text 53"/>
            <p:cNvSpPr/>
            <p:nvPr/>
          </p:nvSpPr>
          <p:spPr>
            <a:xfrm>
              <a:off x="19092" y="13244"/>
              <a:ext cx="5483" cy="33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165" b="1" dirty="0">
                  <a:solidFill>
                    <a:srgbClr val="1A1D21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冲突检测</a:t>
              </a:r>
              <a:endParaRPr lang="en-US" sz="1600" dirty="0"/>
            </a:p>
          </p:txBody>
        </p:sp>
      </p:grpSp>
      <p:pic>
        <p:nvPicPr>
          <p:cNvPr id="63" name="图片 62" descr="截屏2026-01-04 02.42.4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535" y="1642110"/>
            <a:ext cx="6833870" cy="383667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4439" y="466883"/>
            <a:ext cx="63666" cy="424439"/>
          </a:xfrm>
          <a:custGeom>
            <a:avLst/>
            <a:gdLst/>
            <a:ahLst/>
            <a:cxnLst/>
            <a:rect l="l" t="t" r="r" b="b"/>
            <a:pathLst>
              <a:path w="63666" h="424439">
                <a:moveTo>
                  <a:pt x="0" y="0"/>
                </a:moveTo>
                <a:lnTo>
                  <a:pt x="63666" y="0"/>
                </a:lnTo>
                <a:lnTo>
                  <a:pt x="63666" y="424439"/>
                </a:lnTo>
                <a:lnTo>
                  <a:pt x="0" y="424439"/>
                </a:lnTo>
                <a:lnTo>
                  <a:pt x="0" y="0"/>
                </a:lnTo>
                <a:close/>
              </a:path>
            </a:pathLst>
          </a:custGeom>
          <a:solidFill>
            <a:srgbClr val="4F9A94"/>
          </a:solidFill>
        </p:spPr>
      </p:sp>
      <p:sp>
        <p:nvSpPr>
          <p:cNvPr id="3" name="Text 1"/>
          <p:cNvSpPr/>
          <p:nvPr/>
        </p:nvSpPr>
        <p:spPr>
          <a:xfrm>
            <a:off x="615436" y="424439"/>
            <a:ext cx="4329274" cy="50932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010" b="1" dirty="0">
                <a:solidFill>
                  <a:srgbClr val="E5E7E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冲突处理闭环流程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79102" y="1018653"/>
            <a:ext cx="15258569" cy="2971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70" dirty="0">
                <a:solidFill>
                  <a:srgbClr val="6B728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Conflict Resolution Workflow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0966" y="1570423"/>
            <a:ext cx="212219" cy="212219"/>
          </a:xfrm>
          <a:custGeom>
            <a:avLst/>
            <a:gdLst/>
            <a:ahLst/>
            <a:cxnLst/>
            <a:rect l="l" t="t" r="r" b="b"/>
            <a:pathLst>
              <a:path w="212219" h="212219">
                <a:moveTo>
                  <a:pt x="0" y="33159"/>
                </a:moveTo>
                <a:cubicBezTo>
                  <a:pt x="0" y="22175"/>
                  <a:pt x="8912" y="13264"/>
                  <a:pt x="19896" y="13264"/>
                </a:cubicBezTo>
                <a:lnTo>
                  <a:pt x="59687" y="13264"/>
                </a:lnTo>
                <a:cubicBezTo>
                  <a:pt x="70671" y="13264"/>
                  <a:pt x="79582" y="22175"/>
                  <a:pt x="79582" y="33159"/>
                </a:cubicBezTo>
                <a:lnTo>
                  <a:pt x="79582" y="39791"/>
                </a:lnTo>
                <a:lnTo>
                  <a:pt x="132637" y="39791"/>
                </a:lnTo>
                <a:lnTo>
                  <a:pt x="132637" y="33159"/>
                </a:lnTo>
                <a:cubicBezTo>
                  <a:pt x="132637" y="22175"/>
                  <a:pt x="141549" y="13264"/>
                  <a:pt x="152533" y="13264"/>
                </a:cubicBezTo>
                <a:lnTo>
                  <a:pt x="192324" y="13264"/>
                </a:lnTo>
                <a:cubicBezTo>
                  <a:pt x="203308" y="13264"/>
                  <a:pt x="212219" y="22175"/>
                  <a:pt x="212219" y="33159"/>
                </a:cubicBezTo>
                <a:lnTo>
                  <a:pt x="212219" y="72950"/>
                </a:lnTo>
                <a:cubicBezTo>
                  <a:pt x="212219" y="83934"/>
                  <a:pt x="203308" y="92846"/>
                  <a:pt x="192324" y="92846"/>
                </a:cubicBezTo>
                <a:lnTo>
                  <a:pt x="152533" y="92846"/>
                </a:lnTo>
                <a:cubicBezTo>
                  <a:pt x="141549" y="92846"/>
                  <a:pt x="132637" y="83934"/>
                  <a:pt x="132637" y="72950"/>
                </a:cubicBezTo>
                <a:lnTo>
                  <a:pt x="132637" y="66319"/>
                </a:lnTo>
                <a:lnTo>
                  <a:pt x="79582" y="66319"/>
                </a:lnTo>
                <a:lnTo>
                  <a:pt x="79582" y="72950"/>
                </a:lnTo>
                <a:cubicBezTo>
                  <a:pt x="79582" y="75976"/>
                  <a:pt x="78878" y="78878"/>
                  <a:pt x="77676" y="81447"/>
                </a:cubicBezTo>
                <a:lnTo>
                  <a:pt x="106110" y="119373"/>
                </a:lnTo>
                <a:lnTo>
                  <a:pt x="139269" y="119373"/>
                </a:lnTo>
                <a:cubicBezTo>
                  <a:pt x="150253" y="119373"/>
                  <a:pt x="159164" y="128285"/>
                  <a:pt x="159164" y="139269"/>
                </a:cubicBezTo>
                <a:lnTo>
                  <a:pt x="159164" y="179060"/>
                </a:lnTo>
                <a:cubicBezTo>
                  <a:pt x="159164" y="190044"/>
                  <a:pt x="150253" y="198956"/>
                  <a:pt x="139269" y="198956"/>
                </a:cubicBezTo>
                <a:lnTo>
                  <a:pt x="99478" y="198956"/>
                </a:lnTo>
                <a:cubicBezTo>
                  <a:pt x="88494" y="198956"/>
                  <a:pt x="79582" y="190044"/>
                  <a:pt x="79582" y="179060"/>
                </a:cubicBezTo>
                <a:lnTo>
                  <a:pt x="79582" y="139269"/>
                </a:lnTo>
                <a:cubicBezTo>
                  <a:pt x="79582" y="136243"/>
                  <a:pt x="80287" y="133342"/>
                  <a:pt x="81489" y="130772"/>
                </a:cubicBezTo>
                <a:lnTo>
                  <a:pt x="53055" y="92846"/>
                </a:lnTo>
                <a:lnTo>
                  <a:pt x="19896" y="92846"/>
                </a:lnTo>
                <a:cubicBezTo>
                  <a:pt x="8912" y="92846"/>
                  <a:pt x="0" y="83934"/>
                  <a:pt x="0" y="72950"/>
                </a:cubicBezTo>
                <a:lnTo>
                  <a:pt x="0" y="33159"/>
                </a:lnTo>
                <a:close/>
              </a:path>
            </a:pathLst>
          </a:custGeom>
          <a:solidFill>
            <a:srgbClr val="4F9A94"/>
          </a:solidFill>
        </p:spPr>
      </p:sp>
      <p:sp>
        <p:nvSpPr>
          <p:cNvPr id="6" name="Text 4"/>
          <p:cNvSpPr/>
          <p:nvPr/>
        </p:nvSpPr>
        <p:spPr>
          <a:xfrm>
            <a:off x="689713" y="1527979"/>
            <a:ext cx="10048585" cy="2971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70" b="1" dirty="0">
                <a:solidFill>
                  <a:srgbClr val="4F9A9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完整处理链路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24439" y="1973640"/>
            <a:ext cx="1973640" cy="1740198"/>
          </a:xfrm>
          <a:custGeom>
            <a:avLst/>
            <a:gdLst/>
            <a:ahLst/>
            <a:cxnLst/>
            <a:rect l="l" t="t" r="r" b="b"/>
            <a:pathLst>
              <a:path w="1973640" h="1740198">
                <a:moveTo>
                  <a:pt x="0" y="0"/>
                </a:moveTo>
                <a:lnTo>
                  <a:pt x="1973640" y="0"/>
                </a:lnTo>
                <a:lnTo>
                  <a:pt x="1973640" y="1655312"/>
                </a:lnTo>
                <a:cubicBezTo>
                  <a:pt x="1973640" y="1702193"/>
                  <a:pt x="1935635" y="1740198"/>
                  <a:pt x="1888753" y="1740198"/>
                </a:cubicBezTo>
                <a:lnTo>
                  <a:pt x="84887" y="1740198"/>
                </a:lnTo>
                <a:cubicBezTo>
                  <a:pt x="38005" y="1740198"/>
                  <a:pt x="0" y="1702193"/>
                  <a:pt x="0" y="1655312"/>
                </a:cubicBezTo>
                <a:lnTo>
                  <a:pt x="0" y="0"/>
                </a:lnTo>
                <a:close/>
              </a:path>
            </a:pathLst>
          </a:custGeom>
          <a:solidFill>
            <a:srgbClr val="3D4A5C">
              <a:alpha val="30196"/>
            </a:srgbClr>
          </a:solidFill>
        </p:spPr>
      </p:sp>
      <p:sp>
        <p:nvSpPr>
          <p:cNvPr id="8" name="Shape 6"/>
          <p:cNvSpPr/>
          <p:nvPr/>
        </p:nvSpPr>
        <p:spPr>
          <a:xfrm>
            <a:off x="424439" y="1973640"/>
            <a:ext cx="1973640" cy="42444"/>
          </a:xfrm>
          <a:custGeom>
            <a:avLst/>
            <a:gdLst/>
            <a:ahLst/>
            <a:cxnLst/>
            <a:rect l="l" t="t" r="r" b="b"/>
            <a:pathLst>
              <a:path w="1973640" h="42444">
                <a:moveTo>
                  <a:pt x="0" y="0"/>
                </a:moveTo>
                <a:lnTo>
                  <a:pt x="1973640" y="0"/>
                </a:lnTo>
                <a:lnTo>
                  <a:pt x="1973640" y="42444"/>
                </a:lnTo>
                <a:lnTo>
                  <a:pt x="0" y="42444"/>
                </a:lnTo>
                <a:lnTo>
                  <a:pt x="0" y="0"/>
                </a:lnTo>
                <a:close/>
              </a:path>
            </a:pathLst>
          </a:custGeom>
          <a:solidFill>
            <a:srgbClr val="4F9A94"/>
          </a:solidFill>
        </p:spPr>
      </p:sp>
      <p:sp>
        <p:nvSpPr>
          <p:cNvPr id="9" name="Shape 7"/>
          <p:cNvSpPr/>
          <p:nvPr/>
        </p:nvSpPr>
        <p:spPr>
          <a:xfrm>
            <a:off x="1198597" y="2122193"/>
            <a:ext cx="424439" cy="424439"/>
          </a:xfrm>
          <a:custGeom>
            <a:avLst/>
            <a:gdLst/>
            <a:ahLst/>
            <a:cxnLst/>
            <a:rect l="l" t="t" r="r" b="b"/>
            <a:pathLst>
              <a:path w="424439" h="424439">
                <a:moveTo>
                  <a:pt x="212219" y="0"/>
                </a:moveTo>
                <a:lnTo>
                  <a:pt x="212219" y="0"/>
                </a:lnTo>
                <a:cubicBezTo>
                  <a:pt x="329346" y="0"/>
                  <a:pt x="424439" y="95092"/>
                  <a:pt x="424439" y="212219"/>
                </a:cubicBezTo>
                <a:lnTo>
                  <a:pt x="424439" y="212219"/>
                </a:lnTo>
                <a:cubicBezTo>
                  <a:pt x="424439" y="329346"/>
                  <a:pt x="329346" y="424439"/>
                  <a:pt x="212219" y="424439"/>
                </a:cubicBezTo>
                <a:lnTo>
                  <a:pt x="212219" y="424439"/>
                </a:lnTo>
                <a:cubicBezTo>
                  <a:pt x="95092" y="424439"/>
                  <a:pt x="0" y="329346"/>
                  <a:pt x="0" y="212219"/>
                </a:cubicBezTo>
                <a:lnTo>
                  <a:pt x="0" y="212219"/>
                </a:lnTo>
                <a:cubicBezTo>
                  <a:pt x="0" y="95092"/>
                  <a:pt x="95092" y="0"/>
                  <a:pt x="212219" y="0"/>
                </a:cubicBezTo>
                <a:close/>
              </a:path>
            </a:pathLst>
          </a:custGeom>
          <a:solidFill>
            <a:srgbClr val="4F9A94"/>
          </a:solidFill>
        </p:spPr>
      </p:sp>
      <p:sp>
        <p:nvSpPr>
          <p:cNvPr id="10" name="Text 8"/>
          <p:cNvSpPr/>
          <p:nvPr/>
        </p:nvSpPr>
        <p:spPr>
          <a:xfrm>
            <a:off x="1316055" y="2185859"/>
            <a:ext cx="190997" cy="2971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70" b="1" dirty="0">
                <a:solidFill>
                  <a:srgbClr val="1A1D2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98597" y="2631520"/>
            <a:ext cx="424439" cy="2546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5" b="1" dirty="0">
                <a:solidFill>
                  <a:srgbClr val="E5E7E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检测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14632" y="2971070"/>
            <a:ext cx="1793253" cy="6154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170" dirty="0">
                <a:solidFill>
                  <a:srgbClr val="E5E7EB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Worker 发现数据冲突，立即将冲突信息写入 conflict_records 表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482156" y="1973640"/>
            <a:ext cx="1973640" cy="1740198"/>
          </a:xfrm>
          <a:custGeom>
            <a:avLst/>
            <a:gdLst/>
            <a:ahLst/>
            <a:cxnLst/>
            <a:rect l="l" t="t" r="r" b="b"/>
            <a:pathLst>
              <a:path w="1973640" h="1740198">
                <a:moveTo>
                  <a:pt x="0" y="0"/>
                </a:moveTo>
                <a:lnTo>
                  <a:pt x="1973640" y="0"/>
                </a:lnTo>
                <a:lnTo>
                  <a:pt x="1973640" y="1655312"/>
                </a:lnTo>
                <a:cubicBezTo>
                  <a:pt x="1973640" y="1702193"/>
                  <a:pt x="1935635" y="1740198"/>
                  <a:pt x="1888753" y="1740198"/>
                </a:cubicBezTo>
                <a:lnTo>
                  <a:pt x="84887" y="1740198"/>
                </a:lnTo>
                <a:cubicBezTo>
                  <a:pt x="38005" y="1740198"/>
                  <a:pt x="0" y="1702193"/>
                  <a:pt x="0" y="1655312"/>
                </a:cubicBezTo>
                <a:lnTo>
                  <a:pt x="0" y="0"/>
                </a:lnTo>
                <a:close/>
              </a:path>
            </a:pathLst>
          </a:custGeom>
          <a:solidFill>
            <a:srgbClr val="3D4A5C">
              <a:alpha val="30196"/>
            </a:srgbClr>
          </a:solidFill>
        </p:spPr>
      </p:sp>
      <p:sp>
        <p:nvSpPr>
          <p:cNvPr id="14" name="Shape 12"/>
          <p:cNvSpPr/>
          <p:nvPr/>
        </p:nvSpPr>
        <p:spPr>
          <a:xfrm>
            <a:off x="2482156" y="1973640"/>
            <a:ext cx="1973640" cy="42444"/>
          </a:xfrm>
          <a:custGeom>
            <a:avLst/>
            <a:gdLst/>
            <a:ahLst/>
            <a:cxnLst/>
            <a:rect l="l" t="t" r="r" b="b"/>
            <a:pathLst>
              <a:path w="1973640" h="42444">
                <a:moveTo>
                  <a:pt x="0" y="0"/>
                </a:moveTo>
                <a:lnTo>
                  <a:pt x="1973640" y="0"/>
                </a:lnTo>
                <a:lnTo>
                  <a:pt x="1973640" y="42444"/>
                </a:lnTo>
                <a:lnTo>
                  <a:pt x="0" y="42444"/>
                </a:lnTo>
                <a:lnTo>
                  <a:pt x="0" y="0"/>
                </a:lnTo>
                <a:close/>
              </a:path>
            </a:pathLst>
          </a:custGeom>
          <a:solidFill>
            <a:srgbClr val="6B7280"/>
          </a:solidFill>
        </p:spPr>
      </p:sp>
      <p:sp>
        <p:nvSpPr>
          <p:cNvPr id="15" name="Shape 13"/>
          <p:cNvSpPr/>
          <p:nvPr/>
        </p:nvSpPr>
        <p:spPr>
          <a:xfrm>
            <a:off x="3256314" y="2122193"/>
            <a:ext cx="424439" cy="424439"/>
          </a:xfrm>
          <a:custGeom>
            <a:avLst/>
            <a:gdLst/>
            <a:ahLst/>
            <a:cxnLst/>
            <a:rect l="l" t="t" r="r" b="b"/>
            <a:pathLst>
              <a:path w="424439" h="424439">
                <a:moveTo>
                  <a:pt x="212219" y="0"/>
                </a:moveTo>
                <a:lnTo>
                  <a:pt x="212219" y="0"/>
                </a:lnTo>
                <a:cubicBezTo>
                  <a:pt x="329346" y="0"/>
                  <a:pt x="424439" y="95092"/>
                  <a:pt x="424439" y="212219"/>
                </a:cubicBezTo>
                <a:lnTo>
                  <a:pt x="424439" y="212219"/>
                </a:lnTo>
                <a:cubicBezTo>
                  <a:pt x="424439" y="329346"/>
                  <a:pt x="329346" y="424439"/>
                  <a:pt x="212219" y="424439"/>
                </a:cubicBezTo>
                <a:lnTo>
                  <a:pt x="212219" y="424439"/>
                </a:lnTo>
                <a:cubicBezTo>
                  <a:pt x="95092" y="424439"/>
                  <a:pt x="0" y="329346"/>
                  <a:pt x="0" y="212219"/>
                </a:cubicBezTo>
                <a:lnTo>
                  <a:pt x="0" y="212219"/>
                </a:lnTo>
                <a:cubicBezTo>
                  <a:pt x="0" y="95092"/>
                  <a:pt x="95092" y="0"/>
                  <a:pt x="212219" y="0"/>
                </a:cubicBezTo>
                <a:close/>
              </a:path>
            </a:pathLst>
          </a:custGeom>
          <a:solidFill>
            <a:srgbClr val="6B7280"/>
          </a:solidFill>
        </p:spPr>
      </p:sp>
      <p:sp>
        <p:nvSpPr>
          <p:cNvPr id="16" name="Text 14"/>
          <p:cNvSpPr/>
          <p:nvPr/>
        </p:nvSpPr>
        <p:spPr>
          <a:xfrm>
            <a:off x="3355792" y="2185859"/>
            <a:ext cx="222830" cy="2971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70" b="1" dirty="0">
                <a:solidFill>
                  <a:srgbClr val="E5E7E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256314" y="2631520"/>
            <a:ext cx="424439" cy="2546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5" b="1" dirty="0">
                <a:solidFill>
                  <a:srgbClr val="E5E7E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通知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572349" y="2971070"/>
            <a:ext cx="1793253" cy="6154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170" dirty="0">
                <a:solidFill>
                  <a:srgbClr val="E5E7EB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系统自动调用 SMTP 服务，发送邮件通知管理员处理冲突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39872" y="1973640"/>
            <a:ext cx="1973640" cy="1740198"/>
          </a:xfrm>
          <a:custGeom>
            <a:avLst/>
            <a:gdLst/>
            <a:ahLst/>
            <a:cxnLst/>
            <a:rect l="l" t="t" r="r" b="b"/>
            <a:pathLst>
              <a:path w="1973640" h="1740198">
                <a:moveTo>
                  <a:pt x="0" y="0"/>
                </a:moveTo>
                <a:lnTo>
                  <a:pt x="1973640" y="0"/>
                </a:lnTo>
                <a:lnTo>
                  <a:pt x="1973640" y="1655312"/>
                </a:lnTo>
                <a:cubicBezTo>
                  <a:pt x="1973640" y="1702193"/>
                  <a:pt x="1935635" y="1740198"/>
                  <a:pt x="1888753" y="1740198"/>
                </a:cubicBezTo>
                <a:lnTo>
                  <a:pt x="84887" y="1740198"/>
                </a:lnTo>
                <a:cubicBezTo>
                  <a:pt x="38005" y="1740198"/>
                  <a:pt x="0" y="1702193"/>
                  <a:pt x="0" y="1655312"/>
                </a:cubicBezTo>
                <a:lnTo>
                  <a:pt x="0" y="0"/>
                </a:lnTo>
                <a:close/>
              </a:path>
            </a:pathLst>
          </a:custGeom>
          <a:solidFill>
            <a:srgbClr val="3D4A5C">
              <a:alpha val="30196"/>
            </a:srgbClr>
          </a:solidFill>
        </p:spPr>
      </p:sp>
      <p:sp>
        <p:nvSpPr>
          <p:cNvPr id="20" name="Shape 18"/>
          <p:cNvSpPr/>
          <p:nvPr/>
        </p:nvSpPr>
        <p:spPr>
          <a:xfrm>
            <a:off x="4539872" y="1973640"/>
            <a:ext cx="1973640" cy="42444"/>
          </a:xfrm>
          <a:custGeom>
            <a:avLst/>
            <a:gdLst/>
            <a:ahLst/>
            <a:cxnLst/>
            <a:rect l="l" t="t" r="r" b="b"/>
            <a:pathLst>
              <a:path w="1973640" h="42444">
                <a:moveTo>
                  <a:pt x="0" y="0"/>
                </a:moveTo>
                <a:lnTo>
                  <a:pt x="1973640" y="0"/>
                </a:lnTo>
                <a:lnTo>
                  <a:pt x="1973640" y="42444"/>
                </a:lnTo>
                <a:lnTo>
                  <a:pt x="0" y="42444"/>
                </a:lnTo>
                <a:lnTo>
                  <a:pt x="0" y="0"/>
                </a:lnTo>
                <a:close/>
              </a:path>
            </a:pathLst>
          </a:custGeom>
          <a:solidFill>
            <a:srgbClr val="4F9A94"/>
          </a:solidFill>
        </p:spPr>
      </p:sp>
      <p:sp>
        <p:nvSpPr>
          <p:cNvPr id="21" name="Shape 19"/>
          <p:cNvSpPr/>
          <p:nvPr/>
        </p:nvSpPr>
        <p:spPr>
          <a:xfrm>
            <a:off x="5314031" y="2122193"/>
            <a:ext cx="424439" cy="424439"/>
          </a:xfrm>
          <a:custGeom>
            <a:avLst/>
            <a:gdLst/>
            <a:ahLst/>
            <a:cxnLst/>
            <a:rect l="l" t="t" r="r" b="b"/>
            <a:pathLst>
              <a:path w="424439" h="424439">
                <a:moveTo>
                  <a:pt x="212219" y="0"/>
                </a:moveTo>
                <a:lnTo>
                  <a:pt x="212219" y="0"/>
                </a:lnTo>
                <a:cubicBezTo>
                  <a:pt x="329346" y="0"/>
                  <a:pt x="424439" y="95092"/>
                  <a:pt x="424439" y="212219"/>
                </a:cubicBezTo>
                <a:lnTo>
                  <a:pt x="424439" y="212219"/>
                </a:lnTo>
                <a:cubicBezTo>
                  <a:pt x="424439" y="329346"/>
                  <a:pt x="329346" y="424439"/>
                  <a:pt x="212219" y="424439"/>
                </a:cubicBezTo>
                <a:lnTo>
                  <a:pt x="212219" y="424439"/>
                </a:lnTo>
                <a:cubicBezTo>
                  <a:pt x="95092" y="424439"/>
                  <a:pt x="0" y="329346"/>
                  <a:pt x="0" y="212219"/>
                </a:cubicBezTo>
                <a:lnTo>
                  <a:pt x="0" y="212219"/>
                </a:lnTo>
                <a:cubicBezTo>
                  <a:pt x="0" y="95092"/>
                  <a:pt x="95092" y="0"/>
                  <a:pt x="212219" y="0"/>
                </a:cubicBezTo>
                <a:close/>
              </a:path>
            </a:pathLst>
          </a:custGeom>
          <a:solidFill>
            <a:srgbClr val="4F9A94"/>
          </a:solidFill>
        </p:spPr>
      </p:sp>
      <p:sp>
        <p:nvSpPr>
          <p:cNvPr id="22" name="Text 20"/>
          <p:cNvSpPr/>
          <p:nvPr/>
        </p:nvSpPr>
        <p:spPr>
          <a:xfrm>
            <a:off x="5410782" y="2185859"/>
            <a:ext cx="233441" cy="2971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70" b="1" dirty="0">
                <a:solidFill>
                  <a:srgbClr val="1A1D2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314031" y="2631520"/>
            <a:ext cx="424439" cy="2546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5" b="1" dirty="0">
                <a:solidFill>
                  <a:srgbClr val="E5E7E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认证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630066" y="2971070"/>
            <a:ext cx="1793253" cy="6154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170" dirty="0">
                <a:solidFill>
                  <a:srgbClr val="E5E7EB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生成带 Token 的安全链接，管理员点击后后端进行身份校验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597589" y="1973640"/>
            <a:ext cx="1973640" cy="1740198"/>
          </a:xfrm>
          <a:custGeom>
            <a:avLst/>
            <a:gdLst/>
            <a:ahLst/>
            <a:cxnLst/>
            <a:rect l="l" t="t" r="r" b="b"/>
            <a:pathLst>
              <a:path w="1973640" h="1740198">
                <a:moveTo>
                  <a:pt x="0" y="0"/>
                </a:moveTo>
                <a:lnTo>
                  <a:pt x="1973640" y="0"/>
                </a:lnTo>
                <a:lnTo>
                  <a:pt x="1973640" y="1655312"/>
                </a:lnTo>
                <a:cubicBezTo>
                  <a:pt x="1973640" y="1702193"/>
                  <a:pt x="1935635" y="1740198"/>
                  <a:pt x="1888753" y="1740198"/>
                </a:cubicBezTo>
                <a:lnTo>
                  <a:pt x="84887" y="1740198"/>
                </a:lnTo>
                <a:cubicBezTo>
                  <a:pt x="38005" y="1740198"/>
                  <a:pt x="0" y="1702193"/>
                  <a:pt x="0" y="1655312"/>
                </a:cubicBezTo>
                <a:lnTo>
                  <a:pt x="0" y="0"/>
                </a:lnTo>
                <a:close/>
              </a:path>
            </a:pathLst>
          </a:custGeom>
          <a:solidFill>
            <a:srgbClr val="3D4A5C">
              <a:alpha val="30196"/>
            </a:srgbClr>
          </a:solidFill>
        </p:spPr>
      </p:sp>
      <p:sp>
        <p:nvSpPr>
          <p:cNvPr id="26" name="Shape 24"/>
          <p:cNvSpPr/>
          <p:nvPr/>
        </p:nvSpPr>
        <p:spPr>
          <a:xfrm>
            <a:off x="6597589" y="1973640"/>
            <a:ext cx="1973640" cy="42444"/>
          </a:xfrm>
          <a:custGeom>
            <a:avLst/>
            <a:gdLst/>
            <a:ahLst/>
            <a:cxnLst/>
            <a:rect l="l" t="t" r="r" b="b"/>
            <a:pathLst>
              <a:path w="1973640" h="42444">
                <a:moveTo>
                  <a:pt x="0" y="0"/>
                </a:moveTo>
                <a:lnTo>
                  <a:pt x="1973640" y="0"/>
                </a:lnTo>
                <a:lnTo>
                  <a:pt x="1973640" y="42444"/>
                </a:lnTo>
                <a:lnTo>
                  <a:pt x="0" y="42444"/>
                </a:lnTo>
                <a:lnTo>
                  <a:pt x="0" y="0"/>
                </a:lnTo>
                <a:close/>
              </a:path>
            </a:pathLst>
          </a:custGeom>
          <a:solidFill>
            <a:srgbClr val="6B7280"/>
          </a:solidFill>
        </p:spPr>
      </p:sp>
      <p:sp>
        <p:nvSpPr>
          <p:cNvPr id="27" name="Shape 25"/>
          <p:cNvSpPr/>
          <p:nvPr/>
        </p:nvSpPr>
        <p:spPr>
          <a:xfrm>
            <a:off x="7371748" y="2122193"/>
            <a:ext cx="424439" cy="424439"/>
          </a:xfrm>
          <a:custGeom>
            <a:avLst/>
            <a:gdLst/>
            <a:ahLst/>
            <a:cxnLst/>
            <a:rect l="l" t="t" r="r" b="b"/>
            <a:pathLst>
              <a:path w="424439" h="424439">
                <a:moveTo>
                  <a:pt x="212219" y="0"/>
                </a:moveTo>
                <a:lnTo>
                  <a:pt x="212219" y="0"/>
                </a:lnTo>
                <a:cubicBezTo>
                  <a:pt x="329346" y="0"/>
                  <a:pt x="424439" y="95092"/>
                  <a:pt x="424439" y="212219"/>
                </a:cubicBezTo>
                <a:lnTo>
                  <a:pt x="424439" y="212219"/>
                </a:lnTo>
                <a:cubicBezTo>
                  <a:pt x="424439" y="329346"/>
                  <a:pt x="329346" y="424439"/>
                  <a:pt x="212219" y="424439"/>
                </a:cubicBezTo>
                <a:lnTo>
                  <a:pt x="212219" y="424439"/>
                </a:lnTo>
                <a:cubicBezTo>
                  <a:pt x="95092" y="424439"/>
                  <a:pt x="0" y="329346"/>
                  <a:pt x="0" y="212219"/>
                </a:cubicBezTo>
                <a:lnTo>
                  <a:pt x="0" y="212219"/>
                </a:lnTo>
                <a:cubicBezTo>
                  <a:pt x="0" y="95092"/>
                  <a:pt x="95092" y="0"/>
                  <a:pt x="212219" y="0"/>
                </a:cubicBezTo>
                <a:close/>
              </a:path>
            </a:pathLst>
          </a:custGeom>
          <a:solidFill>
            <a:srgbClr val="6B7280"/>
          </a:solidFill>
        </p:spPr>
      </p:sp>
      <p:sp>
        <p:nvSpPr>
          <p:cNvPr id="28" name="Text 26"/>
          <p:cNvSpPr/>
          <p:nvPr/>
        </p:nvSpPr>
        <p:spPr>
          <a:xfrm>
            <a:off x="7468720" y="2185859"/>
            <a:ext cx="233441" cy="2971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70" b="1" dirty="0">
                <a:solidFill>
                  <a:srgbClr val="E5E7E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371748" y="2631520"/>
            <a:ext cx="424439" cy="2546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5" b="1" dirty="0">
                <a:solidFill>
                  <a:srgbClr val="E5E7E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决策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687782" y="2971070"/>
            <a:ext cx="1793253" cy="6154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170" dirty="0">
                <a:solidFill>
                  <a:srgbClr val="E5E7EB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管理端 UI 展示数据对比，管理员选择保留 Source、Target 或手动合并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655306" y="1973640"/>
            <a:ext cx="1973640" cy="1740198"/>
          </a:xfrm>
          <a:custGeom>
            <a:avLst/>
            <a:gdLst/>
            <a:ahLst/>
            <a:cxnLst/>
            <a:rect l="l" t="t" r="r" b="b"/>
            <a:pathLst>
              <a:path w="1973640" h="1740198">
                <a:moveTo>
                  <a:pt x="0" y="0"/>
                </a:moveTo>
                <a:lnTo>
                  <a:pt x="1973640" y="0"/>
                </a:lnTo>
                <a:lnTo>
                  <a:pt x="1973640" y="1655312"/>
                </a:lnTo>
                <a:cubicBezTo>
                  <a:pt x="1973640" y="1702193"/>
                  <a:pt x="1935635" y="1740198"/>
                  <a:pt x="1888753" y="1740198"/>
                </a:cubicBezTo>
                <a:lnTo>
                  <a:pt x="84887" y="1740198"/>
                </a:lnTo>
                <a:cubicBezTo>
                  <a:pt x="38005" y="1740198"/>
                  <a:pt x="0" y="1702193"/>
                  <a:pt x="0" y="1655312"/>
                </a:cubicBezTo>
                <a:lnTo>
                  <a:pt x="0" y="0"/>
                </a:lnTo>
                <a:close/>
              </a:path>
            </a:pathLst>
          </a:custGeom>
          <a:solidFill>
            <a:srgbClr val="3D4A5C">
              <a:alpha val="30196"/>
            </a:srgbClr>
          </a:solidFill>
        </p:spPr>
      </p:sp>
      <p:sp>
        <p:nvSpPr>
          <p:cNvPr id="32" name="Shape 30"/>
          <p:cNvSpPr/>
          <p:nvPr/>
        </p:nvSpPr>
        <p:spPr>
          <a:xfrm>
            <a:off x="8655306" y="1973640"/>
            <a:ext cx="1973640" cy="42444"/>
          </a:xfrm>
          <a:custGeom>
            <a:avLst/>
            <a:gdLst/>
            <a:ahLst/>
            <a:cxnLst/>
            <a:rect l="l" t="t" r="r" b="b"/>
            <a:pathLst>
              <a:path w="1973640" h="42444">
                <a:moveTo>
                  <a:pt x="0" y="0"/>
                </a:moveTo>
                <a:lnTo>
                  <a:pt x="1973640" y="0"/>
                </a:lnTo>
                <a:lnTo>
                  <a:pt x="1973640" y="42444"/>
                </a:lnTo>
                <a:lnTo>
                  <a:pt x="0" y="42444"/>
                </a:lnTo>
                <a:lnTo>
                  <a:pt x="0" y="0"/>
                </a:lnTo>
                <a:close/>
              </a:path>
            </a:pathLst>
          </a:custGeom>
          <a:solidFill>
            <a:srgbClr val="4F9A94"/>
          </a:solidFill>
        </p:spPr>
      </p:sp>
      <p:sp>
        <p:nvSpPr>
          <p:cNvPr id="33" name="Shape 31"/>
          <p:cNvSpPr/>
          <p:nvPr/>
        </p:nvSpPr>
        <p:spPr>
          <a:xfrm>
            <a:off x="9429464" y="2122193"/>
            <a:ext cx="424439" cy="424439"/>
          </a:xfrm>
          <a:custGeom>
            <a:avLst/>
            <a:gdLst/>
            <a:ahLst/>
            <a:cxnLst/>
            <a:rect l="l" t="t" r="r" b="b"/>
            <a:pathLst>
              <a:path w="424439" h="424439">
                <a:moveTo>
                  <a:pt x="212219" y="0"/>
                </a:moveTo>
                <a:lnTo>
                  <a:pt x="212219" y="0"/>
                </a:lnTo>
                <a:cubicBezTo>
                  <a:pt x="329346" y="0"/>
                  <a:pt x="424439" y="95092"/>
                  <a:pt x="424439" y="212219"/>
                </a:cubicBezTo>
                <a:lnTo>
                  <a:pt x="424439" y="212219"/>
                </a:lnTo>
                <a:cubicBezTo>
                  <a:pt x="424439" y="329346"/>
                  <a:pt x="329346" y="424439"/>
                  <a:pt x="212219" y="424439"/>
                </a:cubicBezTo>
                <a:lnTo>
                  <a:pt x="212219" y="424439"/>
                </a:lnTo>
                <a:cubicBezTo>
                  <a:pt x="95092" y="424439"/>
                  <a:pt x="0" y="329346"/>
                  <a:pt x="0" y="212219"/>
                </a:cubicBezTo>
                <a:lnTo>
                  <a:pt x="0" y="212219"/>
                </a:lnTo>
                <a:cubicBezTo>
                  <a:pt x="0" y="95092"/>
                  <a:pt x="95092" y="0"/>
                  <a:pt x="212219" y="0"/>
                </a:cubicBezTo>
                <a:close/>
              </a:path>
            </a:pathLst>
          </a:custGeom>
          <a:solidFill>
            <a:srgbClr val="4F9A94"/>
          </a:solidFill>
        </p:spPr>
      </p:sp>
      <p:sp>
        <p:nvSpPr>
          <p:cNvPr id="34" name="Text 32"/>
          <p:cNvSpPr/>
          <p:nvPr/>
        </p:nvSpPr>
        <p:spPr>
          <a:xfrm>
            <a:off x="9525258" y="2185859"/>
            <a:ext cx="233441" cy="2971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70" b="1" dirty="0">
                <a:solidFill>
                  <a:srgbClr val="1A1D2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5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429464" y="2631520"/>
            <a:ext cx="424439" cy="2546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5" b="1" dirty="0">
                <a:solidFill>
                  <a:srgbClr val="E5E7E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修复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745499" y="2971070"/>
            <a:ext cx="1793253" cy="6154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170" dirty="0">
                <a:solidFill>
                  <a:srgbClr val="E5E7EB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执行覆盖写入操作，标记冲突状态为 Resolved，恢复同步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29260" y="3843020"/>
            <a:ext cx="10196195" cy="5031105"/>
          </a:xfrm>
          <a:custGeom>
            <a:avLst/>
            <a:gdLst/>
            <a:ahLst/>
            <a:cxnLst/>
            <a:rect l="l" t="t" r="r" b="b"/>
            <a:pathLst>
              <a:path w="10195959" h="2089181">
                <a:moveTo>
                  <a:pt x="84883" y="0"/>
                </a:moveTo>
                <a:lnTo>
                  <a:pt x="10111076" y="0"/>
                </a:lnTo>
                <a:cubicBezTo>
                  <a:pt x="10157956" y="0"/>
                  <a:pt x="10195959" y="38004"/>
                  <a:pt x="10195959" y="84883"/>
                </a:cubicBezTo>
                <a:lnTo>
                  <a:pt x="10195959" y="2004298"/>
                </a:lnTo>
                <a:cubicBezTo>
                  <a:pt x="10195959" y="2051178"/>
                  <a:pt x="10157956" y="2089181"/>
                  <a:pt x="10111076" y="2089181"/>
                </a:cubicBezTo>
                <a:lnTo>
                  <a:pt x="84883" y="2089181"/>
                </a:lnTo>
                <a:cubicBezTo>
                  <a:pt x="38004" y="2089181"/>
                  <a:pt x="0" y="2051178"/>
                  <a:pt x="0" y="2004298"/>
                </a:cubicBezTo>
                <a:lnTo>
                  <a:pt x="0" y="84883"/>
                </a:lnTo>
                <a:cubicBezTo>
                  <a:pt x="0" y="38035"/>
                  <a:pt x="38035" y="0"/>
                  <a:pt x="84883" y="0"/>
                </a:cubicBezTo>
                <a:close/>
              </a:path>
            </a:pathLst>
          </a:custGeom>
          <a:solidFill>
            <a:srgbClr val="3D4A5C">
              <a:alpha val="30196"/>
            </a:srgbClr>
          </a:solidFill>
          <a:ln w="11289">
            <a:solidFill>
              <a:srgbClr val="3D4A5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0173" y="4070782"/>
            <a:ext cx="190997" cy="190997"/>
          </a:xfrm>
          <a:custGeom>
            <a:avLst/>
            <a:gdLst/>
            <a:ahLst/>
            <a:cxnLst/>
            <a:rect l="l" t="t" r="r" b="b"/>
            <a:pathLst>
              <a:path w="190997" h="190997">
                <a:moveTo>
                  <a:pt x="71624" y="23875"/>
                </a:moveTo>
                <a:cubicBezTo>
                  <a:pt x="71624" y="17272"/>
                  <a:pt x="76959" y="11937"/>
                  <a:pt x="83561" y="11937"/>
                </a:cubicBezTo>
                <a:lnTo>
                  <a:pt x="107436" y="11937"/>
                </a:lnTo>
                <a:cubicBezTo>
                  <a:pt x="114039" y="11937"/>
                  <a:pt x="119373" y="17272"/>
                  <a:pt x="119373" y="23875"/>
                </a:cubicBezTo>
                <a:lnTo>
                  <a:pt x="119373" y="47749"/>
                </a:lnTo>
                <a:cubicBezTo>
                  <a:pt x="119373" y="54352"/>
                  <a:pt x="114039" y="59687"/>
                  <a:pt x="107436" y="59687"/>
                </a:cubicBezTo>
                <a:lnTo>
                  <a:pt x="104452" y="59687"/>
                </a:lnTo>
                <a:lnTo>
                  <a:pt x="104452" y="83561"/>
                </a:lnTo>
                <a:lnTo>
                  <a:pt x="149217" y="83561"/>
                </a:lnTo>
                <a:cubicBezTo>
                  <a:pt x="164064" y="83561"/>
                  <a:pt x="176076" y="95573"/>
                  <a:pt x="176076" y="110420"/>
                </a:cubicBezTo>
                <a:lnTo>
                  <a:pt x="176076" y="131311"/>
                </a:lnTo>
                <a:lnTo>
                  <a:pt x="179060" y="131311"/>
                </a:lnTo>
                <a:cubicBezTo>
                  <a:pt x="185663" y="131311"/>
                  <a:pt x="190997" y="136645"/>
                  <a:pt x="190997" y="143248"/>
                </a:cubicBezTo>
                <a:lnTo>
                  <a:pt x="190997" y="167123"/>
                </a:lnTo>
                <a:cubicBezTo>
                  <a:pt x="190997" y="173726"/>
                  <a:pt x="185663" y="179060"/>
                  <a:pt x="179060" y="179060"/>
                </a:cubicBezTo>
                <a:lnTo>
                  <a:pt x="155185" y="179060"/>
                </a:lnTo>
                <a:cubicBezTo>
                  <a:pt x="148583" y="179060"/>
                  <a:pt x="143248" y="173726"/>
                  <a:pt x="143248" y="167123"/>
                </a:cubicBezTo>
                <a:lnTo>
                  <a:pt x="143248" y="143248"/>
                </a:lnTo>
                <a:cubicBezTo>
                  <a:pt x="143248" y="136645"/>
                  <a:pt x="148583" y="131311"/>
                  <a:pt x="155185" y="131311"/>
                </a:cubicBezTo>
                <a:lnTo>
                  <a:pt x="158170" y="131311"/>
                </a:lnTo>
                <a:lnTo>
                  <a:pt x="158170" y="110420"/>
                </a:lnTo>
                <a:cubicBezTo>
                  <a:pt x="158170" y="105459"/>
                  <a:pt x="154178" y="101467"/>
                  <a:pt x="149217" y="101467"/>
                </a:cubicBezTo>
                <a:lnTo>
                  <a:pt x="104452" y="101467"/>
                </a:lnTo>
                <a:lnTo>
                  <a:pt x="104452" y="131311"/>
                </a:lnTo>
                <a:lnTo>
                  <a:pt x="107436" y="131311"/>
                </a:lnTo>
                <a:cubicBezTo>
                  <a:pt x="114039" y="131311"/>
                  <a:pt x="119373" y="136645"/>
                  <a:pt x="119373" y="143248"/>
                </a:cubicBezTo>
                <a:lnTo>
                  <a:pt x="119373" y="167123"/>
                </a:lnTo>
                <a:cubicBezTo>
                  <a:pt x="119373" y="173726"/>
                  <a:pt x="114039" y="179060"/>
                  <a:pt x="107436" y="179060"/>
                </a:cubicBezTo>
                <a:lnTo>
                  <a:pt x="83561" y="179060"/>
                </a:lnTo>
                <a:cubicBezTo>
                  <a:pt x="76959" y="179060"/>
                  <a:pt x="71624" y="173726"/>
                  <a:pt x="71624" y="167123"/>
                </a:cubicBezTo>
                <a:lnTo>
                  <a:pt x="71624" y="143248"/>
                </a:lnTo>
                <a:cubicBezTo>
                  <a:pt x="71624" y="136645"/>
                  <a:pt x="76959" y="131311"/>
                  <a:pt x="83561" y="131311"/>
                </a:cubicBezTo>
                <a:lnTo>
                  <a:pt x="86546" y="131311"/>
                </a:lnTo>
                <a:lnTo>
                  <a:pt x="86546" y="101467"/>
                </a:lnTo>
                <a:lnTo>
                  <a:pt x="41781" y="101467"/>
                </a:lnTo>
                <a:cubicBezTo>
                  <a:pt x="36819" y="101467"/>
                  <a:pt x="32828" y="105459"/>
                  <a:pt x="32828" y="110420"/>
                </a:cubicBezTo>
                <a:lnTo>
                  <a:pt x="32828" y="131311"/>
                </a:lnTo>
                <a:lnTo>
                  <a:pt x="35812" y="131311"/>
                </a:lnTo>
                <a:cubicBezTo>
                  <a:pt x="42415" y="131311"/>
                  <a:pt x="47749" y="136645"/>
                  <a:pt x="47749" y="143248"/>
                </a:cubicBezTo>
                <a:lnTo>
                  <a:pt x="47749" y="167123"/>
                </a:lnTo>
                <a:cubicBezTo>
                  <a:pt x="47749" y="173726"/>
                  <a:pt x="42415" y="179060"/>
                  <a:pt x="35812" y="179060"/>
                </a:cubicBezTo>
                <a:lnTo>
                  <a:pt x="11937" y="179060"/>
                </a:lnTo>
                <a:cubicBezTo>
                  <a:pt x="5334" y="179060"/>
                  <a:pt x="0" y="173726"/>
                  <a:pt x="0" y="167123"/>
                </a:cubicBezTo>
                <a:lnTo>
                  <a:pt x="0" y="143248"/>
                </a:lnTo>
                <a:cubicBezTo>
                  <a:pt x="0" y="136645"/>
                  <a:pt x="5334" y="131311"/>
                  <a:pt x="11937" y="131311"/>
                </a:cubicBezTo>
                <a:lnTo>
                  <a:pt x="14922" y="131311"/>
                </a:lnTo>
                <a:lnTo>
                  <a:pt x="14922" y="110420"/>
                </a:lnTo>
                <a:cubicBezTo>
                  <a:pt x="14922" y="95573"/>
                  <a:pt x="26934" y="83561"/>
                  <a:pt x="41781" y="83561"/>
                </a:cubicBezTo>
                <a:lnTo>
                  <a:pt x="86546" y="83561"/>
                </a:lnTo>
                <a:lnTo>
                  <a:pt x="86546" y="59687"/>
                </a:lnTo>
                <a:lnTo>
                  <a:pt x="83561" y="59687"/>
                </a:lnTo>
                <a:cubicBezTo>
                  <a:pt x="76959" y="59687"/>
                  <a:pt x="71624" y="54352"/>
                  <a:pt x="71624" y="47749"/>
                </a:cubicBezTo>
                <a:lnTo>
                  <a:pt x="71624" y="23875"/>
                </a:lnTo>
                <a:close/>
              </a:path>
            </a:pathLst>
          </a:custGeom>
          <a:solidFill>
            <a:srgbClr val="E5E7EB"/>
          </a:solidFill>
        </p:spPr>
      </p:sp>
      <p:sp>
        <p:nvSpPr>
          <p:cNvPr id="39" name="Text 37"/>
          <p:cNvSpPr/>
          <p:nvPr/>
        </p:nvSpPr>
        <p:spPr>
          <a:xfrm>
            <a:off x="847698" y="4017727"/>
            <a:ext cx="9698423" cy="2971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5" b="1" dirty="0">
                <a:solidFill>
                  <a:srgbClr val="E5E7E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流程可视化</a:t>
            </a:r>
            <a:endParaRPr lang="en-US" sz="1600" dirty="0"/>
          </a:p>
        </p:txBody>
      </p:sp>
      <p:grpSp>
        <p:nvGrpSpPr>
          <p:cNvPr id="92" name="组合 91"/>
          <p:cNvGrpSpPr/>
          <p:nvPr/>
        </p:nvGrpSpPr>
        <p:grpSpPr>
          <a:xfrm>
            <a:off x="932815" y="4472305"/>
            <a:ext cx="2557145" cy="424180"/>
            <a:chOff x="951" y="7293"/>
            <a:chExt cx="4027" cy="668"/>
          </a:xfrm>
        </p:grpSpPr>
        <p:sp>
          <p:nvSpPr>
            <p:cNvPr id="40" name="Shape 38"/>
            <p:cNvSpPr/>
            <p:nvPr/>
          </p:nvSpPr>
          <p:spPr>
            <a:xfrm>
              <a:off x="951" y="7293"/>
              <a:ext cx="1470" cy="668"/>
            </a:xfrm>
            <a:custGeom>
              <a:avLst/>
              <a:gdLst/>
              <a:ahLst/>
              <a:cxnLst/>
              <a:rect l="l" t="t" r="r" b="b"/>
              <a:pathLst>
                <a:path w="933765" h="424439">
                  <a:moveTo>
                    <a:pt x="84888" y="0"/>
                  </a:moveTo>
                  <a:lnTo>
                    <a:pt x="848877" y="0"/>
                  </a:lnTo>
                  <a:cubicBezTo>
                    <a:pt x="895759" y="0"/>
                    <a:pt x="933765" y="38006"/>
                    <a:pt x="933765" y="84888"/>
                  </a:cubicBezTo>
                  <a:lnTo>
                    <a:pt x="933765" y="339551"/>
                  </a:lnTo>
                  <a:cubicBezTo>
                    <a:pt x="933765" y="386433"/>
                    <a:pt x="895759" y="424439"/>
                    <a:pt x="848877" y="424439"/>
                  </a:cubicBezTo>
                  <a:lnTo>
                    <a:pt x="84888" y="424439"/>
                  </a:lnTo>
                  <a:cubicBezTo>
                    <a:pt x="38006" y="424439"/>
                    <a:pt x="0" y="386433"/>
                    <a:pt x="0" y="339551"/>
                  </a:cubicBezTo>
                  <a:lnTo>
                    <a:pt x="0" y="84888"/>
                  </a:lnTo>
                  <a:cubicBezTo>
                    <a:pt x="0" y="38006"/>
                    <a:pt x="38006" y="0"/>
                    <a:pt x="84888" y="0"/>
                  </a:cubicBezTo>
                  <a:close/>
                </a:path>
              </a:pathLst>
            </a:custGeom>
            <a:solidFill>
              <a:srgbClr val="4F9A94"/>
            </a:solidFill>
          </p:spPr>
        </p:sp>
        <p:sp>
          <p:nvSpPr>
            <p:cNvPr id="41" name="Text 39"/>
            <p:cNvSpPr/>
            <p:nvPr/>
          </p:nvSpPr>
          <p:spPr>
            <a:xfrm>
              <a:off x="951" y="7293"/>
              <a:ext cx="1604" cy="668"/>
            </a:xfrm>
            <a:prstGeom prst="rect">
              <a:avLst/>
            </a:prstGeom>
            <a:noFill/>
          </p:spPr>
          <p:txBody>
            <a:bodyPr wrap="square" lIns="127332" tIns="84888" rIns="127332" bIns="84888" rtlCol="0" anchor="ctr"/>
            <a:lstStyle/>
            <a:p>
              <a:pPr>
                <a:lnSpc>
                  <a:spcPct val="130000"/>
                </a:lnSpc>
              </a:pPr>
              <a:r>
                <a:rPr lang="en-US" sz="1335" b="1" dirty="0">
                  <a:solidFill>
                    <a:srgbClr val="1A1D21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冲突检测</a:t>
              </a:r>
              <a:endParaRPr lang="en-US" sz="1600" dirty="0"/>
            </a:p>
          </p:txBody>
        </p:sp>
        <p:sp>
          <p:nvSpPr>
            <p:cNvPr id="42" name="Shape 40"/>
            <p:cNvSpPr/>
            <p:nvPr/>
          </p:nvSpPr>
          <p:spPr>
            <a:xfrm>
              <a:off x="2597" y="7460"/>
              <a:ext cx="334" cy="334"/>
            </a:xfrm>
            <a:custGeom>
              <a:avLst/>
              <a:gdLst/>
              <a:ahLst/>
              <a:cxnLst/>
              <a:rect l="l" t="t" r="r" b="b"/>
              <a:pathLst>
                <a:path w="212219" h="212219">
                  <a:moveTo>
                    <a:pt x="208323" y="115477"/>
                  </a:moveTo>
                  <a:cubicBezTo>
                    <a:pt x="213504" y="110296"/>
                    <a:pt x="213504" y="101882"/>
                    <a:pt x="208323" y="96701"/>
                  </a:cubicBezTo>
                  <a:lnTo>
                    <a:pt x="142005" y="30382"/>
                  </a:lnTo>
                  <a:cubicBezTo>
                    <a:pt x="136823" y="25201"/>
                    <a:pt x="128409" y="25201"/>
                    <a:pt x="123228" y="30382"/>
                  </a:cubicBezTo>
                  <a:cubicBezTo>
                    <a:pt x="118047" y="35563"/>
                    <a:pt x="118047" y="43977"/>
                    <a:pt x="123228" y="49159"/>
                  </a:cubicBezTo>
                  <a:lnTo>
                    <a:pt x="166915" y="92846"/>
                  </a:lnTo>
                  <a:lnTo>
                    <a:pt x="13264" y="92846"/>
                  </a:lnTo>
                  <a:cubicBezTo>
                    <a:pt x="5927" y="92846"/>
                    <a:pt x="0" y="98773"/>
                    <a:pt x="0" y="106110"/>
                  </a:cubicBezTo>
                  <a:cubicBezTo>
                    <a:pt x="0" y="113446"/>
                    <a:pt x="5927" y="119373"/>
                    <a:pt x="13264" y="119373"/>
                  </a:cubicBezTo>
                  <a:lnTo>
                    <a:pt x="166915" y="119373"/>
                  </a:lnTo>
                  <a:lnTo>
                    <a:pt x="123228" y="163061"/>
                  </a:lnTo>
                  <a:cubicBezTo>
                    <a:pt x="118047" y="168242"/>
                    <a:pt x="118047" y="176656"/>
                    <a:pt x="123228" y="181837"/>
                  </a:cubicBezTo>
                  <a:cubicBezTo>
                    <a:pt x="128409" y="187018"/>
                    <a:pt x="136823" y="187018"/>
                    <a:pt x="142005" y="181837"/>
                  </a:cubicBezTo>
                  <a:lnTo>
                    <a:pt x="208323" y="115519"/>
                  </a:lnTo>
                  <a:close/>
                </a:path>
              </a:pathLst>
            </a:custGeom>
            <a:solidFill>
              <a:srgbClr val="4F9A94"/>
            </a:solidFill>
          </p:spPr>
        </p:sp>
        <p:sp>
          <p:nvSpPr>
            <p:cNvPr id="43" name="Shape 41"/>
            <p:cNvSpPr/>
            <p:nvPr/>
          </p:nvSpPr>
          <p:spPr>
            <a:xfrm>
              <a:off x="3106" y="7293"/>
              <a:ext cx="1738" cy="668"/>
            </a:xfrm>
            <a:custGeom>
              <a:avLst/>
              <a:gdLst/>
              <a:ahLst/>
              <a:cxnLst/>
              <a:rect l="l" t="t" r="r" b="b"/>
              <a:pathLst>
                <a:path w="1103540" h="424439">
                  <a:moveTo>
                    <a:pt x="84888" y="0"/>
                  </a:moveTo>
                  <a:lnTo>
                    <a:pt x="1018653" y="0"/>
                  </a:lnTo>
                  <a:cubicBezTo>
                    <a:pt x="1065535" y="0"/>
                    <a:pt x="1103540" y="38006"/>
                    <a:pt x="1103540" y="84888"/>
                  </a:cubicBezTo>
                  <a:lnTo>
                    <a:pt x="1103540" y="339551"/>
                  </a:lnTo>
                  <a:cubicBezTo>
                    <a:pt x="1103540" y="386433"/>
                    <a:pt x="1065535" y="424439"/>
                    <a:pt x="1018653" y="424439"/>
                  </a:cubicBezTo>
                  <a:lnTo>
                    <a:pt x="84888" y="424439"/>
                  </a:lnTo>
                  <a:cubicBezTo>
                    <a:pt x="38006" y="424439"/>
                    <a:pt x="0" y="386433"/>
                    <a:pt x="0" y="339551"/>
                  </a:cubicBezTo>
                  <a:lnTo>
                    <a:pt x="0" y="84888"/>
                  </a:lnTo>
                  <a:cubicBezTo>
                    <a:pt x="0" y="38006"/>
                    <a:pt x="38006" y="0"/>
                    <a:pt x="84888" y="0"/>
                  </a:cubicBezTo>
                  <a:close/>
                </a:path>
              </a:pathLst>
            </a:custGeom>
            <a:solidFill>
              <a:srgbClr val="6B7280"/>
            </a:solidFill>
          </p:spPr>
        </p:sp>
        <p:sp>
          <p:nvSpPr>
            <p:cNvPr id="44" name="Text 42"/>
            <p:cNvSpPr/>
            <p:nvPr/>
          </p:nvSpPr>
          <p:spPr>
            <a:xfrm>
              <a:off x="3106" y="7293"/>
              <a:ext cx="1872" cy="668"/>
            </a:xfrm>
            <a:prstGeom prst="rect">
              <a:avLst/>
            </a:prstGeom>
            <a:noFill/>
          </p:spPr>
          <p:txBody>
            <a:bodyPr wrap="square" lIns="127332" tIns="84888" rIns="127332" bIns="84888" rtlCol="0" anchor="ctr"/>
            <a:lstStyle/>
            <a:p>
              <a:pPr>
                <a:lnSpc>
                  <a:spcPct val="130000"/>
                </a:lnSpc>
              </a:pPr>
              <a:r>
                <a:rPr lang="en-US" sz="1335" dirty="0">
                  <a:solidFill>
                    <a:srgbClr val="E5E7EB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SMTP 通知</a:t>
              </a:r>
              <a:endParaRPr lang="en-US" sz="1600" dirty="0"/>
            </a:p>
          </p:txBody>
        </p:sp>
      </p:grpSp>
      <p:grpSp>
        <p:nvGrpSpPr>
          <p:cNvPr id="94" name="组合 93"/>
          <p:cNvGrpSpPr/>
          <p:nvPr/>
        </p:nvGrpSpPr>
        <p:grpSpPr>
          <a:xfrm>
            <a:off x="905510" y="5283835"/>
            <a:ext cx="2498725" cy="424180"/>
            <a:chOff x="1426" y="8321"/>
            <a:chExt cx="3935" cy="668"/>
          </a:xfrm>
        </p:grpSpPr>
        <p:sp>
          <p:nvSpPr>
            <p:cNvPr id="45" name="Shape 43"/>
            <p:cNvSpPr/>
            <p:nvPr/>
          </p:nvSpPr>
          <p:spPr>
            <a:xfrm>
              <a:off x="1476" y="8321"/>
              <a:ext cx="1459" cy="668"/>
            </a:xfrm>
            <a:custGeom>
              <a:avLst/>
              <a:gdLst/>
              <a:ahLst/>
              <a:cxnLst/>
              <a:rect l="l" t="t" r="r" b="b"/>
              <a:pathLst>
                <a:path w="933765" h="424439">
                  <a:moveTo>
                    <a:pt x="84888" y="0"/>
                  </a:moveTo>
                  <a:lnTo>
                    <a:pt x="848877" y="0"/>
                  </a:lnTo>
                  <a:cubicBezTo>
                    <a:pt x="895759" y="0"/>
                    <a:pt x="933765" y="38006"/>
                    <a:pt x="933765" y="84888"/>
                  </a:cubicBezTo>
                  <a:lnTo>
                    <a:pt x="933765" y="339551"/>
                  </a:lnTo>
                  <a:cubicBezTo>
                    <a:pt x="933765" y="386433"/>
                    <a:pt x="895759" y="424439"/>
                    <a:pt x="848877" y="424439"/>
                  </a:cubicBezTo>
                  <a:lnTo>
                    <a:pt x="84888" y="424439"/>
                  </a:lnTo>
                  <a:cubicBezTo>
                    <a:pt x="38006" y="424439"/>
                    <a:pt x="0" y="386433"/>
                    <a:pt x="0" y="339551"/>
                  </a:cubicBezTo>
                  <a:lnTo>
                    <a:pt x="0" y="84888"/>
                  </a:lnTo>
                  <a:cubicBezTo>
                    <a:pt x="0" y="38006"/>
                    <a:pt x="38006" y="0"/>
                    <a:pt x="84888" y="0"/>
                  </a:cubicBezTo>
                  <a:close/>
                </a:path>
              </a:pathLst>
            </a:custGeom>
            <a:solidFill>
              <a:srgbClr val="4F9A94"/>
            </a:solidFill>
          </p:spPr>
        </p:sp>
        <p:sp>
          <p:nvSpPr>
            <p:cNvPr id="46" name="Text 44"/>
            <p:cNvSpPr/>
            <p:nvPr/>
          </p:nvSpPr>
          <p:spPr>
            <a:xfrm>
              <a:off x="1426" y="8321"/>
              <a:ext cx="1637" cy="668"/>
            </a:xfrm>
            <a:prstGeom prst="rect">
              <a:avLst/>
            </a:prstGeom>
            <a:noFill/>
          </p:spPr>
          <p:txBody>
            <a:bodyPr wrap="square" lIns="127332" tIns="84888" rIns="127332" bIns="84888" rtlCol="0" anchor="ctr"/>
            <a:lstStyle/>
            <a:p>
              <a:pPr>
                <a:lnSpc>
                  <a:spcPct val="130000"/>
                </a:lnSpc>
              </a:pPr>
              <a:r>
                <a:rPr lang="en-US" sz="1335" b="1" dirty="0">
                  <a:solidFill>
                    <a:srgbClr val="1A1D21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执行修复</a:t>
              </a:r>
              <a:endParaRPr lang="en-US" sz="1600" dirty="0"/>
            </a:p>
          </p:txBody>
        </p:sp>
        <p:sp>
          <p:nvSpPr>
            <p:cNvPr id="47" name="Shape 45"/>
            <p:cNvSpPr/>
            <p:nvPr/>
          </p:nvSpPr>
          <p:spPr>
            <a:xfrm>
              <a:off x="3102" y="8488"/>
              <a:ext cx="320" cy="334"/>
            </a:xfrm>
            <a:custGeom>
              <a:avLst/>
              <a:gdLst/>
              <a:ahLst/>
              <a:cxnLst/>
              <a:rect l="l" t="t" r="r" b="b"/>
              <a:pathLst>
                <a:path w="212219" h="212219">
                  <a:moveTo>
                    <a:pt x="3896" y="96742"/>
                  </a:moveTo>
                  <a:cubicBezTo>
                    <a:pt x="-1285" y="101923"/>
                    <a:pt x="-1285" y="110337"/>
                    <a:pt x="3896" y="115519"/>
                  </a:cubicBezTo>
                  <a:lnTo>
                    <a:pt x="70215" y="181837"/>
                  </a:lnTo>
                  <a:cubicBezTo>
                    <a:pt x="75396" y="187018"/>
                    <a:pt x="83810" y="187018"/>
                    <a:pt x="88991" y="181837"/>
                  </a:cubicBezTo>
                  <a:cubicBezTo>
                    <a:pt x="94172" y="176656"/>
                    <a:pt x="94172" y="168242"/>
                    <a:pt x="88991" y="163061"/>
                  </a:cubicBezTo>
                  <a:lnTo>
                    <a:pt x="45304" y="119373"/>
                  </a:lnTo>
                  <a:lnTo>
                    <a:pt x="198956" y="119373"/>
                  </a:lnTo>
                  <a:cubicBezTo>
                    <a:pt x="206292" y="119373"/>
                    <a:pt x="212219" y="113446"/>
                    <a:pt x="212219" y="106110"/>
                  </a:cubicBezTo>
                  <a:cubicBezTo>
                    <a:pt x="212219" y="98773"/>
                    <a:pt x="206292" y="92846"/>
                    <a:pt x="198956" y="92846"/>
                  </a:cubicBezTo>
                  <a:lnTo>
                    <a:pt x="45304" y="92846"/>
                  </a:lnTo>
                  <a:lnTo>
                    <a:pt x="88991" y="49159"/>
                  </a:lnTo>
                  <a:cubicBezTo>
                    <a:pt x="94172" y="43977"/>
                    <a:pt x="94172" y="35563"/>
                    <a:pt x="88991" y="30382"/>
                  </a:cubicBezTo>
                  <a:cubicBezTo>
                    <a:pt x="83810" y="25201"/>
                    <a:pt x="75396" y="25201"/>
                    <a:pt x="70215" y="30382"/>
                  </a:cubicBezTo>
                  <a:lnTo>
                    <a:pt x="3896" y="96701"/>
                  </a:lnTo>
                  <a:close/>
                </a:path>
              </a:pathLst>
            </a:custGeom>
            <a:solidFill>
              <a:srgbClr val="4F9A94"/>
            </a:solidFill>
          </p:spPr>
        </p:sp>
        <p:sp>
          <p:nvSpPr>
            <p:cNvPr id="48" name="Shape 46"/>
            <p:cNvSpPr/>
            <p:nvPr/>
          </p:nvSpPr>
          <p:spPr>
            <a:xfrm>
              <a:off x="3591" y="8321"/>
              <a:ext cx="1771" cy="668"/>
            </a:xfrm>
            <a:custGeom>
              <a:avLst/>
              <a:gdLst/>
              <a:ahLst/>
              <a:cxnLst/>
              <a:rect l="l" t="t" r="r" b="b"/>
              <a:pathLst>
                <a:path w="933765" h="424439">
                  <a:moveTo>
                    <a:pt x="84888" y="0"/>
                  </a:moveTo>
                  <a:lnTo>
                    <a:pt x="848877" y="0"/>
                  </a:lnTo>
                  <a:cubicBezTo>
                    <a:pt x="895759" y="0"/>
                    <a:pt x="933765" y="38006"/>
                    <a:pt x="933765" y="84888"/>
                  </a:cubicBezTo>
                  <a:lnTo>
                    <a:pt x="933765" y="339551"/>
                  </a:lnTo>
                  <a:cubicBezTo>
                    <a:pt x="933765" y="386433"/>
                    <a:pt x="895759" y="424439"/>
                    <a:pt x="848877" y="424439"/>
                  </a:cubicBezTo>
                  <a:lnTo>
                    <a:pt x="84888" y="424439"/>
                  </a:lnTo>
                  <a:cubicBezTo>
                    <a:pt x="38006" y="424439"/>
                    <a:pt x="0" y="386433"/>
                    <a:pt x="0" y="339551"/>
                  </a:cubicBezTo>
                  <a:lnTo>
                    <a:pt x="0" y="84888"/>
                  </a:lnTo>
                  <a:cubicBezTo>
                    <a:pt x="0" y="38006"/>
                    <a:pt x="38006" y="0"/>
                    <a:pt x="84888" y="0"/>
                  </a:cubicBezTo>
                  <a:close/>
                </a:path>
              </a:pathLst>
            </a:custGeom>
            <a:solidFill>
              <a:srgbClr val="6B7280"/>
            </a:solidFill>
          </p:spPr>
        </p:sp>
      </p:grpSp>
      <p:sp>
        <p:nvSpPr>
          <p:cNvPr id="49" name="Text 47"/>
          <p:cNvSpPr/>
          <p:nvPr/>
        </p:nvSpPr>
        <p:spPr>
          <a:xfrm>
            <a:off x="2280285" y="5283835"/>
            <a:ext cx="1263650" cy="424180"/>
          </a:xfrm>
          <a:prstGeom prst="rect">
            <a:avLst/>
          </a:prstGeom>
          <a:noFill/>
        </p:spPr>
        <p:txBody>
          <a:bodyPr wrap="square" lIns="127332" tIns="84888" rIns="127332" bIns="84888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5E7E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管理</a:t>
            </a:r>
            <a:r>
              <a:rPr lang="zh-CN" altLang="en-US" sz="1335" dirty="0">
                <a:solidFill>
                  <a:srgbClr val="E5E7E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员</a:t>
            </a:r>
            <a:r>
              <a:rPr lang="en-US" sz="1335" dirty="0">
                <a:solidFill>
                  <a:srgbClr val="E5E7E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决策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 rot="18900000">
            <a:off x="3470910" y="4697730"/>
            <a:ext cx="159385" cy="212090"/>
          </a:xfrm>
          <a:custGeom>
            <a:avLst/>
            <a:gdLst/>
            <a:ahLst/>
            <a:cxnLst/>
            <a:rect l="l" t="t" r="r" b="b"/>
            <a:pathLst>
              <a:path w="159164" h="212219">
                <a:moveTo>
                  <a:pt x="70215" y="208323"/>
                </a:moveTo>
                <a:cubicBezTo>
                  <a:pt x="75396" y="213504"/>
                  <a:pt x="83810" y="213504"/>
                  <a:pt x="88991" y="208323"/>
                </a:cubicBezTo>
                <a:lnTo>
                  <a:pt x="155310" y="142005"/>
                </a:lnTo>
                <a:cubicBezTo>
                  <a:pt x="160491" y="136823"/>
                  <a:pt x="160491" y="128409"/>
                  <a:pt x="155310" y="123228"/>
                </a:cubicBezTo>
                <a:cubicBezTo>
                  <a:pt x="150129" y="118047"/>
                  <a:pt x="141714" y="118047"/>
                  <a:pt x="136533" y="123228"/>
                </a:cubicBezTo>
                <a:lnTo>
                  <a:pt x="92846" y="166915"/>
                </a:lnTo>
                <a:lnTo>
                  <a:pt x="92846" y="13264"/>
                </a:lnTo>
                <a:cubicBezTo>
                  <a:pt x="92846" y="5927"/>
                  <a:pt x="86919" y="0"/>
                  <a:pt x="79582" y="0"/>
                </a:cubicBezTo>
                <a:cubicBezTo>
                  <a:pt x="72246" y="0"/>
                  <a:pt x="66319" y="5927"/>
                  <a:pt x="66319" y="13264"/>
                </a:cubicBezTo>
                <a:lnTo>
                  <a:pt x="66319" y="166915"/>
                </a:lnTo>
                <a:lnTo>
                  <a:pt x="22631" y="123228"/>
                </a:lnTo>
                <a:cubicBezTo>
                  <a:pt x="17450" y="118047"/>
                  <a:pt x="9036" y="118047"/>
                  <a:pt x="3855" y="123228"/>
                </a:cubicBezTo>
                <a:cubicBezTo>
                  <a:pt x="-1326" y="128409"/>
                  <a:pt x="-1326" y="136823"/>
                  <a:pt x="3855" y="142005"/>
                </a:cubicBezTo>
                <a:lnTo>
                  <a:pt x="70173" y="208323"/>
                </a:lnTo>
                <a:close/>
              </a:path>
            </a:pathLst>
          </a:custGeom>
          <a:solidFill>
            <a:srgbClr val="4F9A94"/>
          </a:solidFill>
        </p:spPr>
      </p:sp>
      <p:grpSp>
        <p:nvGrpSpPr>
          <p:cNvPr id="95" name="组合 94"/>
          <p:cNvGrpSpPr/>
          <p:nvPr/>
        </p:nvGrpSpPr>
        <p:grpSpPr>
          <a:xfrm>
            <a:off x="3843020" y="4713605"/>
            <a:ext cx="1143000" cy="697230"/>
            <a:chOff x="10390" y="7310"/>
            <a:chExt cx="1800" cy="1098"/>
          </a:xfrm>
        </p:grpSpPr>
        <p:sp>
          <p:nvSpPr>
            <p:cNvPr id="51" name="Shape 49"/>
            <p:cNvSpPr/>
            <p:nvPr/>
          </p:nvSpPr>
          <p:spPr>
            <a:xfrm>
              <a:off x="10390" y="7310"/>
              <a:ext cx="1801" cy="1099"/>
            </a:xfrm>
            <a:custGeom>
              <a:avLst/>
              <a:gdLst/>
              <a:ahLst/>
              <a:cxnLst/>
              <a:rect l="l" t="t" r="r" b="b"/>
              <a:pathLst>
                <a:path w="1143626" h="697966">
                  <a:moveTo>
                    <a:pt x="84887" y="0"/>
                  </a:moveTo>
                  <a:lnTo>
                    <a:pt x="1058740" y="0"/>
                  </a:lnTo>
                  <a:cubicBezTo>
                    <a:pt x="1105621" y="0"/>
                    <a:pt x="1143626" y="38005"/>
                    <a:pt x="1143626" y="84887"/>
                  </a:cubicBezTo>
                  <a:lnTo>
                    <a:pt x="1143626" y="613079"/>
                  </a:lnTo>
                  <a:cubicBezTo>
                    <a:pt x="1143626" y="659961"/>
                    <a:pt x="1105621" y="697966"/>
                    <a:pt x="1058740" y="697966"/>
                  </a:cubicBezTo>
                  <a:lnTo>
                    <a:pt x="84887" y="697966"/>
                  </a:lnTo>
                  <a:cubicBezTo>
                    <a:pt x="38005" y="697966"/>
                    <a:pt x="0" y="659961"/>
                    <a:pt x="0" y="613079"/>
                  </a:cubicBezTo>
                  <a:lnTo>
                    <a:pt x="0" y="84887"/>
                  </a:lnTo>
                  <a:cubicBezTo>
                    <a:pt x="0" y="38005"/>
                    <a:pt x="38005" y="0"/>
                    <a:pt x="84887" y="0"/>
                  </a:cubicBezTo>
                  <a:close/>
                </a:path>
              </a:pathLst>
            </a:custGeom>
            <a:solidFill>
              <a:srgbClr val="4F9A94">
                <a:alpha val="30196"/>
              </a:srgbClr>
            </a:solidFill>
            <a:ln w="22578">
              <a:solidFill>
                <a:srgbClr val="4F9A94"/>
              </a:solidFill>
              <a:prstDash val="solid"/>
            </a:ln>
          </p:spPr>
        </p:sp>
        <p:sp>
          <p:nvSpPr>
            <p:cNvPr id="52" name="Shape 50"/>
            <p:cNvSpPr/>
            <p:nvPr/>
          </p:nvSpPr>
          <p:spPr>
            <a:xfrm>
              <a:off x="11136" y="7423"/>
              <a:ext cx="301" cy="267"/>
            </a:xfrm>
            <a:custGeom>
              <a:avLst/>
              <a:gdLst/>
              <a:ahLst/>
              <a:cxnLst/>
              <a:rect l="l" t="t" r="r" b="b"/>
              <a:pathLst>
                <a:path w="190997" h="169775">
                  <a:moveTo>
                    <a:pt x="74277" y="82235"/>
                  </a:moveTo>
                  <a:cubicBezTo>
                    <a:pt x="96238" y="82235"/>
                    <a:pt x="114068" y="64405"/>
                    <a:pt x="114068" y="42444"/>
                  </a:cubicBezTo>
                  <a:cubicBezTo>
                    <a:pt x="114068" y="20483"/>
                    <a:pt x="96238" y="2653"/>
                    <a:pt x="74277" y="2653"/>
                  </a:cubicBezTo>
                  <a:cubicBezTo>
                    <a:pt x="52315" y="2653"/>
                    <a:pt x="34486" y="20483"/>
                    <a:pt x="34486" y="42444"/>
                  </a:cubicBezTo>
                  <a:cubicBezTo>
                    <a:pt x="34486" y="64405"/>
                    <a:pt x="52315" y="82235"/>
                    <a:pt x="74277" y="82235"/>
                  </a:cubicBezTo>
                  <a:close/>
                  <a:moveTo>
                    <a:pt x="64428" y="100804"/>
                  </a:moveTo>
                  <a:cubicBezTo>
                    <a:pt x="31767" y="100804"/>
                    <a:pt x="5305" y="127265"/>
                    <a:pt x="5305" y="159927"/>
                  </a:cubicBezTo>
                  <a:cubicBezTo>
                    <a:pt x="5305" y="165365"/>
                    <a:pt x="9716" y="169775"/>
                    <a:pt x="15154" y="169775"/>
                  </a:cubicBezTo>
                  <a:lnTo>
                    <a:pt x="98549" y="169775"/>
                  </a:lnTo>
                  <a:cubicBezTo>
                    <a:pt x="86546" y="155650"/>
                    <a:pt x="79582" y="137445"/>
                    <a:pt x="79582" y="118180"/>
                  </a:cubicBezTo>
                  <a:lnTo>
                    <a:pt x="79582" y="107867"/>
                  </a:lnTo>
                  <a:cubicBezTo>
                    <a:pt x="79582" y="105446"/>
                    <a:pt x="79914" y="103059"/>
                    <a:pt x="80544" y="100804"/>
                  </a:cubicBezTo>
                  <a:lnTo>
                    <a:pt x="64428" y="100804"/>
                  </a:lnTo>
                  <a:close/>
                  <a:moveTo>
                    <a:pt x="147658" y="161983"/>
                  </a:moveTo>
                  <a:lnTo>
                    <a:pt x="143248" y="164072"/>
                  </a:lnTo>
                  <a:lnTo>
                    <a:pt x="143248" y="101699"/>
                  </a:lnTo>
                  <a:lnTo>
                    <a:pt x="175081" y="112310"/>
                  </a:lnTo>
                  <a:lnTo>
                    <a:pt x="175081" y="118810"/>
                  </a:lnTo>
                  <a:cubicBezTo>
                    <a:pt x="175081" y="137313"/>
                    <a:pt x="164404" y="154124"/>
                    <a:pt x="147658" y="162016"/>
                  </a:cubicBezTo>
                  <a:close/>
                  <a:moveTo>
                    <a:pt x="139899" y="86048"/>
                  </a:moveTo>
                  <a:lnTo>
                    <a:pt x="102761" y="98417"/>
                  </a:lnTo>
                  <a:cubicBezTo>
                    <a:pt x="98417" y="99876"/>
                    <a:pt x="95499" y="103921"/>
                    <a:pt x="95499" y="108497"/>
                  </a:cubicBezTo>
                  <a:lnTo>
                    <a:pt x="95499" y="118810"/>
                  </a:lnTo>
                  <a:cubicBezTo>
                    <a:pt x="95499" y="143480"/>
                    <a:pt x="109757" y="165929"/>
                    <a:pt x="132040" y="176407"/>
                  </a:cubicBezTo>
                  <a:lnTo>
                    <a:pt x="138175" y="179292"/>
                  </a:lnTo>
                  <a:cubicBezTo>
                    <a:pt x="139766" y="180022"/>
                    <a:pt x="141491" y="180420"/>
                    <a:pt x="143215" y="180420"/>
                  </a:cubicBezTo>
                  <a:cubicBezTo>
                    <a:pt x="144939" y="180420"/>
                    <a:pt x="146697" y="180022"/>
                    <a:pt x="148255" y="179292"/>
                  </a:cubicBezTo>
                  <a:lnTo>
                    <a:pt x="154390" y="176407"/>
                  </a:lnTo>
                  <a:cubicBezTo>
                    <a:pt x="176739" y="165896"/>
                    <a:pt x="190997" y="143447"/>
                    <a:pt x="190997" y="118777"/>
                  </a:cubicBezTo>
                  <a:lnTo>
                    <a:pt x="190997" y="108464"/>
                  </a:lnTo>
                  <a:cubicBezTo>
                    <a:pt x="190997" y="103888"/>
                    <a:pt x="188079" y="99843"/>
                    <a:pt x="183736" y="98384"/>
                  </a:cubicBezTo>
                  <a:lnTo>
                    <a:pt x="146597" y="86015"/>
                  </a:lnTo>
                  <a:cubicBezTo>
                    <a:pt x="144409" y="85286"/>
                    <a:pt x="142054" y="85286"/>
                    <a:pt x="139899" y="86015"/>
                  </a:cubicBezTo>
                  <a:close/>
                </a:path>
              </a:pathLst>
            </a:custGeom>
            <a:solidFill>
              <a:srgbClr val="4F9A94"/>
            </a:solidFill>
          </p:spPr>
        </p:sp>
        <p:sp>
          <p:nvSpPr>
            <p:cNvPr id="53" name="Text 51"/>
            <p:cNvSpPr/>
            <p:nvPr/>
          </p:nvSpPr>
          <p:spPr>
            <a:xfrm>
              <a:off x="10538" y="7772"/>
              <a:ext cx="1504" cy="401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335" b="1" dirty="0">
                  <a:solidFill>
                    <a:srgbClr val="E5E7EB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Token 认证</a:t>
              </a:r>
              <a:endParaRPr lang="en-US" sz="1600" dirty="0"/>
            </a:p>
          </p:txBody>
        </p:sp>
      </p:grpSp>
      <p:sp>
        <p:nvSpPr>
          <p:cNvPr id="54" name="Shape 52"/>
          <p:cNvSpPr/>
          <p:nvPr/>
        </p:nvSpPr>
        <p:spPr>
          <a:xfrm rot="2940000">
            <a:off x="3470275" y="5300345"/>
            <a:ext cx="159385" cy="212090"/>
          </a:xfrm>
          <a:custGeom>
            <a:avLst/>
            <a:gdLst/>
            <a:ahLst/>
            <a:cxnLst/>
            <a:rect l="l" t="t" r="r" b="b"/>
            <a:pathLst>
              <a:path w="159164" h="212219">
                <a:moveTo>
                  <a:pt x="88950" y="7212"/>
                </a:moveTo>
                <a:cubicBezTo>
                  <a:pt x="83769" y="2031"/>
                  <a:pt x="75354" y="2031"/>
                  <a:pt x="70173" y="7212"/>
                </a:cubicBezTo>
                <a:lnTo>
                  <a:pt x="3855" y="73531"/>
                </a:lnTo>
                <a:cubicBezTo>
                  <a:pt x="-1326" y="78712"/>
                  <a:pt x="-1326" y="87126"/>
                  <a:pt x="3855" y="92307"/>
                </a:cubicBezTo>
                <a:cubicBezTo>
                  <a:pt x="9036" y="97488"/>
                  <a:pt x="17450" y="97488"/>
                  <a:pt x="22631" y="92307"/>
                </a:cubicBezTo>
                <a:lnTo>
                  <a:pt x="66319" y="48620"/>
                </a:lnTo>
                <a:lnTo>
                  <a:pt x="66319" y="202272"/>
                </a:lnTo>
                <a:cubicBezTo>
                  <a:pt x="66319" y="209608"/>
                  <a:pt x="72246" y="215535"/>
                  <a:pt x="79582" y="215535"/>
                </a:cubicBezTo>
                <a:cubicBezTo>
                  <a:pt x="86919" y="215535"/>
                  <a:pt x="92846" y="209608"/>
                  <a:pt x="92846" y="202272"/>
                </a:cubicBezTo>
                <a:lnTo>
                  <a:pt x="92846" y="48620"/>
                </a:lnTo>
                <a:lnTo>
                  <a:pt x="136533" y="92307"/>
                </a:lnTo>
                <a:cubicBezTo>
                  <a:pt x="141714" y="97488"/>
                  <a:pt x="150129" y="97488"/>
                  <a:pt x="155310" y="92307"/>
                </a:cubicBezTo>
                <a:cubicBezTo>
                  <a:pt x="160491" y="87126"/>
                  <a:pt x="160491" y="78712"/>
                  <a:pt x="155310" y="73531"/>
                </a:cubicBezTo>
                <a:lnTo>
                  <a:pt x="88991" y="7212"/>
                </a:lnTo>
                <a:close/>
              </a:path>
            </a:pathLst>
          </a:custGeom>
          <a:solidFill>
            <a:srgbClr val="4F9A94"/>
          </a:solidFill>
        </p:spPr>
      </p:sp>
      <p:grpSp>
        <p:nvGrpSpPr>
          <p:cNvPr id="90" name="组合 89"/>
          <p:cNvGrpSpPr/>
          <p:nvPr/>
        </p:nvGrpSpPr>
        <p:grpSpPr>
          <a:xfrm>
            <a:off x="5420995" y="4314825"/>
            <a:ext cx="4975860" cy="1496695"/>
            <a:chOff x="17105" y="2406"/>
            <a:chExt cx="7836" cy="2674"/>
          </a:xfrm>
        </p:grpSpPr>
        <p:sp>
          <p:nvSpPr>
            <p:cNvPr id="55" name="Shape 53"/>
            <p:cNvSpPr/>
            <p:nvPr/>
          </p:nvSpPr>
          <p:spPr>
            <a:xfrm>
              <a:off x="17105" y="2406"/>
              <a:ext cx="7837" cy="2674"/>
            </a:xfrm>
            <a:custGeom>
              <a:avLst/>
              <a:gdLst/>
              <a:ahLst/>
              <a:cxnLst/>
              <a:rect l="l" t="t" r="r" b="b"/>
              <a:pathLst>
                <a:path w="4976543" h="1697755">
                  <a:moveTo>
                    <a:pt x="0" y="0"/>
                  </a:moveTo>
                  <a:lnTo>
                    <a:pt x="4891655" y="0"/>
                  </a:lnTo>
                  <a:cubicBezTo>
                    <a:pt x="4938538" y="0"/>
                    <a:pt x="4976543" y="38006"/>
                    <a:pt x="4976543" y="84888"/>
                  </a:cubicBezTo>
                  <a:lnTo>
                    <a:pt x="4976543" y="1612867"/>
                  </a:lnTo>
                  <a:cubicBezTo>
                    <a:pt x="4976543" y="1659749"/>
                    <a:pt x="4938538" y="1697755"/>
                    <a:pt x="4891655" y="1697755"/>
                  </a:cubicBezTo>
                  <a:lnTo>
                    <a:pt x="0" y="16977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9A94">
                <a:alpha val="20000"/>
              </a:srgbClr>
            </a:solidFill>
          </p:spPr>
        </p:sp>
        <p:sp>
          <p:nvSpPr>
            <p:cNvPr id="56" name="Shape 54"/>
            <p:cNvSpPr/>
            <p:nvPr/>
          </p:nvSpPr>
          <p:spPr>
            <a:xfrm>
              <a:off x="17105" y="2406"/>
              <a:ext cx="67" cy="2674"/>
            </a:xfrm>
            <a:custGeom>
              <a:avLst/>
              <a:gdLst/>
              <a:ahLst/>
              <a:cxnLst/>
              <a:rect l="l" t="t" r="r" b="b"/>
              <a:pathLst>
                <a:path w="42444" h="1697755">
                  <a:moveTo>
                    <a:pt x="0" y="0"/>
                  </a:moveTo>
                  <a:lnTo>
                    <a:pt x="42444" y="0"/>
                  </a:lnTo>
                  <a:lnTo>
                    <a:pt x="42444" y="1697755"/>
                  </a:lnTo>
                  <a:lnTo>
                    <a:pt x="0" y="16977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9A94"/>
            </a:solidFill>
          </p:spPr>
        </p:sp>
        <p:sp>
          <p:nvSpPr>
            <p:cNvPr id="57" name="Shape 55"/>
            <p:cNvSpPr/>
            <p:nvPr/>
          </p:nvSpPr>
          <p:spPr>
            <a:xfrm>
              <a:off x="17448" y="2614"/>
              <a:ext cx="301" cy="444"/>
            </a:xfrm>
            <a:custGeom>
              <a:avLst/>
              <a:gdLst/>
              <a:ahLst/>
              <a:cxnLst/>
              <a:rect l="l" t="t" r="r" b="b"/>
              <a:pathLst>
                <a:path w="190997" h="190997">
                  <a:moveTo>
                    <a:pt x="95499" y="0"/>
                  </a:moveTo>
                  <a:cubicBezTo>
                    <a:pt x="97215" y="0"/>
                    <a:pt x="98931" y="373"/>
                    <a:pt x="100497" y="1082"/>
                  </a:cubicBezTo>
                  <a:lnTo>
                    <a:pt x="170779" y="30888"/>
                  </a:lnTo>
                  <a:cubicBezTo>
                    <a:pt x="178985" y="34357"/>
                    <a:pt x="185103" y="42452"/>
                    <a:pt x="185066" y="52226"/>
                  </a:cubicBezTo>
                  <a:cubicBezTo>
                    <a:pt x="184880" y="89232"/>
                    <a:pt x="169659" y="156939"/>
                    <a:pt x="105384" y="187715"/>
                  </a:cubicBezTo>
                  <a:cubicBezTo>
                    <a:pt x="99155" y="190699"/>
                    <a:pt x="91917" y="190699"/>
                    <a:pt x="85688" y="187715"/>
                  </a:cubicBezTo>
                  <a:cubicBezTo>
                    <a:pt x="21375" y="156939"/>
                    <a:pt x="6192" y="89232"/>
                    <a:pt x="6006" y="52226"/>
                  </a:cubicBezTo>
                  <a:cubicBezTo>
                    <a:pt x="5969" y="42452"/>
                    <a:pt x="12087" y="34357"/>
                    <a:pt x="20293" y="30888"/>
                  </a:cubicBezTo>
                  <a:lnTo>
                    <a:pt x="90537" y="1082"/>
                  </a:lnTo>
                  <a:cubicBezTo>
                    <a:pt x="92104" y="373"/>
                    <a:pt x="93783" y="0"/>
                    <a:pt x="95499" y="0"/>
                  </a:cubicBezTo>
                  <a:close/>
                  <a:moveTo>
                    <a:pt x="95499" y="24919"/>
                  </a:moveTo>
                  <a:lnTo>
                    <a:pt x="95499" y="165966"/>
                  </a:lnTo>
                  <a:cubicBezTo>
                    <a:pt x="146978" y="141047"/>
                    <a:pt x="160818" y="85837"/>
                    <a:pt x="161154" y="52785"/>
                  </a:cubicBezTo>
                  <a:lnTo>
                    <a:pt x="95499" y="24956"/>
                  </a:lnTo>
                  <a:lnTo>
                    <a:pt x="95499" y="24956"/>
                  </a:lnTo>
                  <a:close/>
                </a:path>
              </a:pathLst>
            </a:custGeom>
            <a:solidFill>
              <a:srgbClr val="4F9A94"/>
            </a:solidFill>
          </p:spPr>
        </p:sp>
        <p:sp>
          <p:nvSpPr>
            <p:cNvPr id="58" name="Text 56"/>
            <p:cNvSpPr/>
            <p:nvPr/>
          </p:nvSpPr>
          <p:spPr>
            <a:xfrm>
              <a:off x="17790" y="2452"/>
              <a:ext cx="7035" cy="69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505" b="1" dirty="0">
                  <a:solidFill>
                    <a:srgbClr val="4F9A94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安全认证</a:t>
              </a:r>
              <a:endParaRPr lang="en-US" sz="1600" dirty="0"/>
            </a:p>
          </p:txBody>
        </p:sp>
        <p:sp>
          <p:nvSpPr>
            <p:cNvPr id="59" name="Shape 57"/>
            <p:cNvSpPr/>
            <p:nvPr/>
          </p:nvSpPr>
          <p:spPr>
            <a:xfrm>
              <a:off x="17439" y="3267"/>
              <a:ext cx="267" cy="394"/>
            </a:xfrm>
            <a:custGeom>
              <a:avLst/>
              <a:gdLst/>
              <a:ahLst/>
              <a:cxnLst/>
              <a:rect l="l" t="t" r="r" b="b"/>
              <a:pathLst>
                <a:path w="169775" h="169775">
                  <a:moveTo>
                    <a:pt x="111415" y="116721"/>
                  </a:moveTo>
                  <a:cubicBezTo>
                    <a:pt x="143646" y="116721"/>
                    <a:pt x="169775" y="90591"/>
                    <a:pt x="169775" y="58360"/>
                  </a:cubicBezTo>
                  <a:cubicBezTo>
                    <a:pt x="169775" y="26130"/>
                    <a:pt x="143646" y="0"/>
                    <a:pt x="111415" y="0"/>
                  </a:cubicBezTo>
                  <a:cubicBezTo>
                    <a:pt x="79184" y="0"/>
                    <a:pt x="53055" y="26130"/>
                    <a:pt x="53055" y="58360"/>
                  </a:cubicBezTo>
                  <a:cubicBezTo>
                    <a:pt x="53055" y="64561"/>
                    <a:pt x="54016" y="70563"/>
                    <a:pt x="55807" y="76167"/>
                  </a:cubicBezTo>
                  <a:lnTo>
                    <a:pt x="2321" y="129653"/>
                  </a:lnTo>
                  <a:cubicBezTo>
                    <a:pt x="829" y="131145"/>
                    <a:pt x="0" y="133168"/>
                    <a:pt x="0" y="135290"/>
                  </a:cubicBezTo>
                  <a:lnTo>
                    <a:pt x="0" y="161817"/>
                  </a:lnTo>
                  <a:cubicBezTo>
                    <a:pt x="0" y="166227"/>
                    <a:pt x="3548" y="169775"/>
                    <a:pt x="7958" y="169775"/>
                  </a:cubicBezTo>
                  <a:lnTo>
                    <a:pt x="34486" y="169775"/>
                  </a:lnTo>
                  <a:cubicBezTo>
                    <a:pt x="38896" y="169775"/>
                    <a:pt x="42444" y="166227"/>
                    <a:pt x="42444" y="161817"/>
                  </a:cubicBezTo>
                  <a:lnTo>
                    <a:pt x="42444" y="148554"/>
                  </a:lnTo>
                  <a:lnTo>
                    <a:pt x="55708" y="148554"/>
                  </a:lnTo>
                  <a:cubicBezTo>
                    <a:pt x="60118" y="148554"/>
                    <a:pt x="63666" y="145005"/>
                    <a:pt x="63666" y="140595"/>
                  </a:cubicBezTo>
                  <a:lnTo>
                    <a:pt x="63666" y="127332"/>
                  </a:lnTo>
                  <a:lnTo>
                    <a:pt x="76930" y="127332"/>
                  </a:lnTo>
                  <a:cubicBezTo>
                    <a:pt x="79052" y="127332"/>
                    <a:pt x="81074" y="126503"/>
                    <a:pt x="82567" y="125010"/>
                  </a:cubicBezTo>
                  <a:lnTo>
                    <a:pt x="93609" y="113968"/>
                  </a:lnTo>
                  <a:cubicBezTo>
                    <a:pt x="99213" y="115759"/>
                    <a:pt x="105214" y="116721"/>
                    <a:pt x="111415" y="116721"/>
                  </a:cubicBezTo>
                  <a:close/>
                  <a:moveTo>
                    <a:pt x="124679" y="31833"/>
                  </a:moveTo>
                  <a:cubicBezTo>
                    <a:pt x="131999" y="31833"/>
                    <a:pt x="137943" y="37776"/>
                    <a:pt x="137943" y="45097"/>
                  </a:cubicBezTo>
                  <a:cubicBezTo>
                    <a:pt x="137943" y="52417"/>
                    <a:pt x="131999" y="58360"/>
                    <a:pt x="124679" y="58360"/>
                  </a:cubicBezTo>
                  <a:cubicBezTo>
                    <a:pt x="117358" y="58360"/>
                    <a:pt x="111415" y="52417"/>
                    <a:pt x="111415" y="45097"/>
                  </a:cubicBezTo>
                  <a:cubicBezTo>
                    <a:pt x="111415" y="37776"/>
                    <a:pt x="117358" y="31833"/>
                    <a:pt x="124679" y="31833"/>
                  </a:cubicBezTo>
                  <a:close/>
                </a:path>
              </a:pathLst>
            </a:custGeom>
            <a:solidFill>
              <a:srgbClr val="4F9A94"/>
            </a:solidFill>
          </p:spPr>
        </p:sp>
        <p:sp>
          <p:nvSpPr>
            <p:cNvPr id="60" name="Text 58"/>
            <p:cNvSpPr/>
            <p:nvPr/>
          </p:nvSpPr>
          <p:spPr>
            <a:xfrm>
              <a:off x="17852" y="3151"/>
              <a:ext cx="6957" cy="59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35" b="1" dirty="0">
                  <a:solidFill>
                    <a:srgbClr val="4F9A94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Token 机制</a:t>
              </a:r>
              <a:r>
                <a:rPr lang="en-US" sz="1335" dirty="0">
                  <a:solidFill>
                    <a:srgbClr val="E5E7EB">
                      <a:alpha val="90000"/>
                    </a:srgbClr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：一次性、带时效性的安全令牌</a:t>
              </a:r>
              <a:endParaRPr lang="en-US" sz="1600" dirty="0"/>
            </a:p>
          </p:txBody>
        </p:sp>
        <p:sp>
          <p:nvSpPr>
            <p:cNvPr id="61" name="Shape 59"/>
            <p:cNvSpPr/>
            <p:nvPr/>
          </p:nvSpPr>
          <p:spPr>
            <a:xfrm>
              <a:off x="17406" y="3802"/>
              <a:ext cx="334" cy="394"/>
            </a:xfrm>
            <a:custGeom>
              <a:avLst/>
              <a:gdLst/>
              <a:ahLst/>
              <a:cxnLst/>
              <a:rect l="l" t="t" r="r" b="b"/>
              <a:pathLst>
                <a:path w="212219" h="169775">
                  <a:moveTo>
                    <a:pt x="45097" y="42444"/>
                  </a:moveTo>
                  <a:cubicBezTo>
                    <a:pt x="45097" y="20483"/>
                    <a:pt x="62926" y="2653"/>
                    <a:pt x="84888" y="2653"/>
                  </a:cubicBezTo>
                  <a:cubicBezTo>
                    <a:pt x="106849" y="2653"/>
                    <a:pt x="124679" y="20483"/>
                    <a:pt x="124679" y="42444"/>
                  </a:cubicBezTo>
                  <a:cubicBezTo>
                    <a:pt x="124679" y="64405"/>
                    <a:pt x="106849" y="82235"/>
                    <a:pt x="84888" y="82235"/>
                  </a:cubicBezTo>
                  <a:cubicBezTo>
                    <a:pt x="62926" y="82235"/>
                    <a:pt x="45097" y="64405"/>
                    <a:pt x="45097" y="42444"/>
                  </a:cubicBezTo>
                  <a:close/>
                  <a:moveTo>
                    <a:pt x="15916" y="159927"/>
                  </a:moveTo>
                  <a:cubicBezTo>
                    <a:pt x="15916" y="127265"/>
                    <a:pt x="42378" y="100804"/>
                    <a:pt x="75039" y="100804"/>
                  </a:cubicBezTo>
                  <a:lnTo>
                    <a:pt x="94736" y="100804"/>
                  </a:lnTo>
                  <a:cubicBezTo>
                    <a:pt x="127398" y="100804"/>
                    <a:pt x="153859" y="127265"/>
                    <a:pt x="153859" y="159927"/>
                  </a:cubicBezTo>
                  <a:cubicBezTo>
                    <a:pt x="153859" y="165365"/>
                    <a:pt x="149449" y="169775"/>
                    <a:pt x="144011" y="169775"/>
                  </a:cubicBezTo>
                  <a:lnTo>
                    <a:pt x="25765" y="169775"/>
                  </a:lnTo>
                  <a:cubicBezTo>
                    <a:pt x="20327" y="169775"/>
                    <a:pt x="15916" y="165365"/>
                    <a:pt x="15916" y="159927"/>
                  </a:cubicBezTo>
                  <a:close/>
                  <a:moveTo>
                    <a:pt x="203067" y="44002"/>
                  </a:moveTo>
                  <a:lnTo>
                    <a:pt x="176540" y="86446"/>
                  </a:lnTo>
                  <a:cubicBezTo>
                    <a:pt x="175147" y="88668"/>
                    <a:pt x="172760" y="90061"/>
                    <a:pt x="170140" y="90193"/>
                  </a:cubicBezTo>
                  <a:cubicBezTo>
                    <a:pt x="167521" y="90326"/>
                    <a:pt x="165001" y="89132"/>
                    <a:pt x="163442" y="87010"/>
                  </a:cubicBezTo>
                  <a:lnTo>
                    <a:pt x="147526" y="65788"/>
                  </a:lnTo>
                  <a:cubicBezTo>
                    <a:pt x="144873" y="62273"/>
                    <a:pt x="145602" y="57299"/>
                    <a:pt x="149117" y="54646"/>
                  </a:cubicBezTo>
                  <a:cubicBezTo>
                    <a:pt x="152632" y="51994"/>
                    <a:pt x="157606" y="52723"/>
                    <a:pt x="160259" y="56238"/>
                  </a:cubicBezTo>
                  <a:lnTo>
                    <a:pt x="169212" y="68175"/>
                  </a:lnTo>
                  <a:lnTo>
                    <a:pt x="189572" y="35580"/>
                  </a:lnTo>
                  <a:cubicBezTo>
                    <a:pt x="191893" y="31866"/>
                    <a:pt x="196800" y="30705"/>
                    <a:pt x="200547" y="33060"/>
                  </a:cubicBezTo>
                  <a:cubicBezTo>
                    <a:pt x="204294" y="35414"/>
                    <a:pt x="205422" y="40289"/>
                    <a:pt x="203067" y="44036"/>
                  </a:cubicBezTo>
                  <a:close/>
                </a:path>
              </a:pathLst>
            </a:custGeom>
            <a:solidFill>
              <a:srgbClr val="4F9A94"/>
            </a:solidFill>
          </p:spPr>
        </p:sp>
        <p:sp>
          <p:nvSpPr>
            <p:cNvPr id="62" name="Text 60"/>
            <p:cNvSpPr/>
            <p:nvPr/>
          </p:nvSpPr>
          <p:spPr>
            <a:xfrm>
              <a:off x="17852" y="3686"/>
              <a:ext cx="6957" cy="59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35" b="1" dirty="0">
                  <a:solidFill>
                    <a:srgbClr val="4F9A94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身份校验</a:t>
              </a:r>
              <a:r>
                <a:rPr lang="en-US" sz="1335" dirty="0">
                  <a:solidFill>
                    <a:srgbClr val="E5E7EB">
                      <a:alpha val="90000"/>
                    </a:srgbClr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：后端验证管理员权限</a:t>
              </a:r>
              <a:endParaRPr lang="en-US" sz="1600" dirty="0"/>
            </a:p>
          </p:txBody>
        </p:sp>
        <p:sp>
          <p:nvSpPr>
            <p:cNvPr id="63" name="Shape 61"/>
            <p:cNvSpPr/>
            <p:nvPr/>
          </p:nvSpPr>
          <p:spPr>
            <a:xfrm>
              <a:off x="17473" y="4336"/>
              <a:ext cx="201" cy="394"/>
            </a:xfrm>
            <a:custGeom>
              <a:avLst/>
              <a:gdLst/>
              <a:ahLst/>
              <a:cxnLst/>
              <a:rect l="l" t="t" r="r" b="b"/>
              <a:pathLst>
                <a:path w="127332" h="169775">
                  <a:moveTo>
                    <a:pt x="42444" y="31833"/>
                  </a:moveTo>
                  <a:lnTo>
                    <a:pt x="42444" y="53055"/>
                  </a:lnTo>
                  <a:lnTo>
                    <a:pt x="84888" y="53055"/>
                  </a:lnTo>
                  <a:lnTo>
                    <a:pt x="84888" y="31833"/>
                  </a:lnTo>
                  <a:cubicBezTo>
                    <a:pt x="84888" y="20128"/>
                    <a:pt x="75371" y="10611"/>
                    <a:pt x="63666" y="10611"/>
                  </a:cubicBezTo>
                  <a:cubicBezTo>
                    <a:pt x="51961" y="10611"/>
                    <a:pt x="42444" y="20128"/>
                    <a:pt x="42444" y="31833"/>
                  </a:cubicBezTo>
                  <a:close/>
                  <a:moveTo>
                    <a:pt x="21222" y="53055"/>
                  </a:moveTo>
                  <a:lnTo>
                    <a:pt x="21222" y="31833"/>
                  </a:lnTo>
                  <a:cubicBezTo>
                    <a:pt x="21222" y="8389"/>
                    <a:pt x="40222" y="-10611"/>
                    <a:pt x="63666" y="-10611"/>
                  </a:cubicBezTo>
                  <a:cubicBezTo>
                    <a:pt x="87109" y="-10611"/>
                    <a:pt x="106110" y="8389"/>
                    <a:pt x="106110" y="31833"/>
                  </a:cubicBezTo>
                  <a:lnTo>
                    <a:pt x="106110" y="53055"/>
                  </a:lnTo>
                  <a:cubicBezTo>
                    <a:pt x="117815" y="53055"/>
                    <a:pt x="127332" y="62572"/>
                    <a:pt x="127332" y="74277"/>
                  </a:cubicBezTo>
                  <a:lnTo>
                    <a:pt x="127332" y="148554"/>
                  </a:lnTo>
                  <a:cubicBezTo>
                    <a:pt x="127332" y="160259"/>
                    <a:pt x="117815" y="169775"/>
                    <a:pt x="106110" y="169775"/>
                  </a:cubicBezTo>
                  <a:lnTo>
                    <a:pt x="21222" y="169775"/>
                  </a:lnTo>
                  <a:cubicBezTo>
                    <a:pt x="9517" y="169775"/>
                    <a:pt x="0" y="160259"/>
                    <a:pt x="0" y="148554"/>
                  </a:cubicBezTo>
                  <a:lnTo>
                    <a:pt x="0" y="74277"/>
                  </a:lnTo>
                  <a:cubicBezTo>
                    <a:pt x="0" y="62572"/>
                    <a:pt x="9517" y="53055"/>
                    <a:pt x="21222" y="53055"/>
                  </a:cubicBezTo>
                  <a:close/>
                </a:path>
              </a:pathLst>
            </a:custGeom>
            <a:solidFill>
              <a:srgbClr val="4F9A94"/>
            </a:solidFill>
          </p:spPr>
        </p:sp>
        <p:sp>
          <p:nvSpPr>
            <p:cNvPr id="64" name="Text 62"/>
            <p:cNvSpPr/>
            <p:nvPr/>
          </p:nvSpPr>
          <p:spPr>
            <a:xfrm>
              <a:off x="17852" y="4220"/>
              <a:ext cx="6957" cy="59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35" b="1" dirty="0">
                  <a:solidFill>
                    <a:srgbClr val="4F9A94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操作审计</a:t>
              </a:r>
              <a:r>
                <a:rPr lang="en-US" sz="1335" dirty="0">
                  <a:solidFill>
                    <a:srgbClr val="E5E7EB">
                      <a:alpha val="90000"/>
                    </a:srgbClr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：记录所有冲突处理日志</a:t>
              </a:r>
              <a:endParaRPr lang="en-US" sz="1600" dirty="0"/>
            </a:p>
          </p:txBody>
        </p:sp>
      </p:grpSp>
      <p:grpSp>
        <p:nvGrpSpPr>
          <p:cNvPr id="98" name="组合 97"/>
          <p:cNvGrpSpPr/>
          <p:nvPr/>
        </p:nvGrpSpPr>
        <p:grpSpPr>
          <a:xfrm>
            <a:off x="830580" y="6323965"/>
            <a:ext cx="2573655" cy="1320800"/>
            <a:chOff x="18534" y="10697"/>
            <a:chExt cx="5000" cy="2080"/>
          </a:xfrm>
        </p:grpSpPr>
        <p:sp>
          <p:nvSpPr>
            <p:cNvPr id="66" name="Shape 64"/>
            <p:cNvSpPr/>
            <p:nvPr/>
          </p:nvSpPr>
          <p:spPr>
            <a:xfrm flipH="1">
              <a:off x="18534" y="10829"/>
              <a:ext cx="120" cy="1949"/>
            </a:xfrm>
            <a:custGeom>
              <a:avLst/>
              <a:gdLst/>
              <a:ahLst/>
              <a:cxnLst/>
              <a:rect l="l" t="t" r="r" b="b"/>
              <a:pathLst>
                <a:path w="42444" h="2843739">
                  <a:moveTo>
                    <a:pt x="0" y="0"/>
                  </a:moveTo>
                  <a:lnTo>
                    <a:pt x="42444" y="0"/>
                  </a:lnTo>
                  <a:lnTo>
                    <a:pt x="42444" y="2843739"/>
                  </a:lnTo>
                  <a:lnTo>
                    <a:pt x="0" y="28437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B7280"/>
            </a:solidFill>
          </p:spPr>
        </p:sp>
        <p:sp>
          <p:nvSpPr>
            <p:cNvPr id="67" name="Shape 65"/>
            <p:cNvSpPr/>
            <p:nvPr/>
          </p:nvSpPr>
          <p:spPr>
            <a:xfrm>
              <a:off x="18899" y="10759"/>
              <a:ext cx="189" cy="223"/>
            </a:xfrm>
            <a:custGeom>
              <a:avLst/>
              <a:gdLst/>
              <a:ahLst/>
              <a:cxnLst/>
              <a:rect l="l" t="t" r="r" b="b"/>
              <a:pathLst>
                <a:path w="190997" h="190997">
                  <a:moveTo>
                    <a:pt x="49913" y="13541"/>
                  </a:moveTo>
                  <a:cubicBezTo>
                    <a:pt x="53979" y="16377"/>
                    <a:pt x="54949" y="21972"/>
                    <a:pt x="52114" y="26001"/>
                  </a:cubicBezTo>
                  <a:lnTo>
                    <a:pt x="31224" y="55844"/>
                  </a:lnTo>
                  <a:cubicBezTo>
                    <a:pt x="29694" y="58008"/>
                    <a:pt x="27307" y="59388"/>
                    <a:pt x="24658" y="59612"/>
                  </a:cubicBezTo>
                  <a:cubicBezTo>
                    <a:pt x="22009" y="59836"/>
                    <a:pt x="19398" y="58941"/>
                    <a:pt x="17533" y="57075"/>
                  </a:cubicBezTo>
                  <a:lnTo>
                    <a:pt x="2611" y="42154"/>
                  </a:lnTo>
                  <a:cubicBezTo>
                    <a:pt x="-858" y="38647"/>
                    <a:pt x="-858" y="32977"/>
                    <a:pt x="2611" y="29470"/>
                  </a:cubicBezTo>
                  <a:cubicBezTo>
                    <a:pt x="6081" y="25964"/>
                    <a:pt x="11788" y="26001"/>
                    <a:pt x="15295" y="29470"/>
                  </a:cubicBezTo>
                  <a:lnTo>
                    <a:pt x="22681" y="36857"/>
                  </a:lnTo>
                  <a:lnTo>
                    <a:pt x="37453" y="15742"/>
                  </a:lnTo>
                  <a:cubicBezTo>
                    <a:pt x="40289" y="11676"/>
                    <a:pt x="45884" y="10706"/>
                    <a:pt x="49913" y="13541"/>
                  </a:cubicBezTo>
                  <a:close/>
                  <a:moveTo>
                    <a:pt x="49913" y="73228"/>
                  </a:moveTo>
                  <a:cubicBezTo>
                    <a:pt x="53979" y="76063"/>
                    <a:pt x="54949" y="81659"/>
                    <a:pt x="52114" y="85688"/>
                  </a:cubicBezTo>
                  <a:lnTo>
                    <a:pt x="31224" y="115531"/>
                  </a:lnTo>
                  <a:cubicBezTo>
                    <a:pt x="29694" y="117695"/>
                    <a:pt x="27307" y="119075"/>
                    <a:pt x="24658" y="119299"/>
                  </a:cubicBezTo>
                  <a:cubicBezTo>
                    <a:pt x="22009" y="119523"/>
                    <a:pt x="19398" y="118627"/>
                    <a:pt x="17533" y="116762"/>
                  </a:cubicBezTo>
                  <a:lnTo>
                    <a:pt x="2611" y="101840"/>
                  </a:lnTo>
                  <a:cubicBezTo>
                    <a:pt x="-895" y="98334"/>
                    <a:pt x="-895" y="92664"/>
                    <a:pt x="2611" y="89194"/>
                  </a:cubicBezTo>
                  <a:cubicBezTo>
                    <a:pt x="6118" y="85725"/>
                    <a:pt x="11788" y="85688"/>
                    <a:pt x="15257" y="89194"/>
                  </a:cubicBezTo>
                  <a:lnTo>
                    <a:pt x="22644" y="96581"/>
                  </a:lnTo>
                  <a:lnTo>
                    <a:pt x="37416" y="75466"/>
                  </a:lnTo>
                  <a:cubicBezTo>
                    <a:pt x="40251" y="71400"/>
                    <a:pt x="45847" y="70430"/>
                    <a:pt x="49876" y="73265"/>
                  </a:cubicBezTo>
                  <a:close/>
                  <a:moveTo>
                    <a:pt x="83561" y="35812"/>
                  </a:moveTo>
                  <a:cubicBezTo>
                    <a:pt x="83561" y="29209"/>
                    <a:pt x="88896" y="23875"/>
                    <a:pt x="95499" y="23875"/>
                  </a:cubicBezTo>
                  <a:lnTo>
                    <a:pt x="179060" y="23875"/>
                  </a:lnTo>
                  <a:cubicBezTo>
                    <a:pt x="185663" y="23875"/>
                    <a:pt x="190997" y="29209"/>
                    <a:pt x="190997" y="35812"/>
                  </a:cubicBezTo>
                  <a:cubicBezTo>
                    <a:pt x="190997" y="42415"/>
                    <a:pt x="185663" y="47749"/>
                    <a:pt x="179060" y="47749"/>
                  </a:cubicBezTo>
                  <a:lnTo>
                    <a:pt x="95499" y="47749"/>
                  </a:lnTo>
                  <a:cubicBezTo>
                    <a:pt x="88896" y="47749"/>
                    <a:pt x="83561" y="42415"/>
                    <a:pt x="83561" y="35812"/>
                  </a:cubicBezTo>
                  <a:close/>
                  <a:moveTo>
                    <a:pt x="83561" y="95499"/>
                  </a:moveTo>
                  <a:cubicBezTo>
                    <a:pt x="83561" y="88896"/>
                    <a:pt x="88896" y="83561"/>
                    <a:pt x="95499" y="83561"/>
                  </a:cubicBezTo>
                  <a:lnTo>
                    <a:pt x="179060" y="83561"/>
                  </a:lnTo>
                  <a:cubicBezTo>
                    <a:pt x="185663" y="83561"/>
                    <a:pt x="190997" y="88896"/>
                    <a:pt x="190997" y="95499"/>
                  </a:cubicBezTo>
                  <a:cubicBezTo>
                    <a:pt x="190997" y="102102"/>
                    <a:pt x="185663" y="107436"/>
                    <a:pt x="179060" y="107436"/>
                  </a:cubicBezTo>
                  <a:lnTo>
                    <a:pt x="95499" y="107436"/>
                  </a:lnTo>
                  <a:cubicBezTo>
                    <a:pt x="88896" y="107436"/>
                    <a:pt x="83561" y="102102"/>
                    <a:pt x="83561" y="95499"/>
                  </a:cubicBezTo>
                  <a:close/>
                  <a:moveTo>
                    <a:pt x="59687" y="155185"/>
                  </a:moveTo>
                  <a:cubicBezTo>
                    <a:pt x="59687" y="148583"/>
                    <a:pt x="65021" y="143248"/>
                    <a:pt x="71624" y="143248"/>
                  </a:cubicBezTo>
                  <a:lnTo>
                    <a:pt x="179060" y="143248"/>
                  </a:lnTo>
                  <a:cubicBezTo>
                    <a:pt x="185663" y="143248"/>
                    <a:pt x="190997" y="148583"/>
                    <a:pt x="190997" y="155185"/>
                  </a:cubicBezTo>
                  <a:cubicBezTo>
                    <a:pt x="190997" y="161788"/>
                    <a:pt x="185663" y="167123"/>
                    <a:pt x="179060" y="167123"/>
                  </a:cubicBezTo>
                  <a:lnTo>
                    <a:pt x="71624" y="167123"/>
                  </a:lnTo>
                  <a:cubicBezTo>
                    <a:pt x="65021" y="167123"/>
                    <a:pt x="59687" y="161788"/>
                    <a:pt x="59687" y="155185"/>
                  </a:cubicBezTo>
                  <a:close/>
                  <a:moveTo>
                    <a:pt x="23875" y="140264"/>
                  </a:moveTo>
                  <a:cubicBezTo>
                    <a:pt x="32110" y="140264"/>
                    <a:pt x="38796" y="146950"/>
                    <a:pt x="38796" y="155185"/>
                  </a:cubicBezTo>
                  <a:cubicBezTo>
                    <a:pt x="38796" y="163421"/>
                    <a:pt x="32110" y="170107"/>
                    <a:pt x="23875" y="170107"/>
                  </a:cubicBezTo>
                  <a:cubicBezTo>
                    <a:pt x="15639" y="170107"/>
                    <a:pt x="8953" y="163421"/>
                    <a:pt x="8953" y="155185"/>
                  </a:cubicBezTo>
                  <a:cubicBezTo>
                    <a:pt x="8953" y="146950"/>
                    <a:pt x="15639" y="140264"/>
                    <a:pt x="23875" y="140264"/>
                  </a:cubicBezTo>
                  <a:close/>
                </a:path>
              </a:pathLst>
            </a:custGeom>
            <a:solidFill>
              <a:srgbClr val="E5E7EB"/>
            </a:solidFill>
          </p:spPr>
        </p:sp>
        <p:sp>
          <p:nvSpPr>
            <p:cNvPr id="68" name="Text 66"/>
            <p:cNvSpPr/>
            <p:nvPr/>
          </p:nvSpPr>
          <p:spPr>
            <a:xfrm>
              <a:off x="19114" y="10697"/>
              <a:ext cx="4420" cy="34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505" b="1" dirty="0">
                  <a:solidFill>
                    <a:srgbClr val="E5E7EB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决策选项</a:t>
              </a:r>
              <a:endParaRPr lang="en-US" sz="1600" dirty="0"/>
            </a:p>
          </p:txBody>
        </p:sp>
        <p:sp>
          <p:nvSpPr>
            <p:cNvPr id="69" name="Shape 67"/>
            <p:cNvSpPr/>
            <p:nvPr/>
          </p:nvSpPr>
          <p:spPr>
            <a:xfrm>
              <a:off x="18873" y="11193"/>
              <a:ext cx="4567" cy="743"/>
            </a:xfrm>
            <a:custGeom>
              <a:avLst/>
              <a:gdLst/>
              <a:ahLst/>
              <a:cxnLst/>
              <a:rect l="l" t="t" r="r" b="b"/>
              <a:pathLst>
                <a:path w="4615770" h="636658">
                  <a:moveTo>
                    <a:pt x="42446" y="0"/>
                  </a:moveTo>
                  <a:lnTo>
                    <a:pt x="4573324" y="0"/>
                  </a:lnTo>
                  <a:cubicBezTo>
                    <a:pt x="4596767" y="0"/>
                    <a:pt x="4615770" y="19004"/>
                    <a:pt x="4615770" y="42446"/>
                  </a:cubicBezTo>
                  <a:lnTo>
                    <a:pt x="4615770" y="594212"/>
                  </a:lnTo>
                  <a:cubicBezTo>
                    <a:pt x="4615770" y="617654"/>
                    <a:pt x="4596767" y="636658"/>
                    <a:pt x="4573324" y="636658"/>
                  </a:cubicBezTo>
                  <a:lnTo>
                    <a:pt x="42446" y="636658"/>
                  </a:lnTo>
                  <a:cubicBezTo>
                    <a:pt x="19004" y="636658"/>
                    <a:pt x="0" y="617654"/>
                    <a:pt x="0" y="594212"/>
                  </a:cubicBezTo>
                  <a:lnTo>
                    <a:pt x="0" y="42446"/>
                  </a:lnTo>
                  <a:cubicBezTo>
                    <a:pt x="0" y="19004"/>
                    <a:pt x="19004" y="0"/>
                    <a:pt x="42446" y="0"/>
                  </a:cubicBezTo>
                  <a:close/>
                </a:path>
              </a:pathLst>
            </a:custGeom>
            <a:solidFill>
              <a:srgbClr val="4F9A94">
                <a:alpha val="20000"/>
              </a:srgbClr>
            </a:solidFill>
          </p:spPr>
        </p:sp>
        <p:sp>
          <p:nvSpPr>
            <p:cNvPr id="70" name="Shape 68"/>
            <p:cNvSpPr/>
            <p:nvPr/>
          </p:nvSpPr>
          <p:spPr>
            <a:xfrm>
              <a:off x="19020" y="11330"/>
              <a:ext cx="168" cy="198"/>
            </a:xfrm>
            <a:custGeom>
              <a:avLst/>
              <a:gdLst/>
              <a:ahLst/>
              <a:cxnLst/>
              <a:rect l="l" t="t" r="r" b="b"/>
              <a:pathLst>
                <a:path w="169775" h="169775">
                  <a:moveTo>
                    <a:pt x="3117" y="77394"/>
                  </a:moveTo>
                  <a:cubicBezTo>
                    <a:pt x="-1028" y="81539"/>
                    <a:pt x="-1028" y="88270"/>
                    <a:pt x="3117" y="92415"/>
                  </a:cubicBezTo>
                  <a:lnTo>
                    <a:pt x="56172" y="145470"/>
                  </a:lnTo>
                  <a:cubicBezTo>
                    <a:pt x="60317" y="149615"/>
                    <a:pt x="67048" y="149615"/>
                    <a:pt x="71193" y="145470"/>
                  </a:cubicBezTo>
                  <a:cubicBezTo>
                    <a:pt x="75338" y="141325"/>
                    <a:pt x="75338" y="134593"/>
                    <a:pt x="71193" y="130449"/>
                  </a:cubicBezTo>
                  <a:lnTo>
                    <a:pt x="36243" y="95499"/>
                  </a:lnTo>
                  <a:lnTo>
                    <a:pt x="159164" y="95499"/>
                  </a:lnTo>
                  <a:cubicBezTo>
                    <a:pt x="165034" y="95499"/>
                    <a:pt x="169775" y="90757"/>
                    <a:pt x="169775" y="84888"/>
                  </a:cubicBezTo>
                  <a:cubicBezTo>
                    <a:pt x="169775" y="79019"/>
                    <a:pt x="165034" y="74277"/>
                    <a:pt x="159164" y="74277"/>
                  </a:cubicBezTo>
                  <a:lnTo>
                    <a:pt x="36243" y="74277"/>
                  </a:lnTo>
                  <a:lnTo>
                    <a:pt x="71193" y="39327"/>
                  </a:lnTo>
                  <a:cubicBezTo>
                    <a:pt x="75338" y="35182"/>
                    <a:pt x="75338" y="28451"/>
                    <a:pt x="71193" y="24306"/>
                  </a:cubicBezTo>
                  <a:cubicBezTo>
                    <a:pt x="67048" y="20161"/>
                    <a:pt x="60317" y="20161"/>
                    <a:pt x="56172" y="24306"/>
                  </a:cubicBezTo>
                  <a:lnTo>
                    <a:pt x="3117" y="77361"/>
                  </a:lnTo>
                  <a:close/>
                </a:path>
              </a:pathLst>
            </a:custGeom>
            <a:solidFill>
              <a:srgbClr val="4F9A94"/>
            </a:solidFill>
          </p:spPr>
        </p:sp>
        <p:sp>
          <p:nvSpPr>
            <p:cNvPr id="71" name="Text 69"/>
            <p:cNvSpPr/>
            <p:nvPr/>
          </p:nvSpPr>
          <p:spPr>
            <a:xfrm>
              <a:off x="19279" y="11292"/>
              <a:ext cx="4118" cy="29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35" b="1" dirty="0">
                  <a:solidFill>
                    <a:srgbClr val="E5E7EB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保留 Source</a:t>
              </a:r>
              <a:endParaRPr lang="en-US" sz="1600" dirty="0"/>
            </a:p>
          </p:txBody>
        </p:sp>
        <p:sp>
          <p:nvSpPr>
            <p:cNvPr id="72" name="Text 70"/>
            <p:cNvSpPr/>
            <p:nvPr/>
          </p:nvSpPr>
          <p:spPr>
            <a:xfrm>
              <a:off x="18999" y="11589"/>
              <a:ext cx="4388" cy="24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170" dirty="0">
                  <a:solidFill>
                    <a:srgbClr val="6B7280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以源数据为准覆盖目标</a:t>
              </a:r>
              <a:endParaRPr lang="en-US" sz="1600" dirty="0"/>
            </a:p>
          </p:txBody>
        </p:sp>
        <p:sp>
          <p:nvSpPr>
            <p:cNvPr id="73" name="Shape 71"/>
            <p:cNvSpPr/>
            <p:nvPr/>
          </p:nvSpPr>
          <p:spPr>
            <a:xfrm>
              <a:off x="18873" y="12035"/>
              <a:ext cx="4567" cy="743"/>
            </a:xfrm>
            <a:custGeom>
              <a:avLst/>
              <a:gdLst/>
              <a:ahLst/>
              <a:cxnLst/>
              <a:rect l="l" t="t" r="r" b="b"/>
              <a:pathLst>
                <a:path w="4615770" h="636658">
                  <a:moveTo>
                    <a:pt x="42446" y="0"/>
                  </a:moveTo>
                  <a:lnTo>
                    <a:pt x="4573324" y="0"/>
                  </a:lnTo>
                  <a:cubicBezTo>
                    <a:pt x="4596767" y="0"/>
                    <a:pt x="4615770" y="19004"/>
                    <a:pt x="4615770" y="42446"/>
                  </a:cubicBezTo>
                  <a:lnTo>
                    <a:pt x="4615770" y="594212"/>
                  </a:lnTo>
                  <a:cubicBezTo>
                    <a:pt x="4615770" y="617654"/>
                    <a:pt x="4596767" y="636658"/>
                    <a:pt x="4573324" y="636658"/>
                  </a:cubicBezTo>
                  <a:lnTo>
                    <a:pt x="42446" y="636658"/>
                  </a:lnTo>
                  <a:cubicBezTo>
                    <a:pt x="19004" y="636658"/>
                    <a:pt x="0" y="617654"/>
                    <a:pt x="0" y="594212"/>
                  </a:cubicBezTo>
                  <a:lnTo>
                    <a:pt x="0" y="42446"/>
                  </a:lnTo>
                  <a:cubicBezTo>
                    <a:pt x="0" y="19004"/>
                    <a:pt x="19004" y="0"/>
                    <a:pt x="42446" y="0"/>
                  </a:cubicBezTo>
                  <a:close/>
                </a:path>
              </a:pathLst>
            </a:custGeom>
            <a:solidFill>
              <a:srgbClr val="6B7280">
                <a:alpha val="20000"/>
              </a:srgbClr>
            </a:solidFill>
          </p:spPr>
        </p:sp>
        <p:sp>
          <p:nvSpPr>
            <p:cNvPr id="74" name="Shape 72"/>
            <p:cNvSpPr/>
            <p:nvPr/>
          </p:nvSpPr>
          <p:spPr>
            <a:xfrm>
              <a:off x="19020" y="12173"/>
              <a:ext cx="168" cy="198"/>
            </a:xfrm>
            <a:custGeom>
              <a:avLst/>
              <a:gdLst/>
              <a:ahLst/>
              <a:cxnLst/>
              <a:rect l="l" t="t" r="r" b="b"/>
              <a:pathLst>
                <a:path w="169775" h="169775">
                  <a:moveTo>
                    <a:pt x="166658" y="92382"/>
                  </a:moveTo>
                  <a:cubicBezTo>
                    <a:pt x="170803" y="88237"/>
                    <a:pt x="170803" y="81505"/>
                    <a:pt x="166658" y="77361"/>
                  </a:cubicBezTo>
                  <a:lnTo>
                    <a:pt x="113604" y="24306"/>
                  </a:lnTo>
                  <a:cubicBezTo>
                    <a:pt x="109459" y="20161"/>
                    <a:pt x="102727" y="20161"/>
                    <a:pt x="98583" y="24306"/>
                  </a:cubicBezTo>
                  <a:cubicBezTo>
                    <a:pt x="94438" y="28451"/>
                    <a:pt x="94438" y="35182"/>
                    <a:pt x="98583" y="39327"/>
                  </a:cubicBezTo>
                  <a:lnTo>
                    <a:pt x="133532" y="74277"/>
                  </a:lnTo>
                  <a:lnTo>
                    <a:pt x="10611" y="74277"/>
                  </a:lnTo>
                  <a:cubicBezTo>
                    <a:pt x="4742" y="74277"/>
                    <a:pt x="0" y="79019"/>
                    <a:pt x="0" y="84888"/>
                  </a:cubicBezTo>
                  <a:cubicBezTo>
                    <a:pt x="0" y="90757"/>
                    <a:pt x="4742" y="95499"/>
                    <a:pt x="10611" y="95499"/>
                  </a:cubicBezTo>
                  <a:lnTo>
                    <a:pt x="133532" y="95499"/>
                  </a:lnTo>
                  <a:lnTo>
                    <a:pt x="98583" y="130449"/>
                  </a:lnTo>
                  <a:cubicBezTo>
                    <a:pt x="94438" y="134593"/>
                    <a:pt x="94438" y="141325"/>
                    <a:pt x="98583" y="145470"/>
                  </a:cubicBezTo>
                  <a:cubicBezTo>
                    <a:pt x="102727" y="149615"/>
                    <a:pt x="109459" y="149615"/>
                    <a:pt x="113604" y="145470"/>
                  </a:cubicBezTo>
                  <a:lnTo>
                    <a:pt x="166658" y="92415"/>
                  </a:lnTo>
                  <a:close/>
                </a:path>
              </a:pathLst>
            </a:custGeom>
            <a:solidFill>
              <a:srgbClr val="6B7280"/>
            </a:solidFill>
          </p:spPr>
        </p:sp>
        <p:sp>
          <p:nvSpPr>
            <p:cNvPr id="75" name="Text 73"/>
            <p:cNvSpPr/>
            <p:nvPr/>
          </p:nvSpPr>
          <p:spPr>
            <a:xfrm>
              <a:off x="19279" y="12134"/>
              <a:ext cx="4118" cy="29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35" b="1" dirty="0">
                  <a:solidFill>
                    <a:srgbClr val="E5E7EB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保留 Target</a:t>
              </a:r>
              <a:endParaRPr lang="en-US" sz="1600" dirty="0"/>
            </a:p>
          </p:txBody>
        </p:sp>
        <p:sp>
          <p:nvSpPr>
            <p:cNvPr id="76" name="Text 74"/>
            <p:cNvSpPr/>
            <p:nvPr/>
          </p:nvSpPr>
          <p:spPr>
            <a:xfrm>
              <a:off x="18999" y="12432"/>
              <a:ext cx="4388" cy="24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170" dirty="0">
                  <a:solidFill>
                    <a:srgbClr val="6B7280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以目标数据为准覆盖源</a:t>
              </a:r>
              <a:endParaRPr lang="en-US" sz="1600" dirty="0"/>
            </a:p>
          </p:txBody>
        </p:sp>
      </p:grpSp>
      <p:grpSp>
        <p:nvGrpSpPr>
          <p:cNvPr id="96" name="组合 95"/>
          <p:cNvGrpSpPr/>
          <p:nvPr/>
        </p:nvGrpSpPr>
        <p:grpSpPr>
          <a:xfrm>
            <a:off x="10951845" y="2015490"/>
            <a:ext cx="4986020" cy="3887470"/>
            <a:chOff x="810" y="9936"/>
            <a:chExt cx="7852" cy="4292"/>
          </a:xfrm>
        </p:grpSpPr>
        <p:sp>
          <p:nvSpPr>
            <p:cNvPr id="81" name="Shape 79"/>
            <p:cNvSpPr/>
            <p:nvPr/>
          </p:nvSpPr>
          <p:spPr>
            <a:xfrm>
              <a:off x="810" y="9936"/>
              <a:ext cx="7852" cy="4293"/>
            </a:xfrm>
            <a:custGeom>
              <a:avLst/>
              <a:gdLst/>
              <a:ahLst/>
              <a:cxnLst/>
              <a:rect l="l" t="t" r="r" b="b"/>
              <a:pathLst>
                <a:path w="4985975" h="2725839">
                  <a:moveTo>
                    <a:pt x="84883" y="0"/>
                  </a:moveTo>
                  <a:lnTo>
                    <a:pt x="4901092" y="0"/>
                  </a:lnTo>
                  <a:cubicBezTo>
                    <a:pt x="4947972" y="0"/>
                    <a:pt x="4985975" y="38003"/>
                    <a:pt x="4985975" y="84883"/>
                  </a:cubicBezTo>
                  <a:lnTo>
                    <a:pt x="4985975" y="2640957"/>
                  </a:lnTo>
                  <a:cubicBezTo>
                    <a:pt x="4985975" y="2687836"/>
                    <a:pt x="4947972" y="2725839"/>
                    <a:pt x="4901092" y="2725839"/>
                  </a:cubicBezTo>
                  <a:lnTo>
                    <a:pt x="84883" y="2725839"/>
                  </a:lnTo>
                  <a:cubicBezTo>
                    <a:pt x="38003" y="2725839"/>
                    <a:pt x="0" y="2687836"/>
                    <a:pt x="0" y="2640957"/>
                  </a:cubicBezTo>
                  <a:lnTo>
                    <a:pt x="0" y="84883"/>
                  </a:lnTo>
                  <a:cubicBezTo>
                    <a:pt x="0" y="38035"/>
                    <a:pt x="38035" y="0"/>
                    <a:pt x="84883" y="0"/>
                  </a:cubicBezTo>
                  <a:close/>
                </a:path>
              </a:pathLst>
            </a:custGeom>
            <a:solidFill>
              <a:srgbClr val="1A1D21">
                <a:alpha val="70196"/>
              </a:srgbClr>
            </a:solidFill>
            <a:ln w="11289">
              <a:solidFill>
                <a:srgbClr val="3D4A5C"/>
              </a:solidFill>
              <a:prstDash val="soli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2" name="Shape 80"/>
            <p:cNvSpPr/>
            <p:nvPr/>
          </p:nvSpPr>
          <p:spPr>
            <a:xfrm>
              <a:off x="1127" y="10295"/>
              <a:ext cx="301" cy="301"/>
            </a:xfrm>
            <a:custGeom>
              <a:avLst/>
              <a:gdLst/>
              <a:ahLst/>
              <a:cxnLst/>
              <a:rect l="l" t="t" r="r" b="b"/>
              <a:pathLst>
                <a:path w="190997" h="190997">
                  <a:moveTo>
                    <a:pt x="17906" y="23875"/>
                  </a:moveTo>
                  <a:cubicBezTo>
                    <a:pt x="8020" y="23875"/>
                    <a:pt x="0" y="31895"/>
                    <a:pt x="0" y="41781"/>
                  </a:cubicBezTo>
                  <a:cubicBezTo>
                    <a:pt x="0" y="47414"/>
                    <a:pt x="2649" y="52711"/>
                    <a:pt x="7162" y="56105"/>
                  </a:cubicBezTo>
                  <a:lnTo>
                    <a:pt x="84755" y="114300"/>
                  </a:lnTo>
                  <a:cubicBezTo>
                    <a:pt x="91134" y="119075"/>
                    <a:pt x="99863" y="119075"/>
                    <a:pt x="106242" y="114300"/>
                  </a:cubicBezTo>
                  <a:lnTo>
                    <a:pt x="183835" y="56105"/>
                  </a:lnTo>
                  <a:cubicBezTo>
                    <a:pt x="188349" y="52711"/>
                    <a:pt x="190997" y="47414"/>
                    <a:pt x="190997" y="41781"/>
                  </a:cubicBezTo>
                  <a:cubicBezTo>
                    <a:pt x="190997" y="31895"/>
                    <a:pt x="182977" y="23875"/>
                    <a:pt x="173091" y="23875"/>
                  </a:cubicBezTo>
                  <a:lnTo>
                    <a:pt x="17906" y="23875"/>
                  </a:lnTo>
                  <a:close/>
                  <a:moveTo>
                    <a:pt x="0" y="73116"/>
                  </a:moveTo>
                  <a:lnTo>
                    <a:pt x="0" y="143248"/>
                  </a:lnTo>
                  <a:cubicBezTo>
                    <a:pt x="0" y="156416"/>
                    <a:pt x="10706" y="167123"/>
                    <a:pt x="23875" y="167123"/>
                  </a:cubicBezTo>
                  <a:lnTo>
                    <a:pt x="167123" y="167123"/>
                  </a:lnTo>
                  <a:cubicBezTo>
                    <a:pt x="180291" y="167123"/>
                    <a:pt x="190997" y="156416"/>
                    <a:pt x="190997" y="143248"/>
                  </a:cubicBezTo>
                  <a:lnTo>
                    <a:pt x="190997" y="73116"/>
                  </a:lnTo>
                  <a:lnTo>
                    <a:pt x="116986" y="128625"/>
                  </a:lnTo>
                  <a:cubicBezTo>
                    <a:pt x="104265" y="138175"/>
                    <a:pt x="86732" y="138175"/>
                    <a:pt x="74011" y="128625"/>
                  </a:cubicBezTo>
                  <a:lnTo>
                    <a:pt x="0" y="73116"/>
                  </a:lnTo>
                  <a:close/>
                </a:path>
              </a:pathLst>
            </a:custGeom>
            <a:solidFill>
              <a:srgbClr val="4F9A94"/>
            </a:solidFill>
          </p:spPr>
        </p:sp>
        <p:sp>
          <p:nvSpPr>
            <p:cNvPr id="83" name="Text 81"/>
            <p:cNvSpPr/>
            <p:nvPr/>
          </p:nvSpPr>
          <p:spPr>
            <a:xfrm>
              <a:off x="1469" y="10211"/>
              <a:ext cx="7068" cy="46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505" b="1" dirty="0">
                  <a:solidFill>
                    <a:srgbClr val="4F9A94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邮件模板</a:t>
              </a:r>
              <a:endParaRPr lang="en-US" sz="1600" dirty="0"/>
            </a:p>
          </p:txBody>
        </p:sp>
        <p:sp>
          <p:nvSpPr>
            <p:cNvPr id="84" name="Shape 82"/>
            <p:cNvSpPr/>
            <p:nvPr/>
          </p:nvSpPr>
          <p:spPr>
            <a:xfrm>
              <a:off x="1085" y="10880"/>
              <a:ext cx="7302" cy="3075"/>
            </a:xfrm>
            <a:custGeom>
              <a:avLst/>
              <a:gdLst/>
              <a:ahLst/>
              <a:cxnLst/>
              <a:rect l="l" t="t" r="r" b="b"/>
              <a:pathLst>
                <a:path w="4636992" h="1952418">
                  <a:moveTo>
                    <a:pt x="42446" y="0"/>
                  </a:moveTo>
                  <a:lnTo>
                    <a:pt x="4594547" y="0"/>
                  </a:lnTo>
                  <a:cubicBezTo>
                    <a:pt x="4617989" y="0"/>
                    <a:pt x="4636992" y="19004"/>
                    <a:pt x="4636992" y="42446"/>
                  </a:cubicBezTo>
                  <a:lnTo>
                    <a:pt x="4636992" y="1909972"/>
                  </a:lnTo>
                  <a:cubicBezTo>
                    <a:pt x="4636992" y="1933414"/>
                    <a:pt x="4617989" y="1952418"/>
                    <a:pt x="4594547" y="1952418"/>
                  </a:cubicBezTo>
                  <a:lnTo>
                    <a:pt x="42446" y="1952418"/>
                  </a:lnTo>
                  <a:cubicBezTo>
                    <a:pt x="19004" y="1952418"/>
                    <a:pt x="0" y="1933414"/>
                    <a:pt x="0" y="1909972"/>
                  </a:cubicBezTo>
                  <a:lnTo>
                    <a:pt x="0" y="42446"/>
                  </a:lnTo>
                  <a:cubicBezTo>
                    <a:pt x="0" y="19019"/>
                    <a:pt x="19019" y="0"/>
                    <a:pt x="42446" y="0"/>
                  </a:cubicBezTo>
                  <a:close/>
                </a:path>
              </a:pathLst>
            </a:custGeom>
            <a:solidFill>
              <a:srgbClr val="3D4A5C">
                <a:alpha val="50196"/>
              </a:srgbClr>
            </a:solidFill>
          </p:spPr>
        </p:sp>
        <p:sp>
          <p:nvSpPr>
            <p:cNvPr id="85" name="Text 83"/>
            <p:cNvSpPr/>
            <p:nvPr/>
          </p:nvSpPr>
          <p:spPr>
            <a:xfrm>
              <a:off x="1285" y="11080"/>
              <a:ext cx="7018" cy="33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170" b="1" dirty="0">
                  <a:solidFill>
                    <a:srgbClr val="4F9A94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主题：</a:t>
              </a:r>
              <a:endParaRPr lang="en-US" sz="1600" dirty="0"/>
            </a:p>
          </p:txBody>
        </p:sp>
        <p:sp>
          <p:nvSpPr>
            <p:cNvPr id="86" name="Text 84"/>
            <p:cNvSpPr/>
            <p:nvPr/>
          </p:nvSpPr>
          <p:spPr>
            <a:xfrm>
              <a:off x="1285" y="11481"/>
              <a:ext cx="7018" cy="33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170" dirty="0">
                  <a:solidFill>
                    <a:srgbClr val="E5E7EB">
                      <a:alpha val="90000"/>
                    </a:srgbClr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数据冲突通知 - 表: items, ID: 12345</a:t>
              </a:r>
              <a:endParaRPr lang="en-US" sz="1600" dirty="0"/>
            </a:p>
          </p:txBody>
        </p:sp>
        <p:sp>
          <p:nvSpPr>
            <p:cNvPr id="87" name="Text 85"/>
            <p:cNvSpPr/>
            <p:nvPr/>
          </p:nvSpPr>
          <p:spPr>
            <a:xfrm>
              <a:off x="1285" y="11949"/>
              <a:ext cx="7018" cy="33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170" b="1" dirty="0">
                  <a:solidFill>
                    <a:srgbClr val="4F9A94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内容：</a:t>
              </a:r>
              <a:endParaRPr lang="en-US" sz="1600" dirty="0"/>
            </a:p>
          </p:txBody>
        </p:sp>
        <p:sp>
          <p:nvSpPr>
            <p:cNvPr id="88" name="Text 86"/>
            <p:cNvSpPr/>
            <p:nvPr/>
          </p:nvSpPr>
          <p:spPr>
            <a:xfrm>
              <a:off x="1285" y="12350"/>
              <a:ext cx="7018" cy="140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170" dirty="0">
                  <a:solidFill>
                    <a:srgbClr val="E5E7EB">
                      <a:alpha val="80000"/>
                    </a:srgbClr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检测到数据冲突，请及时处理：</a:t>
              </a:r>
              <a:endParaRPr lang="en-US" sz="1600" dirty="0"/>
            </a:p>
            <a:p>
              <a:pPr>
                <a:lnSpc>
                  <a:spcPct val="130000"/>
                </a:lnSpc>
              </a:pPr>
              <a:r>
                <a:rPr lang="en-US" sz="1170" dirty="0">
                  <a:solidFill>
                    <a:srgbClr val="E5E7EB">
                      <a:alpha val="80000"/>
                    </a:srgbClr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• 冲突类型：UPDATE-UPDATE</a:t>
              </a:r>
              <a:endParaRPr lang="en-US" sz="1600" dirty="0"/>
            </a:p>
            <a:p>
              <a:pPr>
                <a:lnSpc>
                  <a:spcPct val="130000"/>
                </a:lnSpc>
              </a:pPr>
              <a:r>
                <a:rPr lang="en-US" sz="1170" dirty="0">
                  <a:solidFill>
                    <a:srgbClr val="E5E7EB">
                      <a:alpha val="80000"/>
                    </a:srgbClr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• 冲突时间：2025-01-04 10:30:25</a:t>
              </a:r>
              <a:endParaRPr lang="en-US" sz="1600" dirty="0"/>
            </a:p>
            <a:p>
              <a:pPr>
                <a:lnSpc>
                  <a:spcPct val="130000"/>
                </a:lnSpc>
              </a:pPr>
              <a:r>
                <a:rPr lang="en-US" sz="1170" dirty="0">
                  <a:solidFill>
                    <a:srgbClr val="E5E7EB">
                      <a:alpha val="80000"/>
                    </a:srgbClr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• 处理链接：[点击处理]</a:t>
              </a:r>
              <a:endParaRPr lang="en-US" sz="1600" dirty="0"/>
            </a:p>
          </p:txBody>
        </p:sp>
      </p:grp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3333" y="465667"/>
            <a:ext cx="63500" cy="423333"/>
          </a:xfrm>
          <a:custGeom>
            <a:avLst/>
            <a:gdLst/>
            <a:ahLst/>
            <a:cxnLst/>
            <a:rect l="l" t="t" r="r" b="b"/>
            <a:pathLst>
              <a:path w="63500" h="423333">
                <a:moveTo>
                  <a:pt x="0" y="0"/>
                </a:moveTo>
                <a:lnTo>
                  <a:pt x="63500" y="0"/>
                </a:lnTo>
                <a:lnTo>
                  <a:pt x="63500" y="423333"/>
                </a:lnTo>
                <a:lnTo>
                  <a:pt x="0" y="423333"/>
                </a:lnTo>
                <a:lnTo>
                  <a:pt x="0" y="0"/>
                </a:lnTo>
                <a:close/>
              </a:path>
            </a:pathLst>
          </a:custGeom>
          <a:solidFill>
            <a:srgbClr val="4F9A94"/>
          </a:solidFill>
        </p:spPr>
      </p:sp>
      <p:sp>
        <p:nvSpPr>
          <p:cNvPr id="3" name="Text 1"/>
          <p:cNvSpPr/>
          <p:nvPr/>
        </p:nvSpPr>
        <p:spPr>
          <a:xfrm>
            <a:off x="613833" y="423333"/>
            <a:ext cx="33020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000" b="1" dirty="0">
                <a:solidFill>
                  <a:srgbClr val="E5E7E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同步模式配置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77333" y="1016000"/>
            <a:ext cx="15261167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5" dirty="0">
                <a:solidFill>
                  <a:srgbClr val="6B728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Sync Mode Configuration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44500" y="1524000"/>
            <a:ext cx="15388167" cy="3534833"/>
          </a:xfrm>
          <a:custGeom>
            <a:avLst/>
            <a:gdLst/>
            <a:ahLst/>
            <a:cxnLst/>
            <a:rect l="l" t="t" r="r" b="b"/>
            <a:pathLst>
              <a:path w="15388167" h="3534833">
                <a:moveTo>
                  <a:pt x="0" y="0"/>
                </a:moveTo>
                <a:lnTo>
                  <a:pt x="15303507" y="0"/>
                </a:lnTo>
                <a:cubicBezTo>
                  <a:pt x="15350263" y="0"/>
                  <a:pt x="15388167" y="37903"/>
                  <a:pt x="15388167" y="84659"/>
                </a:cubicBezTo>
                <a:lnTo>
                  <a:pt x="15388167" y="3450174"/>
                </a:lnTo>
                <a:cubicBezTo>
                  <a:pt x="15388167" y="3496930"/>
                  <a:pt x="15350263" y="3534833"/>
                  <a:pt x="15303507" y="3534833"/>
                </a:cubicBezTo>
                <a:lnTo>
                  <a:pt x="0" y="3534833"/>
                </a:lnTo>
                <a:lnTo>
                  <a:pt x="0" y="0"/>
                </a:lnTo>
                <a:close/>
              </a:path>
            </a:pathLst>
          </a:custGeom>
          <a:solidFill>
            <a:srgbClr val="3D4A5C">
              <a:alpha val="30196"/>
            </a:srgbClr>
          </a:solidFill>
        </p:spPr>
      </p:sp>
      <p:sp>
        <p:nvSpPr>
          <p:cNvPr id="6" name="Shape 4"/>
          <p:cNvSpPr/>
          <p:nvPr/>
        </p:nvSpPr>
        <p:spPr>
          <a:xfrm>
            <a:off x="444500" y="1524000"/>
            <a:ext cx="42333" cy="3534833"/>
          </a:xfrm>
          <a:custGeom>
            <a:avLst/>
            <a:gdLst/>
            <a:ahLst/>
            <a:cxnLst/>
            <a:rect l="l" t="t" r="r" b="b"/>
            <a:pathLst>
              <a:path w="42333" h="3534833">
                <a:moveTo>
                  <a:pt x="0" y="0"/>
                </a:moveTo>
                <a:lnTo>
                  <a:pt x="42333" y="0"/>
                </a:lnTo>
                <a:lnTo>
                  <a:pt x="42333" y="3534833"/>
                </a:lnTo>
                <a:lnTo>
                  <a:pt x="0" y="3534833"/>
                </a:lnTo>
                <a:lnTo>
                  <a:pt x="0" y="0"/>
                </a:lnTo>
                <a:close/>
              </a:path>
            </a:pathLst>
          </a:custGeom>
          <a:solidFill>
            <a:srgbClr val="4F9A94"/>
          </a:solidFill>
        </p:spPr>
      </p:sp>
      <p:sp>
        <p:nvSpPr>
          <p:cNvPr id="7" name="Shape 5"/>
          <p:cNvSpPr/>
          <p:nvPr/>
        </p:nvSpPr>
        <p:spPr>
          <a:xfrm>
            <a:off x="637646" y="1703844"/>
            <a:ext cx="396875" cy="317500"/>
          </a:xfrm>
          <a:custGeom>
            <a:avLst/>
            <a:gdLst/>
            <a:ahLst/>
            <a:cxnLst/>
            <a:rect l="l" t="t" r="r" b="b"/>
            <a:pathLst>
              <a:path w="396875" h="317500">
                <a:moveTo>
                  <a:pt x="257907" y="130535"/>
                </a:moveTo>
                <a:cubicBezTo>
                  <a:pt x="265472" y="128488"/>
                  <a:pt x="273410" y="132085"/>
                  <a:pt x="276820" y="139092"/>
                </a:cubicBezTo>
                <a:lnTo>
                  <a:pt x="288354" y="162409"/>
                </a:lnTo>
                <a:cubicBezTo>
                  <a:pt x="294742" y="163277"/>
                  <a:pt x="301005" y="165013"/>
                  <a:pt x="306896" y="167432"/>
                </a:cubicBezTo>
                <a:lnTo>
                  <a:pt x="328600" y="152983"/>
                </a:lnTo>
                <a:cubicBezTo>
                  <a:pt x="335111" y="148642"/>
                  <a:pt x="343731" y="149510"/>
                  <a:pt x="349250" y="155029"/>
                </a:cubicBezTo>
                <a:lnTo>
                  <a:pt x="361156" y="166936"/>
                </a:lnTo>
                <a:cubicBezTo>
                  <a:pt x="366675" y="172455"/>
                  <a:pt x="367543" y="181136"/>
                  <a:pt x="363203" y="187585"/>
                </a:cubicBezTo>
                <a:lnTo>
                  <a:pt x="348754" y="209228"/>
                </a:lnTo>
                <a:cubicBezTo>
                  <a:pt x="349932" y="212142"/>
                  <a:pt x="350986" y="215181"/>
                  <a:pt x="351854" y="218343"/>
                </a:cubicBezTo>
                <a:cubicBezTo>
                  <a:pt x="352723" y="221506"/>
                  <a:pt x="353281" y="224606"/>
                  <a:pt x="353715" y="227769"/>
                </a:cubicBezTo>
                <a:lnTo>
                  <a:pt x="377093" y="239303"/>
                </a:lnTo>
                <a:cubicBezTo>
                  <a:pt x="384101" y="242776"/>
                  <a:pt x="387697" y="250713"/>
                  <a:pt x="385651" y="258217"/>
                </a:cubicBezTo>
                <a:lnTo>
                  <a:pt x="381310" y="274464"/>
                </a:lnTo>
                <a:cubicBezTo>
                  <a:pt x="379264" y="281967"/>
                  <a:pt x="372256" y="287052"/>
                  <a:pt x="364443" y="286556"/>
                </a:cubicBezTo>
                <a:lnTo>
                  <a:pt x="338398" y="284882"/>
                </a:lnTo>
                <a:cubicBezTo>
                  <a:pt x="334491" y="289905"/>
                  <a:pt x="329964" y="294556"/>
                  <a:pt x="324817" y="298524"/>
                </a:cubicBezTo>
                <a:lnTo>
                  <a:pt x="326492" y="324507"/>
                </a:lnTo>
                <a:cubicBezTo>
                  <a:pt x="326988" y="332321"/>
                  <a:pt x="321903" y="339390"/>
                  <a:pt x="314399" y="341375"/>
                </a:cubicBezTo>
                <a:lnTo>
                  <a:pt x="298152" y="345715"/>
                </a:lnTo>
                <a:cubicBezTo>
                  <a:pt x="290587" y="347762"/>
                  <a:pt x="282711" y="344165"/>
                  <a:pt x="279239" y="337158"/>
                </a:cubicBezTo>
                <a:lnTo>
                  <a:pt x="267705" y="313841"/>
                </a:lnTo>
                <a:cubicBezTo>
                  <a:pt x="261317" y="312973"/>
                  <a:pt x="255054" y="311237"/>
                  <a:pt x="249163" y="308818"/>
                </a:cubicBezTo>
                <a:lnTo>
                  <a:pt x="227459" y="323267"/>
                </a:lnTo>
                <a:cubicBezTo>
                  <a:pt x="220948" y="327608"/>
                  <a:pt x="212328" y="326740"/>
                  <a:pt x="206809" y="321221"/>
                </a:cubicBezTo>
                <a:lnTo>
                  <a:pt x="194903" y="309314"/>
                </a:lnTo>
                <a:cubicBezTo>
                  <a:pt x="189384" y="303795"/>
                  <a:pt x="188516" y="295176"/>
                  <a:pt x="192856" y="288665"/>
                </a:cubicBezTo>
                <a:lnTo>
                  <a:pt x="207305" y="266960"/>
                </a:lnTo>
                <a:cubicBezTo>
                  <a:pt x="206127" y="264046"/>
                  <a:pt x="205073" y="261007"/>
                  <a:pt x="204205" y="257845"/>
                </a:cubicBezTo>
                <a:cubicBezTo>
                  <a:pt x="203336" y="254682"/>
                  <a:pt x="202778" y="251520"/>
                  <a:pt x="202344" y="248419"/>
                </a:cubicBezTo>
                <a:lnTo>
                  <a:pt x="178966" y="236885"/>
                </a:lnTo>
                <a:cubicBezTo>
                  <a:pt x="171958" y="233412"/>
                  <a:pt x="168424" y="225475"/>
                  <a:pt x="170408" y="217971"/>
                </a:cubicBezTo>
                <a:lnTo>
                  <a:pt x="174749" y="201724"/>
                </a:lnTo>
                <a:cubicBezTo>
                  <a:pt x="176795" y="194221"/>
                  <a:pt x="183803" y="189136"/>
                  <a:pt x="191616" y="189632"/>
                </a:cubicBezTo>
                <a:lnTo>
                  <a:pt x="217599" y="191306"/>
                </a:lnTo>
                <a:cubicBezTo>
                  <a:pt x="221506" y="186283"/>
                  <a:pt x="226033" y="181632"/>
                  <a:pt x="231180" y="177664"/>
                </a:cubicBezTo>
                <a:lnTo>
                  <a:pt x="229505" y="151743"/>
                </a:lnTo>
                <a:cubicBezTo>
                  <a:pt x="229009" y="143929"/>
                  <a:pt x="234094" y="136860"/>
                  <a:pt x="241598" y="134875"/>
                </a:cubicBezTo>
                <a:lnTo>
                  <a:pt x="257845" y="130535"/>
                </a:lnTo>
                <a:close/>
                <a:moveTo>
                  <a:pt x="278061" y="210840"/>
                </a:moveTo>
                <a:cubicBezTo>
                  <a:pt x="263001" y="210857"/>
                  <a:pt x="250789" y="223097"/>
                  <a:pt x="250806" y="238156"/>
                </a:cubicBezTo>
                <a:cubicBezTo>
                  <a:pt x="250824" y="253215"/>
                  <a:pt x="263063" y="265427"/>
                  <a:pt x="278123" y="265410"/>
                </a:cubicBezTo>
                <a:cubicBezTo>
                  <a:pt x="293182" y="265393"/>
                  <a:pt x="305394" y="253153"/>
                  <a:pt x="305377" y="238094"/>
                </a:cubicBezTo>
                <a:cubicBezTo>
                  <a:pt x="305360" y="223035"/>
                  <a:pt x="293120" y="210823"/>
                  <a:pt x="278061" y="210840"/>
                </a:cubicBezTo>
                <a:close/>
                <a:moveTo>
                  <a:pt x="139464" y="-28215"/>
                </a:moveTo>
                <a:lnTo>
                  <a:pt x="155711" y="-23875"/>
                </a:lnTo>
                <a:cubicBezTo>
                  <a:pt x="163215" y="-21828"/>
                  <a:pt x="168300" y="-14759"/>
                  <a:pt x="167804" y="-7007"/>
                </a:cubicBezTo>
                <a:lnTo>
                  <a:pt x="166129" y="18914"/>
                </a:lnTo>
                <a:cubicBezTo>
                  <a:pt x="171276" y="22882"/>
                  <a:pt x="175803" y="27471"/>
                  <a:pt x="179710" y="32556"/>
                </a:cubicBezTo>
                <a:lnTo>
                  <a:pt x="205755" y="30882"/>
                </a:lnTo>
                <a:cubicBezTo>
                  <a:pt x="213506" y="30386"/>
                  <a:pt x="220576" y="35471"/>
                  <a:pt x="222622" y="42974"/>
                </a:cubicBezTo>
                <a:lnTo>
                  <a:pt x="226963" y="59221"/>
                </a:lnTo>
                <a:cubicBezTo>
                  <a:pt x="228947" y="66725"/>
                  <a:pt x="225413" y="74662"/>
                  <a:pt x="218405" y="78135"/>
                </a:cubicBezTo>
                <a:lnTo>
                  <a:pt x="195027" y="89669"/>
                </a:lnTo>
                <a:cubicBezTo>
                  <a:pt x="194593" y="92832"/>
                  <a:pt x="193973" y="95994"/>
                  <a:pt x="193167" y="99095"/>
                </a:cubicBezTo>
                <a:cubicBezTo>
                  <a:pt x="192360" y="102195"/>
                  <a:pt x="191244" y="105296"/>
                  <a:pt x="190066" y="108210"/>
                </a:cubicBezTo>
                <a:lnTo>
                  <a:pt x="204515" y="129915"/>
                </a:lnTo>
                <a:cubicBezTo>
                  <a:pt x="208855" y="136426"/>
                  <a:pt x="207987" y="145045"/>
                  <a:pt x="202468" y="150564"/>
                </a:cubicBezTo>
                <a:lnTo>
                  <a:pt x="190562" y="162471"/>
                </a:lnTo>
                <a:cubicBezTo>
                  <a:pt x="185043" y="167990"/>
                  <a:pt x="176423" y="168858"/>
                  <a:pt x="169912" y="164517"/>
                </a:cubicBezTo>
                <a:lnTo>
                  <a:pt x="148208" y="150068"/>
                </a:lnTo>
                <a:cubicBezTo>
                  <a:pt x="142317" y="152487"/>
                  <a:pt x="136054" y="154223"/>
                  <a:pt x="129667" y="155091"/>
                </a:cubicBezTo>
                <a:lnTo>
                  <a:pt x="118132" y="178408"/>
                </a:lnTo>
                <a:cubicBezTo>
                  <a:pt x="114660" y="185415"/>
                  <a:pt x="106722" y="188950"/>
                  <a:pt x="99219" y="186965"/>
                </a:cubicBezTo>
                <a:lnTo>
                  <a:pt x="82972" y="182625"/>
                </a:lnTo>
                <a:cubicBezTo>
                  <a:pt x="75406" y="180578"/>
                  <a:pt x="70383" y="173509"/>
                  <a:pt x="70879" y="165757"/>
                </a:cubicBezTo>
                <a:lnTo>
                  <a:pt x="72554" y="139774"/>
                </a:lnTo>
                <a:cubicBezTo>
                  <a:pt x="67407" y="135806"/>
                  <a:pt x="62880" y="131217"/>
                  <a:pt x="58973" y="126132"/>
                </a:cubicBezTo>
                <a:lnTo>
                  <a:pt x="32928" y="127806"/>
                </a:lnTo>
                <a:cubicBezTo>
                  <a:pt x="25177" y="128302"/>
                  <a:pt x="18107" y="123217"/>
                  <a:pt x="16061" y="115714"/>
                </a:cubicBezTo>
                <a:lnTo>
                  <a:pt x="11720" y="99467"/>
                </a:lnTo>
                <a:cubicBezTo>
                  <a:pt x="9736" y="91963"/>
                  <a:pt x="13271" y="84026"/>
                  <a:pt x="20278" y="80553"/>
                </a:cubicBezTo>
                <a:lnTo>
                  <a:pt x="43656" y="69019"/>
                </a:lnTo>
                <a:cubicBezTo>
                  <a:pt x="44090" y="65856"/>
                  <a:pt x="44710" y="62756"/>
                  <a:pt x="45517" y="59593"/>
                </a:cubicBezTo>
                <a:cubicBezTo>
                  <a:pt x="46385" y="56431"/>
                  <a:pt x="47377" y="53392"/>
                  <a:pt x="48617" y="50478"/>
                </a:cubicBezTo>
                <a:lnTo>
                  <a:pt x="34168" y="28835"/>
                </a:lnTo>
                <a:cubicBezTo>
                  <a:pt x="29828" y="22324"/>
                  <a:pt x="30696" y="13705"/>
                  <a:pt x="36215" y="8186"/>
                </a:cubicBezTo>
                <a:lnTo>
                  <a:pt x="48121" y="-3721"/>
                </a:lnTo>
                <a:cubicBezTo>
                  <a:pt x="53640" y="-9240"/>
                  <a:pt x="62260" y="-10108"/>
                  <a:pt x="68771" y="-5767"/>
                </a:cubicBezTo>
                <a:lnTo>
                  <a:pt x="90475" y="8682"/>
                </a:lnTo>
                <a:cubicBezTo>
                  <a:pt x="96366" y="6263"/>
                  <a:pt x="102629" y="4527"/>
                  <a:pt x="109017" y="3659"/>
                </a:cubicBezTo>
                <a:lnTo>
                  <a:pt x="120551" y="-19658"/>
                </a:lnTo>
                <a:cubicBezTo>
                  <a:pt x="124023" y="-26665"/>
                  <a:pt x="131899" y="-30200"/>
                  <a:pt x="139464" y="-28215"/>
                </a:cubicBezTo>
                <a:close/>
                <a:moveTo>
                  <a:pt x="119311" y="52090"/>
                </a:moveTo>
                <a:cubicBezTo>
                  <a:pt x="104251" y="52090"/>
                  <a:pt x="92025" y="64316"/>
                  <a:pt x="92025" y="79375"/>
                </a:cubicBezTo>
                <a:cubicBezTo>
                  <a:pt x="92025" y="94434"/>
                  <a:pt x="104251" y="106660"/>
                  <a:pt x="119311" y="106660"/>
                </a:cubicBezTo>
                <a:cubicBezTo>
                  <a:pt x="134370" y="106660"/>
                  <a:pt x="146596" y="94434"/>
                  <a:pt x="146596" y="79375"/>
                </a:cubicBezTo>
                <a:cubicBezTo>
                  <a:pt x="146596" y="64316"/>
                  <a:pt x="134370" y="52090"/>
                  <a:pt x="119311" y="52090"/>
                </a:cubicBezTo>
                <a:close/>
              </a:path>
            </a:pathLst>
          </a:custGeom>
          <a:solidFill>
            <a:srgbClr val="4F9A94"/>
          </a:solidFill>
        </p:spPr>
      </p:sp>
      <p:sp>
        <p:nvSpPr>
          <p:cNvPr id="8" name="Text 6"/>
          <p:cNvSpPr/>
          <p:nvPr/>
        </p:nvSpPr>
        <p:spPr>
          <a:xfrm>
            <a:off x="1158875" y="1693333"/>
            <a:ext cx="3725333" cy="338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E5E7E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灵活性配置（sync_configs 表）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9704" y="2205965"/>
            <a:ext cx="7396574" cy="2676407"/>
          </a:xfrm>
          <a:custGeom>
            <a:avLst/>
            <a:gdLst/>
            <a:ahLst/>
            <a:cxnLst/>
            <a:rect l="l" t="t" r="r" b="b"/>
            <a:pathLst>
              <a:path w="7396574" h="2676407">
                <a:moveTo>
                  <a:pt x="84655" y="0"/>
                </a:moveTo>
                <a:lnTo>
                  <a:pt x="7311919" y="0"/>
                </a:lnTo>
                <a:cubicBezTo>
                  <a:pt x="7358673" y="0"/>
                  <a:pt x="7396574" y="37901"/>
                  <a:pt x="7396574" y="84655"/>
                </a:cubicBezTo>
                <a:lnTo>
                  <a:pt x="7396574" y="2591753"/>
                </a:lnTo>
                <a:cubicBezTo>
                  <a:pt x="7396574" y="2638506"/>
                  <a:pt x="7358673" y="2676407"/>
                  <a:pt x="7311919" y="2676407"/>
                </a:cubicBezTo>
                <a:lnTo>
                  <a:pt x="84655" y="2676407"/>
                </a:lnTo>
                <a:cubicBezTo>
                  <a:pt x="37901" y="2676407"/>
                  <a:pt x="0" y="2638506"/>
                  <a:pt x="0" y="2591753"/>
                </a:cubicBezTo>
                <a:lnTo>
                  <a:pt x="0" y="84655"/>
                </a:lnTo>
                <a:cubicBezTo>
                  <a:pt x="0" y="37933"/>
                  <a:pt x="37933" y="0"/>
                  <a:pt x="84655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 w="11289">
            <a:solidFill>
              <a:srgbClr val="4F9A9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1366" y="2401171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168077" y="-4911"/>
                </a:moveTo>
                <a:cubicBezTo>
                  <a:pt x="173980" y="-645"/>
                  <a:pt x="176163" y="7094"/>
                  <a:pt x="173484" y="13841"/>
                </a:cubicBezTo>
                <a:lnTo>
                  <a:pt x="134590" y="111125"/>
                </a:lnTo>
                <a:lnTo>
                  <a:pt x="206375" y="111125"/>
                </a:lnTo>
                <a:cubicBezTo>
                  <a:pt x="213072" y="111125"/>
                  <a:pt x="219025" y="115292"/>
                  <a:pt x="221307" y="121593"/>
                </a:cubicBezTo>
                <a:cubicBezTo>
                  <a:pt x="223589" y="127893"/>
                  <a:pt x="221655" y="134938"/>
                  <a:pt x="216545" y="139204"/>
                </a:cubicBezTo>
                <a:lnTo>
                  <a:pt x="73670" y="258266"/>
                </a:lnTo>
                <a:cubicBezTo>
                  <a:pt x="68064" y="262930"/>
                  <a:pt x="60077" y="263178"/>
                  <a:pt x="54173" y="258911"/>
                </a:cubicBezTo>
                <a:cubicBezTo>
                  <a:pt x="48270" y="254645"/>
                  <a:pt x="46087" y="246906"/>
                  <a:pt x="48766" y="240159"/>
                </a:cubicBezTo>
                <a:lnTo>
                  <a:pt x="87660" y="142875"/>
                </a:lnTo>
                <a:lnTo>
                  <a:pt x="15875" y="142875"/>
                </a:lnTo>
                <a:cubicBezTo>
                  <a:pt x="9178" y="142875"/>
                  <a:pt x="3225" y="138708"/>
                  <a:pt x="943" y="132407"/>
                </a:cubicBezTo>
                <a:cubicBezTo>
                  <a:pt x="-1339" y="126107"/>
                  <a:pt x="595" y="119062"/>
                  <a:pt x="5705" y="114796"/>
                </a:cubicBezTo>
                <a:lnTo>
                  <a:pt x="148580" y="-4266"/>
                </a:lnTo>
                <a:cubicBezTo>
                  <a:pt x="154186" y="-8930"/>
                  <a:pt x="162173" y="-9178"/>
                  <a:pt x="168077" y="-4911"/>
                </a:cubicBezTo>
                <a:close/>
              </a:path>
            </a:pathLst>
          </a:custGeom>
          <a:solidFill>
            <a:srgbClr val="4F9A94"/>
          </a:solidFill>
        </p:spPr>
      </p:sp>
      <p:sp>
        <p:nvSpPr>
          <p:cNvPr id="11" name="Text 9"/>
          <p:cNvSpPr/>
          <p:nvPr/>
        </p:nvSpPr>
        <p:spPr>
          <a:xfrm>
            <a:off x="1258241" y="2380005"/>
            <a:ext cx="952500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5" b="1" dirty="0">
                <a:solidFill>
                  <a:srgbClr val="E5E7E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实时模式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018367" y="2380005"/>
            <a:ext cx="846667" cy="296333"/>
          </a:xfrm>
          <a:custGeom>
            <a:avLst/>
            <a:gdLst/>
            <a:ahLst/>
            <a:cxnLst/>
            <a:rect l="l" t="t" r="r" b="b"/>
            <a:pathLst>
              <a:path w="846667" h="296333">
                <a:moveTo>
                  <a:pt x="148167" y="0"/>
                </a:moveTo>
                <a:lnTo>
                  <a:pt x="698500" y="0"/>
                </a:lnTo>
                <a:cubicBezTo>
                  <a:pt x="780275" y="0"/>
                  <a:pt x="846667" y="66391"/>
                  <a:pt x="846667" y="148167"/>
                </a:cubicBezTo>
                <a:lnTo>
                  <a:pt x="846667" y="148167"/>
                </a:lnTo>
                <a:cubicBezTo>
                  <a:pt x="846667" y="229942"/>
                  <a:pt x="780275" y="296333"/>
                  <a:pt x="698500" y="296333"/>
                </a:cubicBezTo>
                <a:lnTo>
                  <a:pt x="148167" y="296333"/>
                </a:lnTo>
                <a:cubicBezTo>
                  <a:pt x="66391" y="296333"/>
                  <a:pt x="0" y="229942"/>
                  <a:pt x="0" y="148167"/>
                </a:cubicBezTo>
                <a:lnTo>
                  <a:pt x="0" y="148167"/>
                </a:lnTo>
                <a:cubicBezTo>
                  <a:pt x="0" y="66391"/>
                  <a:pt x="66391" y="0"/>
                  <a:pt x="148167" y="0"/>
                </a:cubicBezTo>
                <a:close/>
              </a:path>
            </a:pathLst>
          </a:custGeom>
          <a:solidFill>
            <a:srgbClr val="4F9A94"/>
          </a:solidFill>
        </p:spPr>
      </p:sp>
      <p:sp>
        <p:nvSpPr>
          <p:cNvPr id="13" name="Text 11"/>
          <p:cNvSpPr/>
          <p:nvPr/>
        </p:nvSpPr>
        <p:spPr>
          <a:xfrm>
            <a:off x="7018367" y="2380005"/>
            <a:ext cx="920750" cy="296333"/>
          </a:xfrm>
          <a:prstGeom prst="rect">
            <a:avLst/>
          </a:prstGeom>
          <a:noFill/>
        </p:spPr>
        <p:txBody>
          <a:bodyPr wrap="square" lIns="127000" tIns="42333" rIns="127000" bIns="42333" rtlCol="0" anchor="ctr"/>
          <a:lstStyle/>
          <a:p>
            <a:pPr>
              <a:lnSpc>
                <a:spcPct val="120000"/>
              </a:lnSpc>
            </a:pPr>
            <a:r>
              <a:rPr lang="en-US" sz="1165" b="1" dirty="0">
                <a:solidFill>
                  <a:srgbClr val="1A1D2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Realtime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45491" y="2836261"/>
            <a:ext cx="148167" cy="169333"/>
          </a:xfrm>
          <a:custGeom>
            <a:avLst/>
            <a:gdLst/>
            <a:ahLst/>
            <a:cxnLst/>
            <a:rect l="l" t="t" r="r" b="b"/>
            <a:pathLst>
              <a:path w="148167" h="169333">
                <a:moveTo>
                  <a:pt x="30163" y="12204"/>
                </a:moveTo>
                <a:cubicBezTo>
                  <a:pt x="26061" y="9955"/>
                  <a:pt x="21101" y="10054"/>
                  <a:pt x="17066" y="12435"/>
                </a:cubicBezTo>
                <a:cubicBezTo>
                  <a:pt x="13031" y="14817"/>
                  <a:pt x="10583" y="19149"/>
                  <a:pt x="10583" y="23813"/>
                </a:cubicBezTo>
                <a:lnTo>
                  <a:pt x="10583" y="145521"/>
                </a:lnTo>
                <a:cubicBezTo>
                  <a:pt x="10583" y="150184"/>
                  <a:pt x="13064" y="154517"/>
                  <a:pt x="17066" y="156898"/>
                </a:cubicBezTo>
                <a:cubicBezTo>
                  <a:pt x="21067" y="159279"/>
                  <a:pt x="26061" y="159378"/>
                  <a:pt x="30163" y="157129"/>
                </a:cubicBezTo>
                <a:lnTo>
                  <a:pt x="141288" y="96275"/>
                </a:lnTo>
                <a:cubicBezTo>
                  <a:pt x="145521" y="93960"/>
                  <a:pt x="148167" y="89495"/>
                  <a:pt x="148167" y="84667"/>
                </a:cubicBezTo>
                <a:cubicBezTo>
                  <a:pt x="148167" y="79838"/>
                  <a:pt x="145521" y="75373"/>
                  <a:pt x="141288" y="73058"/>
                </a:cubicBezTo>
                <a:lnTo>
                  <a:pt x="30163" y="12204"/>
                </a:lnTo>
                <a:close/>
              </a:path>
            </a:pathLst>
          </a:custGeom>
          <a:solidFill>
            <a:srgbClr val="4F9A94"/>
          </a:solidFill>
        </p:spPr>
      </p:sp>
      <p:sp>
        <p:nvSpPr>
          <p:cNvPr id="15" name="Text 13"/>
          <p:cNvSpPr/>
          <p:nvPr/>
        </p:nvSpPr>
        <p:spPr>
          <a:xfrm>
            <a:off x="1095963" y="2803338"/>
            <a:ext cx="6850944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4F9A9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持续轮询</a:t>
            </a:r>
            <a:r>
              <a:rPr lang="en-US" sz="1335" dirty="0">
                <a:solidFill>
                  <a:srgbClr val="E5E7EB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：不间断监控变更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34907" y="3174928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0" y="84667"/>
                </a:moveTo>
                <a:cubicBezTo>
                  <a:pt x="0" y="37938"/>
                  <a:pt x="37938" y="0"/>
                  <a:pt x="84667" y="0"/>
                </a:cubicBezTo>
                <a:cubicBezTo>
                  <a:pt x="131395" y="0"/>
                  <a:pt x="169333" y="37938"/>
                  <a:pt x="169333" y="84667"/>
                </a:cubicBezTo>
                <a:cubicBezTo>
                  <a:pt x="169333" y="131395"/>
                  <a:pt x="131395" y="169333"/>
                  <a:pt x="84667" y="169333"/>
                </a:cubicBezTo>
                <a:cubicBezTo>
                  <a:pt x="37938" y="169333"/>
                  <a:pt x="0" y="131395"/>
                  <a:pt x="0" y="84667"/>
                </a:cubicBezTo>
                <a:close/>
                <a:moveTo>
                  <a:pt x="95250" y="31750"/>
                </a:moveTo>
                <a:cubicBezTo>
                  <a:pt x="95250" y="25909"/>
                  <a:pt x="90508" y="21167"/>
                  <a:pt x="84667" y="21167"/>
                </a:cubicBezTo>
                <a:cubicBezTo>
                  <a:pt x="78826" y="21167"/>
                  <a:pt x="74083" y="25909"/>
                  <a:pt x="74083" y="31750"/>
                </a:cubicBezTo>
                <a:cubicBezTo>
                  <a:pt x="74083" y="37591"/>
                  <a:pt x="78826" y="42333"/>
                  <a:pt x="84667" y="42333"/>
                </a:cubicBezTo>
                <a:cubicBezTo>
                  <a:pt x="90508" y="42333"/>
                  <a:pt x="95250" y="37591"/>
                  <a:pt x="95250" y="31750"/>
                </a:cubicBezTo>
                <a:close/>
                <a:moveTo>
                  <a:pt x="84667" y="137583"/>
                </a:moveTo>
                <a:cubicBezTo>
                  <a:pt x="96341" y="137583"/>
                  <a:pt x="105833" y="128091"/>
                  <a:pt x="105833" y="116417"/>
                </a:cubicBezTo>
                <a:cubicBezTo>
                  <a:pt x="105833" y="111059"/>
                  <a:pt x="103849" y="106131"/>
                  <a:pt x="100542" y="102427"/>
                </a:cubicBezTo>
                <a:lnTo>
                  <a:pt x="123527" y="56489"/>
                </a:lnTo>
                <a:cubicBezTo>
                  <a:pt x="125479" y="52553"/>
                  <a:pt x="123891" y="47790"/>
                  <a:pt x="119989" y="45839"/>
                </a:cubicBezTo>
                <a:cubicBezTo>
                  <a:pt x="116086" y="43888"/>
                  <a:pt x="111290" y="45475"/>
                  <a:pt x="109339" y="49378"/>
                </a:cubicBezTo>
                <a:lnTo>
                  <a:pt x="86353" y="95316"/>
                </a:lnTo>
                <a:cubicBezTo>
                  <a:pt x="85791" y="95283"/>
                  <a:pt x="85229" y="95250"/>
                  <a:pt x="84667" y="95250"/>
                </a:cubicBezTo>
                <a:cubicBezTo>
                  <a:pt x="72992" y="95250"/>
                  <a:pt x="63500" y="104742"/>
                  <a:pt x="63500" y="116417"/>
                </a:cubicBezTo>
                <a:cubicBezTo>
                  <a:pt x="63500" y="128091"/>
                  <a:pt x="72992" y="137583"/>
                  <a:pt x="84667" y="137583"/>
                </a:cubicBezTo>
                <a:close/>
                <a:moveTo>
                  <a:pt x="58208" y="47625"/>
                </a:moveTo>
                <a:cubicBezTo>
                  <a:pt x="58208" y="41784"/>
                  <a:pt x="53466" y="37042"/>
                  <a:pt x="47625" y="37042"/>
                </a:cubicBezTo>
                <a:cubicBezTo>
                  <a:pt x="41784" y="37042"/>
                  <a:pt x="37042" y="41784"/>
                  <a:pt x="37042" y="47625"/>
                </a:cubicBezTo>
                <a:cubicBezTo>
                  <a:pt x="37042" y="53466"/>
                  <a:pt x="41784" y="58208"/>
                  <a:pt x="47625" y="58208"/>
                </a:cubicBezTo>
                <a:cubicBezTo>
                  <a:pt x="53466" y="58208"/>
                  <a:pt x="58208" y="53466"/>
                  <a:pt x="58208" y="47625"/>
                </a:cubicBezTo>
                <a:close/>
                <a:moveTo>
                  <a:pt x="31750" y="95250"/>
                </a:moveTo>
                <a:cubicBezTo>
                  <a:pt x="37591" y="95250"/>
                  <a:pt x="42333" y="90508"/>
                  <a:pt x="42333" y="84667"/>
                </a:cubicBezTo>
                <a:cubicBezTo>
                  <a:pt x="42333" y="78826"/>
                  <a:pt x="37591" y="74083"/>
                  <a:pt x="31750" y="74083"/>
                </a:cubicBezTo>
                <a:cubicBezTo>
                  <a:pt x="25909" y="74083"/>
                  <a:pt x="21167" y="78826"/>
                  <a:pt x="21167" y="84667"/>
                </a:cubicBezTo>
                <a:cubicBezTo>
                  <a:pt x="21167" y="90508"/>
                  <a:pt x="25909" y="95250"/>
                  <a:pt x="31750" y="95250"/>
                </a:cubicBezTo>
                <a:close/>
                <a:moveTo>
                  <a:pt x="148167" y="84667"/>
                </a:moveTo>
                <a:cubicBezTo>
                  <a:pt x="148167" y="78826"/>
                  <a:pt x="143424" y="74083"/>
                  <a:pt x="137583" y="74083"/>
                </a:cubicBezTo>
                <a:cubicBezTo>
                  <a:pt x="131742" y="74083"/>
                  <a:pt x="127000" y="78826"/>
                  <a:pt x="127000" y="84667"/>
                </a:cubicBezTo>
                <a:cubicBezTo>
                  <a:pt x="127000" y="90508"/>
                  <a:pt x="131742" y="95250"/>
                  <a:pt x="137583" y="95250"/>
                </a:cubicBezTo>
                <a:cubicBezTo>
                  <a:pt x="143424" y="95250"/>
                  <a:pt x="148167" y="90508"/>
                  <a:pt x="148167" y="84667"/>
                </a:cubicBezTo>
                <a:close/>
              </a:path>
            </a:pathLst>
          </a:custGeom>
          <a:solidFill>
            <a:srgbClr val="4F9A94"/>
          </a:solidFill>
        </p:spPr>
      </p:sp>
      <p:sp>
        <p:nvSpPr>
          <p:cNvPr id="17" name="Text 15"/>
          <p:cNvSpPr/>
          <p:nvPr/>
        </p:nvSpPr>
        <p:spPr>
          <a:xfrm>
            <a:off x="1095963" y="3142005"/>
            <a:ext cx="6850944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4F9A9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低延迟</a:t>
            </a:r>
            <a:r>
              <a:rPr lang="en-US" sz="1335" dirty="0">
                <a:solidFill>
                  <a:srgbClr val="E5E7EB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：毫秒级同步延迟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34907" y="3513594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21795" y="75572"/>
                </a:moveTo>
                <a:cubicBezTo>
                  <a:pt x="26194" y="44814"/>
                  <a:pt x="52685" y="21167"/>
                  <a:pt x="84667" y="21167"/>
                </a:cubicBezTo>
                <a:cubicBezTo>
                  <a:pt x="102195" y="21167"/>
                  <a:pt x="118070" y="28277"/>
                  <a:pt x="129580" y="39754"/>
                </a:cubicBezTo>
                <a:cubicBezTo>
                  <a:pt x="129646" y="39820"/>
                  <a:pt x="129712" y="39886"/>
                  <a:pt x="129778" y="39952"/>
                </a:cubicBezTo>
                <a:lnTo>
                  <a:pt x="132292" y="42333"/>
                </a:lnTo>
                <a:lnTo>
                  <a:pt x="116450" y="42333"/>
                </a:lnTo>
                <a:cubicBezTo>
                  <a:pt x="110596" y="42333"/>
                  <a:pt x="105866" y="47063"/>
                  <a:pt x="105866" y="52917"/>
                </a:cubicBezTo>
                <a:cubicBezTo>
                  <a:pt x="105866" y="58771"/>
                  <a:pt x="110596" y="63500"/>
                  <a:pt x="116450" y="63500"/>
                </a:cubicBezTo>
                <a:lnTo>
                  <a:pt x="158783" y="63500"/>
                </a:lnTo>
                <a:cubicBezTo>
                  <a:pt x="164637" y="63500"/>
                  <a:pt x="169366" y="58771"/>
                  <a:pt x="169366" y="52917"/>
                </a:cubicBezTo>
                <a:lnTo>
                  <a:pt x="169366" y="10583"/>
                </a:lnTo>
                <a:cubicBezTo>
                  <a:pt x="169366" y="4729"/>
                  <a:pt x="164637" y="0"/>
                  <a:pt x="158783" y="0"/>
                </a:cubicBezTo>
                <a:cubicBezTo>
                  <a:pt x="152929" y="0"/>
                  <a:pt x="148200" y="4729"/>
                  <a:pt x="148200" y="10583"/>
                </a:cubicBezTo>
                <a:lnTo>
                  <a:pt x="148200" y="28244"/>
                </a:lnTo>
                <a:lnTo>
                  <a:pt x="144463" y="24705"/>
                </a:lnTo>
                <a:cubicBezTo>
                  <a:pt x="129150" y="9459"/>
                  <a:pt x="107983" y="0"/>
                  <a:pt x="84667" y="0"/>
                </a:cubicBezTo>
                <a:cubicBezTo>
                  <a:pt x="42003" y="0"/>
                  <a:pt x="6714" y="31552"/>
                  <a:pt x="860" y="72595"/>
                </a:cubicBezTo>
                <a:cubicBezTo>
                  <a:pt x="33" y="78383"/>
                  <a:pt x="4035" y="83741"/>
                  <a:pt x="9823" y="84567"/>
                </a:cubicBezTo>
                <a:cubicBezTo>
                  <a:pt x="15610" y="85394"/>
                  <a:pt x="20968" y="81359"/>
                  <a:pt x="21795" y="75605"/>
                </a:cubicBezTo>
                <a:close/>
                <a:moveTo>
                  <a:pt x="168473" y="96738"/>
                </a:moveTo>
                <a:cubicBezTo>
                  <a:pt x="169300" y="90951"/>
                  <a:pt x="165265" y="85593"/>
                  <a:pt x="159511" y="84766"/>
                </a:cubicBezTo>
                <a:cubicBezTo>
                  <a:pt x="153756" y="83939"/>
                  <a:pt x="148365" y="87974"/>
                  <a:pt x="147538" y="93729"/>
                </a:cubicBezTo>
                <a:cubicBezTo>
                  <a:pt x="143140" y="124486"/>
                  <a:pt x="116648" y="148134"/>
                  <a:pt x="84667" y="148134"/>
                </a:cubicBezTo>
                <a:cubicBezTo>
                  <a:pt x="67138" y="148134"/>
                  <a:pt x="51263" y="141023"/>
                  <a:pt x="39754" y="129547"/>
                </a:cubicBezTo>
                <a:cubicBezTo>
                  <a:pt x="39687" y="129480"/>
                  <a:pt x="39621" y="129414"/>
                  <a:pt x="39555" y="129348"/>
                </a:cubicBezTo>
                <a:lnTo>
                  <a:pt x="37042" y="126967"/>
                </a:lnTo>
                <a:lnTo>
                  <a:pt x="52884" y="126967"/>
                </a:lnTo>
                <a:cubicBezTo>
                  <a:pt x="58737" y="126967"/>
                  <a:pt x="63467" y="122238"/>
                  <a:pt x="63467" y="116384"/>
                </a:cubicBezTo>
                <a:cubicBezTo>
                  <a:pt x="63467" y="110530"/>
                  <a:pt x="58737" y="105800"/>
                  <a:pt x="52884" y="105800"/>
                </a:cubicBezTo>
                <a:lnTo>
                  <a:pt x="10583" y="105833"/>
                </a:lnTo>
                <a:cubicBezTo>
                  <a:pt x="7772" y="105833"/>
                  <a:pt x="5060" y="106958"/>
                  <a:pt x="3076" y="108975"/>
                </a:cubicBezTo>
                <a:cubicBezTo>
                  <a:pt x="1091" y="110993"/>
                  <a:pt x="-33" y="113672"/>
                  <a:pt x="0" y="116516"/>
                </a:cubicBezTo>
                <a:lnTo>
                  <a:pt x="331" y="158518"/>
                </a:lnTo>
                <a:cubicBezTo>
                  <a:pt x="364" y="164372"/>
                  <a:pt x="5159" y="169069"/>
                  <a:pt x="11013" y="169003"/>
                </a:cubicBezTo>
                <a:cubicBezTo>
                  <a:pt x="16867" y="168936"/>
                  <a:pt x="21564" y="164174"/>
                  <a:pt x="21497" y="158320"/>
                </a:cubicBezTo>
                <a:lnTo>
                  <a:pt x="21365" y="141288"/>
                </a:lnTo>
                <a:lnTo>
                  <a:pt x="24904" y="144628"/>
                </a:lnTo>
                <a:cubicBezTo>
                  <a:pt x="40217" y="159874"/>
                  <a:pt x="61350" y="169333"/>
                  <a:pt x="84667" y="169333"/>
                </a:cubicBezTo>
                <a:cubicBezTo>
                  <a:pt x="127331" y="169333"/>
                  <a:pt x="162620" y="137782"/>
                  <a:pt x="168473" y="96738"/>
                </a:cubicBezTo>
                <a:close/>
              </a:path>
            </a:pathLst>
          </a:custGeom>
          <a:solidFill>
            <a:srgbClr val="4F9A94"/>
          </a:solidFill>
        </p:spPr>
      </p:sp>
      <p:sp>
        <p:nvSpPr>
          <p:cNvPr id="19" name="Text 17"/>
          <p:cNvSpPr/>
          <p:nvPr/>
        </p:nvSpPr>
        <p:spPr>
          <a:xfrm>
            <a:off x="1095963" y="3480671"/>
            <a:ext cx="6850944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4F9A9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适用场景</a:t>
            </a:r>
            <a:r>
              <a:rPr lang="en-US" sz="1335" dirty="0">
                <a:solidFill>
                  <a:srgbClr val="E5E7EB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：高频交易、实时库存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13741" y="3861671"/>
            <a:ext cx="7048500" cy="846667"/>
          </a:xfrm>
          <a:custGeom>
            <a:avLst/>
            <a:gdLst/>
            <a:ahLst/>
            <a:cxnLst/>
            <a:rect l="l" t="t" r="r" b="b"/>
            <a:pathLst>
              <a:path w="7048500" h="846667">
                <a:moveTo>
                  <a:pt x="42333" y="0"/>
                </a:moveTo>
                <a:lnTo>
                  <a:pt x="7006167" y="0"/>
                </a:lnTo>
                <a:cubicBezTo>
                  <a:pt x="7029547" y="0"/>
                  <a:pt x="7048500" y="18953"/>
                  <a:pt x="7048500" y="42333"/>
                </a:cubicBezTo>
                <a:lnTo>
                  <a:pt x="7048500" y="804333"/>
                </a:lnTo>
                <a:cubicBezTo>
                  <a:pt x="7048500" y="827713"/>
                  <a:pt x="7029547" y="846667"/>
                  <a:pt x="7006167" y="846667"/>
                </a:cubicBezTo>
                <a:lnTo>
                  <a:pt x="42333" y="846667"/>
                </a:lnTo>
                <a:cubicBezTo>
                  <a:pt x="18953" y="846667"/>
                  <a:pt x="0" y="827713"/>
                  <a:pt x="0" y="804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4F9A94">
              <a:alpha val="20000"/>
            </a:srgbClr>
          </a:solidFill>
        </p:spPr>
      </p:sp>
      <p:sp>
        <p:nvSpPr>
          <p:cNvPr id="21" name="Text 19"/>
          <p:cNvSpPr/>
          <p:nvPr/>
        </p:nvSpPr>
        <p:spPr>
          <a:xfrm>
            <a:off x="898407" y="3946338"/>
            <a:ext cx="6953250" cy="211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5" b="1" dirty="0">
                <a:solidFill>
                  <a:srgbClr val="4F9A9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配置示例：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98407" y="4200338"/>
            <a:ext cx="6953250" cy="423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5" dirty="0">
                <a:solidFill>
                  <a:srgbClr val="E5E7EB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mode='Realtime'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1165" dirty="0">
                <a:solidFill>
                  <a:srgbClr val="E5E7EB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interval_ms=100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259704" y="2205965"/>
            <a:ext cx="7396574" cy="2676407"/>
          </a:xfrm>
          <a:custGeom>
            <a:avLst/>
            <a:gdLst/>
            <a:ahLst/>
            <a:cxnLst/>
            <a:rect l="l" t="t" r="r" b="b"/>
            <a:pathLst>
              <a:path w="7396574" h="2676407">
                <a:moveTo>
                  <a:pt x="84655" y="0"/>
                </a:moveTo>
                <a:lnTo>
                  <a:pt x="7311919" y="0"/>
                </a:lnTo>
                <a:cubicBezTo>
                  <a:pt x="7358673" y="0"/>
                  <a:pt x="7396574" y="37901"/>
                  <a:pt x="7396574" y="84655"/>
                </a:cubicBezTo>
                <a:lnTo>
                  <a:pt x="7396574" y="2591753"/>
                </a:lnTo>
                <a:cubicBezTo>
                  <a:pt x="7396574" y="2638506"/>
                  <a:pt x="7358673" y="2676407"/>
                  <a:pt x="7311919" y="2676407"/>
                </a:cubicBezTo>
                <a:lnTo>
                  <a:pt x="84655" y="2676407"/>
                </a:lnTo>
                <a:cubicBezTo>
                  <a:pt x="37901" y="2676407"/>
                  <a:pt x="0" y="2638506"/>
                  <a:pt x="0" y="2591753"/>
                </a:cubicBezTo>
                <a:lnTo>
                  <a:pt x="0" y="84655"/>
                </a:lnTo>
                <a:cubicBezTo>
                  <a:pt x="0" y="37933"/>
                  <a:pt x="37933" y="0"/>
                  <a:pt x="84655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 w="11289">
            <a:solidFill>
              <a:srgbClr val="6B72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65491" y="2401171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cubicBezTo>
                  <a:pt x="197093" y="0"/>
                  <a:pt x="254000" y="56907"/>
                  <a:pt x="254000" y="127000"/>
                </a:cubicBezTo>
                <a:cubicBezTo>
                  <a:pt x="254000" y="197093"/>
                  <a:pt x="197093" y="254000"/>
                  <a:pt x="127000" y="254000"/>
                </a:cubicBezTo>
                <a:cubicBezTo>
                  <a:pt x="56907" y="254000"/>
                  <a:pt x="0" y="197093"/>
                  <a:pt x="0" y="127000"/>
                </a:cubicBezTo>
                <a:cubicBezTo>
                  <a:pt x="0" y="56907"/>
                  <a:pt x="56907" y="0"/>
                  <a:pt x="127000" y="0"/>
                </a:cubicBezTo>
                <a:close/>
                <a:moveTo>
                  <a:pt x="115094" y="59531"/>
                </a:moveTo>
                <a:lnTo>
                  <a:pt x="115094" y="127000"/>
                </a:lnTo>
                <a:cubicBezTo>
                  <a:pt x="115094" y="130969"/>
                  <a:pt x="117078" y="134689"/>
                  <a:pt x="120402" y="136922"/>
                </a:cubicBezTo>
                <a:lnTo>
                  <a:pt x="168027" y="168672"/>
                </a:lnTo>
                <a:cubicBezTo>
                  <a:pt x="173484" y="172343"/>
                  <a:pt x="180876" y="170855"/>
                  <a:pt x="184547" y="165348"/>
                </a:cubicBezTo>
                <a:cubicBezTo>
                  <a:pt x="188218" y="159841"/>
                  <a:pt x="186730" y="152499"/>
                  <a:pt x="181223" y="148828"/>
                </a:cubicBezTo>
                <a:lnTo>
                  <a:pt x="138906" y="120650"/>
                </a:lnTo>
                <a:lnTo>
                  <a:pt x="138906" y="59531"/>
                </a:lnTo>
                <a:cubicBezTo>
                  <a:pt x="138906" y="52933"/>
                  <a:pt x="133598" y="47625"/>
                  <a:pt x="127000" y="47625"/>
                </a:cubicBezTo>
                <a:cubicBezTo>
                  <a:pt x="120402" y="47625"/>
                  <a:pt x="115094" y="52933"/>
                  <a:pt x="115094" y="59531"/>
                </a:cubicBezTo>
                <a:close/>
              </a:path>
            </a:pathLst>
          </a:custGeom>
          <a:solidFill>
            <a:srgbClr val="6B7280"/>
          </a:solidFill>
        </p:spPr>
      </p:sp>
      <p:sp>
        <p:nvSpPr>
          <p:cNvPr id="25" name="Text 23"/>
          <p:cNvSpPr/>
          <p:nvPr/>
        </p:nvSpPr>
        <p:spPr>
          <a:xfrm>
            <a:off x="8878241" y="2380005"/>
            <a:ext cx="952500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5" b="1" dirty="0">
                <a:solidFill>
                  <a:srgbClr val="E5E7E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定时模式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4730310" y="2380005"/>
            <a:ext cx="751417" cy="296333"/>
          </a:xfrm>
          <a:custGeom>
            <a:avLst/>
            <a:gdLst/>
            <a:ahLst/>
            <a:cxnLst/>
            <a:rect l="l" t="t" r="r" b="b"/>
            <a:pathLst>
              <a:path w="751417" h="296333">
                <a:moveTo>
                  <a:pt x="148167" y="0"/>
                </a:moveTo>
                <a:lnTo>
                  <a:pt x="603250" y="0"/>
                </a:lnTo>
                <a:cubicBezTo>
                  <a:pt x="685025" y="0"/>
                  <a:pt x="751417" y="66391"/>
                  <a:pt x="751417" y="148167"/>
                </a:cubicBezTo>
                <a:lnTo>
                  <a:pt x="751417" y="148167"/>
                </a:lnTo>
                <a:cubicBezTo>
                  <a:pt x="751417" y="229942"/>
                  <a:pt x="685025" y="296333"/>
                  <a:pt x="603250" y="296333"/>
                </a:cubicBezTo>
                <a:lnTo>
                  <a:pt x="148167" y="296333"/>
                </a:lnTo>
                <a:cubicBezTo>
                  <a:pt x="66391" y="296333"/>
                  <a:pt x="0" y="229942"/>
                  <a:pt x="0" y="148167"/>
                </a:cubicBezTo>
                <a:lnTo>
                  <a:pt x="0" y="148167"/>
                </a:lnTo>
                <a:cubicBezTo>
                  <a:pt x="0" y="66391"/>
                  <a:pt x="66391" y="0"/>
                  <a:pt x="148167" y="0"/>
                </a:cubicBezTo>
                <a:close/>
              </a:path>
            </a:pathLst>
          </a:custGeom>
          <a:solidFill>
            <a:srgbClr val="6B7280"/>
          </a:solidFill>
        </p:spPr>
      </p:sp>
      <p:sp>
        <p:nvSpPr>
          <p:cNvPr id="27" name="Text 25"/>
          <p:cNvSpPr/>
          <p:nvPr/>
        </p:nvSpPr>
        <p:spPr>
          <a:xfrm>
            <a:off x="14730310" y="2380005"/>
            <a:ext cx="825500" cy="296333"/>
          </a:xfrm>
          <a:prstGeom prst="rect">
            <a:avLst/>
          </a:prstGeom>
          <a:noFill/>
        </p:spPr>
        <p:txBody>
          <a:bodyPr wrap="square" lIns="127000" tIns="42333" rIns="127000" bIns="42333" rtlCol="0" anchor="ctr"/>
          <a:lstStyle/>
          <a:p>
            <a:pPr>
              <a:lnSpc>
                <a:spcPct val="120000"/>
              </a:lnSpc>
            </a:pPr>
            <a:r>
              <a:rPr lang="en-US" sz="1165" b="1" dirty="0">
                <a:solidFill>
                  <a:srgbClr val="E5E7E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Interval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476074" y="2836261"/>
            <a:ext cx="127000" cy="169333"/>
          </a:xfrm>
          <a:custGeom>
            <a:avLst/>
            <a:gdLst/>
            <a:ahLst/>
            <a:cxnLst/>
            <a:rect l="l" t="t" r="r" b="b"/>
            <a:pathLst>
              <a:path w="127000" h="169333">
                <a:moveTo>
                  <a:pt x="15875" y="10583"/>
                </a:moveTo>
                <a:cubicBezTo>
                  <a:pt x="7111" y="10583"/>
                  <a:pt x="0" y="17694"/>
                  <a:pt x="0" y="26458"/>
                </a:cubicBezTo>
                <a:lnTo>
                  <a:pt x="0" y="142875"/>
                </a:lnTo>
                <a:cubicBezTo>
                  <a:pt x="0" y="151639"/>
                  <a:pt x="7111" y="158750"/>
                  <a:pt x="15875" y="158750"/>
                </a:cubicBezTo>
                <a:lnTo>
                  <a:pt x="37042" y="158750"/>
                </a:lnTo>
                <a:cubicBezTo>
                  <a:pt x="45806" y="158750"/>
                  <a:pt x="52917" y="151639"/>
                  <a:pt x="52917" y="142875"/>
                </a:cubicBezTo>
                <a:lnTo>
                  <a:pt x="52917" y="26458"/>
                </a:lnTo>
                <a:cubicBezTo>
                  <a:pt x="52917" y="17694"/>
                  <a:pt x="45806" y="10583"/>
                  <a:pt x="37042" y="10583"/>
                </a:cubicBezTo>
                <a:lnTo>
                  <a:pt x="15875" y="10583"/>
                </a:lnTo>
                <a:close/>
                <a:moveTo>
                  <a:pt x="89958" y="10583"/>
                </a:moveTo>
                <a:cubicBezTo>
                  <a:pt x="81194" y="10583"/>
                  <a:pt x="74083" y="17694"/>
                  <a:pt x="74083" y="26458"/>
                </a:cubicBezTo>
                <a:lnTo>
                  <a:pt x="74083" y="142875"/>
                </a:lnTo>
                <a:cubicBezTo>
                  <a:pt x="74083" y="151639"/>
                  <a:pt x="81194" y="158750"/>
                  <a:pt x="89958" y="158750"/>
                </a:cubicBezTo>
                <a:lnTo>
                  <a:pt x="111125" y="158750"/>
                </a:lnTo>
                <a:cubicBezTo>
                  <a:pt x="119889" y="158750"/>
                  <a:pt x="127000" y="151639"/>
                  <a:pt x="127000" y="142875"/>
                </a:cubicBezTo>
                <a:lnTo>
                  <a:pt x="127000" y="26458"/>
                </a:lnTo>
                <a:cubicBezTo>
                  <a:pt x="127000" y="17694"/>
                  <a:pt x="119889" y="10583"/>
                  <a:pt x="111125" y="10583"/>
                </a:cubicBezTo>
                <a:lnTo>
                  <a:pt x="89958" y="10583"/>
                </a:lnTo>
                <a:close/>
              </a:path>
            </a:pathLst>
          </a:custGeom>
          <a:solidFill>
            <a:srgbClr val="6B7280"/>
          </a:solidFill>
        </p:spPr>
      </p:sp>
      <p:sp>
        <p:nvSpPr>
          <p:cNvPr id="29" name="Text 27"/>
          <p:cNvSpPr/>
          <p:nvPr/>
        </p:nvSpPr>
        <p:spPr>
          <a:xfrm>
            <a:off x="8715963" y="2803338"/>
            <a:ext cx="6850944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6B728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批量同步</a:t>
            </a:r>
            <a:r>
              <a:rPr lang="en-US" sz="1335" dirty="0">
                <a:solidFill>
                  <a:srgbClr val="E5E7EB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：按时间间隔执行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454908" y="3174928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21167" y="21167"/>
                </a:moveTo>
                <a:cubicBezTo>
                  <a:pt x="21167" y="15313"/>
                  <a:pt x="16437" y="10583"/>
                  <a:pt x="10583" y="10583"/>
                </a:cubicBezTo>
                <a:cubicBezTo>
                  <a:pt x="4729" y="10583"/>
                  <a:pt x="0" y="15313"/>
                  <a:pt x="0" y="21167"/>
                </a:cubicBezTo>
                <a:lnTo>
                  <a:pt x="0" y="132292"/>
                </a:lnTo>
                <a:cubicBezTo>
                  <a:pt x="0" y="146910"/>
                  <a:pt x="11840" y="158750"/>
                  <a:pt x="26458" y="158750"/>
                </a:cubicBezTo>
                <a:lnTo>
                  <a:pt x="158750" y="158750"/>
                </a:lnTo>
                <a:cubicBezTo>
                  <a:pt x="164604" y="158750"/>
                  <a:pt x="169333" y="154021"/>
                  <a:pt x="169333" y="148167"/>
                </a:cubicBezTo>
                <a:cubicBezTo>
                  <a:pt x="169333" y="142313"/>
                  <a:pt x="164604" y="137583"/>
                  <a:pt x="158750" y="137583"/>
                </a:cubicBezTo>
                <a:lnTo>
                  <a:pt x="26458" y="137583"/>
                </a:lnTo>
                <a:cubicBezTo>
                  <a:pt x="23548" y="137583"/>
                  <a:pt x="21167" y="135202"/>
                  <a:pt x="21167" y="132292"/>
                </a:cubicBezTo>
                <a:lnTo>
                  <a:pt x="21167" y="21167"/>
                </a:lnTo>
                <a:close/>
                <a:moveTo>
                  <a:pt x="155641" y="49808"/>
                </a:moveTo>
                <a:cubicBezTo>
                  <a:pt x="159775" y="45674"/>
                  <a:pt x="159775" y="38960"/>
                  <a:pt x="155641" y="34826"/>
                </a:cubicBezTo>
                <a:cubicBezTo>
                  <a:pt x="151507" y="30692"/>
                  <a:pt x="144793" y="30692"/>
                  <a:pt x="140659" y="34826"/>
                </a:cubicBezTo>
                <a:lnTo>
                  <a:pt x="105833" y="69685"/>
                </a:lnTo>
                <a:lnTo>
                  <a:pt x="86849" y="50734"/>
                </a:lnTo>
                <a:cubicBezTo>
                  <a:pt x="82715" y="46600"/>
                  <a:pt x="76002" y="46600"/>
                  <a:pt x="71867" y="50734"/>
                </a:cubicBezTo>
                <a:lnTo>
                  <a:pt x="40117" y="82484"/>
                </a:lnTo>
                <a:cubicBezTo>
                  <a:pt x="35983" y="86618"/>
                  <a:pt x="35983" y="93332"/>
                  <a:pt x="40117" y="97466"/>
                </a:cubicBezTo>
                <a:cubicBezTo>
                  <a:pt x="44252" y="101600"/>
                  <a:pt x="50965" y="101600"/>
                  <a:pt x="55099" y="97466"/>
                </a:cubicBezTo>
                <a:lnTo>
                  <a:pt x="79375" y="73190"/>
                </a:lnTo>
                <a:lnTo>
                  <a:pt x="98359" y="92174"/>
                </a:lnTo>
                <a:cubicBezTo>
                  <a:pt x="102493" y="96308"/>
                  <a:pt x="109207" y="96308"/>
                  <a:pt x="113341" y="92174"/>
                </a:cubicBezTo>
                <a:lnTo>
                  <a:pt x="155674" y="49841"/>
                </a:lnTo>
                <a:close/>
              </a:path>
            </a:pathLst>
          </a:custGeom>
          <a:solidFill>
            <a:srgbClr val="6B7280"/>
          </a:solidFill>
        </p:spPr>
      </p:sp>
      <p:sp>
        <p:nvSpPr>
          <p:cNvPr id="31" name="Text 29"/>
          <p:cNvSpPr/>
          <p:nvPr/>
        </p:nvSpPr>
        <p:spPr>
          <a:xfrm>
            <a:off x="8715963" y="3142005"/>
            <a:ext cx="6850944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6B728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降低带宽</a:t>
            </a:r>
            <a:r>
              <a:rPr lang="en-US" sz="1335" dirty="0">
                <a:solidFill>
                  <a:srgbClr val="E5E7EB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：减少网络开销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454908" y="3513594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21795" y="75572"/>
                </a:moveTo>
                <a:cubicBezTo>
                  <a:pt x="26194" y="44814"/>
                  <a:pt x="52685" y="21167"/>
                  <a:pt x="84667" y="21167"/>
                </a:cubicBezTo>
                <a:cubicBezTo>
                  <a:pt x="102195" y="21167"/>
                  <a:pt x="118070" y="28277"/>
                  <a:pt x="129580" y="39754"/>
                </a:cubicBezTo>
                <a:cubicBezTo>
                  <a:pt x="129646" y="39820"/>
                  <a:pt x="129712" y="39886"/>
                  <a:pt x="129778" y="39952"/>
                </a:cubicBezTo>
                <a:lnTo>
                  <a:pt x="132292" y="42333"/>
                </a:lnTo>
                <a:lnTo>
                  <a:pt x="116450" y="42333"/>
                </a:lnTo>
                <a:cubicBezTo>
                  <a:pt x="110596" y="42333"/>
                  <a:pt x="105866" y="47063"/>
                  <a:pt x="105866" y="52917"/>
                </a:cubicBezTo>
                <a:cubicBezTo>
                  <a:pt x="105866" y="58771"/>
                  <a:pt x="110596" y="63500"/>
                  <a:pt x="116450" y="63500"/>
                </a:cubicBezTo>
                <a:lnTo>
                  <a:pt x="158783" y="63500"/>
                </a:lnTo>
                <a:cubicBezTo>
                  <a:pt x="164637" y="63500"/>
                  <a:pt x="169366" y="58771"/>
                  <a:pt x="169366" y="52917"/>
                </a:cubicBezTo>
                <a:lnTo>
                  <a:pt x="169366" y="10583"/>
                </a:lnTo>
                <a:cubicBezTo>
                  <a:pt x="169366" y="4729"/>
                  <a:pt x="164637" y="0"/>
                  <a:pt x="158783" y="0"/>
                </a:cubicBezTo>
                <a:cubicBezTo>
                  <a:pt x="152929" y="0"/>
                  <a:pt x="148200" y="4729"/>
                  <a:pt x="148200" y="10583"/>
                </a:cubicBezTo>
                <a:lnTo>
                  <a:pt x="148200" y="28244"/>
                </a:lnTo>
                <a:lnTo>
                  <a:pt x="144463" y="24705"/>
                </a:lnTo>
                <a:cubicBezTo>
                  <a:pt x="129150" y="9459"/>
                  <a:pt x="107983" y="0"/>
                  <a:pt x="84667" y="0"/>
                </a:cubicBezTo>
                <a:cubicBezTo>
                  <a:pt x="42003" y="0"/>
                  <a:pt x="6714" y="31552"/>
                  <a:pt x="860" y="72595"/>
                </a:cubicBezTo>
                <a:cubicBezTo>
                  <a:pt x="33" y="78383"/>
                  <a:pt x="4035" y="83741"/>
                  <a:pt x="9823" y="84567"/>
                </a:cubicBezTo>
                <a:cubicBezTo>
                  <a:pt x="15610" y="85394"/>
                  <a:pt x="20968" y="81359"/>
                  <a:pt x="21795" y="75605"/>
                </a:cubicBezTo>
                <a:close/>
                <a:moveTo>
                  <a:pt x="168473" y="96738"/>
                </a:moveTo>
                <a:cubicBezTo>
                  <a:pt x="169300" y="90951"/>
                  <a:pt x="165265" y="85593"/>
                  <a:pt x="159511" y="84766"/>
                </a:cubicBezTo>
                <a:cubicBezTo>
                  <a:pt x="153756" y="83939"/>
                  <a:pt x="148365" y="87974"/>
                  <a:pt x="147538" y="93729"/>
                </a:cubicBezTo>
                <a:cubicBezTo>
                  <a:pt x="143140" y="124486"/>
                  <a:pt x="116648" y="148134"/>
                  <a:pt x="84667" y="148134"/>
                </a:cubicBezTo>
                <a:cubicBezTo>
                  <a:pt x="67138" y="148134"/>
                  <a:pt x="51263" y="141023"/>
                  <a:pt x="39754" y="129547"/>
                </a:cubicBezTo>
                <a:cubicBezTo>
                  <a:pt x="39687" y="129480"/>
                  <a:pt x="39621" y="129414"/>
                  <a:pt x="39555" y="129348"/>
                </a:cubicBezTo>
                <a:lnTo>
                  <a:pt x="37042" y="126967"/>
                </a:lnTo>
                <a:lnTo>
                  <a:pt x="52884" y="126967"/>
                </a:lnTo>
                <a:cubicBezTo>
                  <a:pt x="58737" y="126967"/>
                  <a:pt x="63467" y="122238"/>
                  <a:pt x="63467" y="116384"/>
                </a:cubicBezTo>
                <a:cubicBezTo>
                  <a:pt x="63467" y="110530"/>
                  <a:pt x="58737" y="105800"/>
                  <a:pt x="52884" y="105800"/>
                </a:cubicBezTo>
                <a:lnTo>
                  <a:pt x="10583" y="105833"/>
                </a:lnTo>
                <a:cubicBezTo>
                  <a:pt x="7772" y="105833"/>
                  <a:pt x="5060" y="106958"/>
                  <a:pt x="3076" y="108975"/>
                </a:cubicBezTo>
                <a:cubicBezTo>
                  <a:pt x="1091" y="110993"/>
                  <a:pt x="-33" y="113672"/>
                  <a:pt x="0" y="116516"/>
                </a:cubicBezTo>
                <a:lnTo>
                  <a:pt x="331" y="158518"/>
                </a:lnTo>
                <a:cubicBezTo>
                  <a:pt x="364" y="164372"/>
                  <a:pt x="5159" y="169069"/>
                  <a:pt x="11013" y="169003"/>
                </a:cubicBezTo>
                <a:cubicBezTo>
                  <a:pt x="16867" y="168936"/>
                  <a:pt x="21564" y="164174"/>
                  <a:pt x="21497" y="158320"/>
                </a:cubicBezTo>
                <a:lnTo>
                  <a:pt x="21365" y="141288"/>
                </a:lnTo>
                <a:lnTo>
                  <a:pt x="24904" y="144628"/>
                </a:lnTo>
                <a:cubicBezTo>
                  <a:pt x="40217" y="159874"/>
                  <a:pt x="61350" y="169333"/>
                  <a:pt x="84667" y="169333"/>
                </a:cubicBezTo>
                <a:cubicBezTo>
                  <a:pt x="127331" y="169333"/>
                  <a:pt x="162620" y="137782"/>
                  <a:pt x="168473" y="96738"/>
                </a:cubicBezTo>
                <a:close/>
              </a:path>
            </a:pathLst>
          </a:custGeom>
          <a:solidFill>
            <a:srgbClr val="6B7280"/>
          </a:solidFill>
        </p:spPr>
      </p:sp>
      <p:sp>
        <p:nvSpPr>
          <p:cNvPr id="33" name="Text 31"/>
          <p:cNvSpPr/>
          <p:nvPr/>
        </p:nvSpPr>
        <p:spPr>
          <a:xfrm>
            <a:off x="8715963" y="3480671"/>
            <a:ext cx="6850944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6B728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适用场景</a:t>
            </a:r>
            <a:r>
              <a:rPr lang="en-US" sz="1335" dirty="0">
                <a:solidFill>
                  <a:srgbClr val="E5E7EB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：报表分析、日志汇总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433741" y="3861671"/>
            <a:ext cx="7048500" cy="846667"/>
          </a:xfrm>
          <a:custGeom>
            <a:avLst/>
            <a:gdLst/>
            <a:ahLst/>
            <a:cxnLst/>
            <a:rect l="l" t="t" r="r" b="b"/>
            <a:pathLst>
              <a:path w="7048500" h="846667">
                <a:moveTo>
                  <a:pt x="42333" y="0"/>
                </a:moveTo>
                <a:lnTo>
                  <a:pt x="7006167" y="0"/>
                </a:lnTo>
                <a:cubicBezTo>
                  <a:pt x="7029547" y="0"/>
                  <a:pt x="7048500" y="18953"/>
                  <a:pt x="7048500" y="42333"/>
                </a:cubicBezTo>
                <a:lnTo>
                  <a:pt x="7048500" y="804333"/>
                </a:lnTo>
                <a:cubicBezTo>
                  <a:pt x="7048500" y="827713"/>
                  <a:pt x="7029547" y="846667"/>
                  <a:pt x="7006167" y="846667"/>
                </a:cubicBezTo>
                <a:lnTo>
                  <a:pt x="42333" y="846667"/>
                </a:lnTo>
                <a:cubicBezTo>
                  <a:pt x="18953" y="846667"/>
                  <a:pt x="0" y="827713"/>
                  <a:pt x="0" y="804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6B7280">
              <a:alpha val="20000"/>
            </a:srgbClr>
          </a:solidFill>
        </p:spPr>
      </p:sp>
      <p:sp>
        <p:nvSpPr>
          <p:cNvPr id="35" name="Text 33"/>
          <p:cNvSpPr/>
          <p:nvPr/>
        </p:nvSpPr>
        <p:spPr>
          <a:xfrm>
            <a:off x="8518408" y="3946338"/>
            <a:ext cx="6953250" cy="211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5" b="1" dirty="0">
                <a:solidFill>
                  <a:srgbClr val="6B728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配置示例：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518408" y="4200338"/>
            <a:ext cx="6953250" cy="423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5" dirty="0">
                <a:solidFill>
                  <a:srgbClr val="E5E7EB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mode='Interval'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1165" dirty="0">
                <a:solidFill>
                  <a:srgbClr val="E5E7EB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interval_seconds=300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44500" y="5225743"/>
            <a:ext cx="7577667" cy="3683000"/>
          </a:xfrm>
          <a:custGeom>
            <a:avLst/>
            <a:gdLst/>
            <a:ahLst/>
            <a:cxnLst/>
            <a:rect l="l" t="t" r="r" b="b"/>
            <a:pathLst>
              <a:path w="7577667" h="3683000">
                <a:moveTo>
                  <a:pt x="0" y="0"/>
                </a:moveTo>
                <a:lnTo>
                  <a:pt x="7492994" y="0"/>
                </a:lnTo>
                <a:cubicBezTo>
                  <a:pt x="7539758" y="0"/>
                  <a:pt x="7577667" y="37909"/>
                  <a:pt x="7577667" y="84672"/>
                </a:cubicBezTo>
                <a:lnTo>
                  <a:pt x="7577667" y="3598328"/>
                </a:lnTo>
                <a:cubicBezTo>
                  <a:pt x="7577667" y="3645091"/>
                  <a:pt x="7539758" y="3683000"/>
                  <a:pt x="7492994" y="3683000"/>
                </a:cubicBezTo>
                <a:lnTo>
                  <a:pt x="0" y="3683000"/>
                </a:lnTo>
                <a:lnTo>
                  <a:pt x="0" y="0"/>
                </a:lnTo>
                <a:close/>
              </a:path>
            </a:pathLst>
          </a:custGeom>
          <a:solidFill>
            <a:srgbClr val="3D4A5C">
              <a:alpha val="30196"/>
            </a:srgbClr>
          </a:solidFill>
        </p:spPr>
      </p:sp>
      <p:sp>
        <p:nvSpPr>
          <p:cNvPr id="38" name="Shape 36"/>
          <p:cNvSpPr/>
          <p:nvPr/>
        </p:nvSpPr>
        <p:spPr>
          <a:xfrm>
            <a:off x="444500" y="5225743"/>
            <a:ext cx="42333" cy="3683000"/>
          </a:xfrm>
          <a:custGeom>
            <a:avLst/>
            <a:gdLst/>
            <a:ahLst/>
            <a:cxnLst/>
            <a:rect l="l" t="t" r="r" b="b"/>
            <a:pathLst>
              <a:path w="42333" h="3683000">
                <a:moveTo>
                  <a:pt x="0" y="0"/>
                </a:moveTo>
                <a:lnTo>
                  <a:pt x="42333" y="0"/>
                </a:lnTo>
                <a:lnTo>
                  <a:pt x="42333" y="3683000"/>
                </a:lnTo>
                <a:lnTo>
                  <a:pt x="0" y="3683000"/>
                </a:lnTo>
                <a:lnTo>
                  <a:pt x="0" y="0"/>
                </a:lnTo>
                <a:close/>
              </a:path>
            </a:pathLst>
          </a:custGeom>
          <a:solidFill>
            <a:srgbClr val="4F9A94"/>
          </a:solidFill>
        </p:spPr>
      </p:sp>
      <p:sp>
        <p:nvSpPr>
          <p:cNvPr id="39" name="Shape 37"/>
          <p:cNvSpPr/>
          <p:nvPr/>
        </p:nvSpPr>
        <p:spPr>
          <a:xfrm>
            <a:off x="666750" y="5416243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cubicBezTo>
                  <a:pt x="129282" y="0"/>
                  <a:pt x="131564" y="496"/>
                  <a:pt x="133648" y="1439"/>
                </a:cubicBezTo>
                <a:lnTo>
                  <a:pt x="227112" y="41077"/>
                </a:lnTo>
                <a:cubicBezTo>
                  <a:pt x="238026" y="45690"/>
                  <a:pt x="246162" y="56455"/>
                  <a:pt x="246112" y="69453"/>
                </a:cubicBezTo>
                <a:cubicBezTo>
                  <a:pt x="245864" y="118666"/>
                  <a:pt x="225623" y="208707"/>
                  <a:pt x="140146" y="249634"/>
                </a:cubicBezTo>
                <a:cubicBezTo>
                  <a:pt x="131862" y="253603"/>
                  <a:pt x="122238" y="253603"/>
                  <a:pt x="113953" y="249634"/>
                </a:cubicBezTo>
                <a:cubicBezTo>
                  <a:pt x="28426" y="208707"/>
                  <a:pt x="8235" y="118666"/>
                  <a:pt x="7987" y="69453"/>
                </a:cubicBezTo>
                <a:cubicBezTo>
                  <a:pt x="7937" y="56455"/>
                  <a:pt x="16073" y="45690"/>
                  <a:pt x="26987" y="41077"/>
                </a:cubicBezTo>
                <a:lnTo>
                  <a:pt x="120402" y="1439"/>
                </a:lnTo>
                <a:cubicBezTo>
                  <a:pt x="122486" y="496"/>
                  <a:pt x="124718" y="0"/>
                  <a:pt x="127000" y="0"/>
                </a:cubicBezTo>
                <a:close/>
                <a:moveTo>
                  <a:pt x="127000" y="33139"/>
                </a:moveTo>
                <a:lnTo>
                  <a:pt x="127000" y="220712"/>
                </a:lnTo>
                <a:cubicBezTo>
                  <a:pt x="195461" y="187573"/>
                  <a:pt x="213866" y="114151"/>
                  <a:pt x="214313" y="70197"/>
                </a:cubicBezTo>
                <a:lnTo>
                  <a:pt x="127000" y="33189"/>
                </a:lnTo>
                <a:lnTo>
                  <a:pt x="127000" y="33189"/>
                </a:lnTo>
                <a:close/>
              </a:path>
            </a:pathLst>
          </a:custGeom>
          <a:solidFill>
            <a:srgbClr val="4F9A94"/>
          </a:solidFill>
        </p:spPr>
      </p:sp>
      <p:sp>
        <p:nvSpPr>
          <p:cNvPr id="40" name="Text 38"/>
          <p:cNvSpPr/>
          <p:nvPr/>
        </p:nvSpPr>
        <p:spPr>
          <a:xfrm>
            <a:off x="1079500" y="5395076"/>
            <a:ext cx="1164167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5" b="1" dirty="0">
                <a:solidFill>
                  <a:srgbClr val="E5E7E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可靠性设计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66750" y="5851338"/>
            <a:ext cx="148167" cy="169333"/>
          </a:xfrm>
          <a:custGeom>
            <a:avLst/>
            <a:gdLst/>
            <a:ahLst/>
            <a:cxnLst/>
            <a:rect l="l" t="t" r="r" b="b"/>
            <a:pathLst>
              <a:path w="148167" h="169333">
                <a:moveTo>
                  <a:pt x="148167" y="68064"/>
                </a:moveTo>
                <a:cubicBezTo>
                  <a:pt x="143272" y="71305"/>
                  <a:pt x="137649" y="73918"/>
                  <a:pt x="131796" y="76002"/>
                </a:cubicBezTo>
                <a:cubicBezTo>
                  <a:pt x="116251" y="81558"/>
                  <a:pt x="95845" y="84667"/>
                  <a:pt x="74083" y="84667"/>
                </a:cubicBezTo>
                <a:cubicBezTo>
                  <a:pt x="52321" y="84667"/>
                  <a:pt x="31882" y="81525"/>
                  <a:pt x="16371" y="76002"/>
                </a:cubicBezTo>
                <a:cubicBezTo>
                  <a:pt x="10550" y="73918"/>
                  <a:pt x="4895" y="71305"/>
                  <a:pt x="0" y="68064"/>
                </a:cubicBezTo>
                <a:lnTo>
                  <a:pt x="0" y="95250"/>
                </a:lnTo>
                <a:cubicBezTo>
                  <a:pt x="0" y="109868"/>
                  <a:pt x="33172" y="121708"/>
                  <a:pt x="74083" y="121708"/>
                </a:cubicBezTo>
                <a:cubicBezTo>
                  <a:pt x="114995" y="121708"/>
                  <a:pt x="148167" y="109868"/>
                  <a:pt x="148167" y="95250"/>
                </a:cubicBezTo>
                <a:lnTo>
                  <a:pt x="148167" y="68064"/>
                </a:lnTo>
                <a:close/>
                <a:moveTo>
                  <a:pt x="148167" y="42333"/>
                </a:moveTo>
                <a:lnTo>
                  <a:pt x="148167" y="26458"/>
                </a:lnTo>
                <a:cubicBezTo>
                  <a:pt x="148167" y="11840"/>
                  <a:pt x="114995" y="0"/>
                  <a:pt x="74083" y="0"/>
                </a:cubicBezTo>
                <a:cubicBezTo>
                  <a:pt x="33172" y="0"/>
                  <a:pt x="0" y="11840"/>
                  <a:pt x="0" y="26458"/>
                </a:cubicBezTo>
                <a:lnTo>
                  <a:pt x="0" y="42333"/>
                </a:lnTo>
                <a:cubicBezTo>
                  <a:pt x="0" y="56952"/>
                  <a:pt x="33172" y="68792"/>
                  <a:pt x="74083" y="68792"/>
                </a:cubicBezTo>
                <a:cubicBezTo>
                  <a:pt x="114995" y="68792"/>
                  <a:pt x="148167" y="56952"/>
                  <a:pt x="148167" y="42333"/>
                </a:cubicBezTo>
                <a:close/>
                <a:moveTo>
                  <a:pt x="131796" y="128918"/>
                </a:moveTo>
                <a:cubicBezTo>
                  <a:pt x="116284" y="134441"/>
                  <a:pt x="95878" y="137583"/>
                  <a:pt x="74083" y="137583"/>
                </a:cubicBezTo>
                <a:cubicBezTo>
                  <a:pt x="52288" y="137583"/>
                  <a:pt x="31882" y="134441"/>
                  <a:pt x="16371" y="128918"/>
                </a:cubicBezTo>
                <a:cubicBezTo>
                  <a:pt x="10550" y="126835"/>
                  <a:pt x="4895" y="124222"/>
                  <a:pt x="0" y="120981"/>
                </a:cubicBezTo>
                <a:lnTo>
                  <a:pt x="0" y="142875"/>
                </a:lnTo>
                <a:cubicBezTo>
                  <a:pt x="0" y="157493"/>
                  <a:pt x="33172" y="169333"/>
                  <a:pt x="74083" y="169333"/>
                </a:cubicBezTo>
                <a:cubicBezTo>
                  <a:pt x="114995" y="169333"/>
                  <a:pt x="148167" y="157493"/>
                  <a:pt x="148167" y="142875"/>
                </a:cubicBezTo>
                <a:lnTo>
                  <a:pt x="148167" y="120981"/>
                </a:lnTo>
                <a:cubicBezTo>
                  <a:pt x="143272" y="124222"/>
                  <a:pt x="137649" y="126835"/>
                  <a:pt x="131796" y="128918"/>
                </a:cubicBezTo>
                <a:close/>
              </a:path>
            </a:pathLst>
          </a:custGeom>
          <a:solidFill>
            <a:srgbClr val="4F9A94"/>
          </a:solidFill>
        </p:spPr>
      </p:sp>
      <p:sp>
        <p:nvSpPr>
          <p:cNvPr id="42" name="Text 40"/>
          <p:cNvSpPr/>
          <p:nvPr/>
        </p:nvSpPr>
        <p:spPr>
          <a:xfrm>
            <a:off x="917222" y="5818410"/>
            <a:ext cx="7020278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4F9A9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sync_worker_state</a:t>
            </a:r>
            <a:r>
              <a:rPr lang="en-US" sz="1335" dirty="0">
                <a:solidFill>
                  <a:srgbClr val="E5E7EB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：持久化游标位置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56167" y="6190005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144429" y="24705"/>
                </a:moveTo>
                <a:lnTo>
                  <a:pt x="148167" y="28244"/>
                </a:lnTo>
                <a:lnTo>
                  <a:pt x="148167" y="10583"/>
                </a:lnTo>
                <a:cubicBezTo>
                  <a:pt x="148167" y="4729"/>
                  <a:pt x="152896" y="0"/>
                  <a:pt x="158750" y="0"/>
                </a:cubicBezTo>
                <a:cubicBezTo>
                  <a:pt x="164604" y="0"/>
                  <a:pt x="169333" y="4729"/>
                  <a:pt x="169333" y="10583"/>
                </a:cubicBezTo>
                <a:lnTo>
                  <a:pt x="169333" y="52917"/>
                </a:lnTo>
                <a:cubicBezTo>
                  <a:pt x="169333" y="58771"/>
                  <a:pt x="164604" y="63500"/>
                  <a:pt x="158750" y="63500"/>
                </a:cubicBezTo>
                <a:lnTo>
                  <a:pt x="116417" y="63500"/>
                </a:lnTo>
                <a:cubicBezTo>
                  <a:pt x="110563" y="63500"/>
                  <a:pt x="105833" y="58771"/>
                  <a:pt x="105833" y="52917"/>
                </a:cubicBezTo>
                <a:cubicBezTo>
                  <a:pt x="105833" y="47063"/>
                  <a:pt x="110563" y="42333"/>
                  <a:pt x="116417" y="42333"/>
                </a:cubicBezTo>
                <a:lnTo>
                  <a:pt x="132259" y="42333"/>
                </a:lnTo>
                <a:lnTo>
                  <a:pt x="129745" y="39952"/>
                </a:lnTo>
                <a:cubicBezTo>
                  <a:pt x="129679" y="39886"/>
                  <a:pt x="129613" y="39820"/>
                  <a:pt x="129547" y="39754"/>
                </a:cubicBezTo>
                <a:cubicBezTo>
                  <a:pt x="104742" y="14949"/>
                  <a:pt x="64558" y="14949"/>
                  <a:pt x="39754" y="39754"/>
                </a:cubicBezTo>
                <a:cubicBezTo>
                  <a:pt x="14949" y="64558"/>
                  <a:pt x="14949" y="104742"/>
                  <a:pt x="39754" y="129547"/>
                </a:cubicBezTo>
                <a:cubicBezTo>
                  <a:pt x="64558" y="154351"/>
                  <a:pt x="104742" y="154351"/>
                  <a:pt x="129547" y="129547"/>
                </a:cubicBezTo>
                <a:cubicBezTo>
                  <a:pt x="132259" y="126835"/>
                  <a:pt x="134673" y="123957"/>
                  <a:pt x="136790" y="120915"/>
                </a:cubicBezTo>
                <a:cubicBezTo>
                  <a:pt x="140130" y="116119"/>
                  <a:pt x="146745" y="114961"/>
                  <a:pt x="151540" y="118302"/>
                </a:cubicBezTo>
                <a:cubicBezTo>
                  <a:pt x="156336" y="121642"/>
                  <a:pt x="157493" y="128257"/>
                  <a:pt x="154153" y="133052"/>
                </a:cubicBezTo>
                <a:cubicBezTo>
                  <a:pt x="151342" y="137087"/>
                  <a:pt x="148134" y="140924"/>
                  <a:pt x="144529" y="144529"/>
                </a:cubicBezTo>
                <a:cubicBezTo>
                  <a:pt x="111456" y="177602"/>
                  <a:pt x="57845" y="177602"/>
                  <a:pt x="24805" y="144529"/>
                </a:cubicBezTo>
                <a:cubicBezTo>
                  <a:pt x="-8235" y="111456"/>
                  <a:pt x="-8268" y="57878"/>
                  <a:pt x="24805" y="24805"/>
                </a:cubicBezTo>
                <a:cubicBezTo>
                  <a:pt x="57845" y="-8235"/>
                  <a:pt x="111357" y="-8268"/>
                  <a:pt x="144429" y="24705"/>
                </a:cubicBezTo>
                <a:close/>
              </a:path>
            </a:pathLst>
          </a:custGeom>
          <a:solidFill>
            <a:srgbClr val="4F9A94"/>
          </a:solidFill>
        </p:spPr>
      </p:sp>
      <p:sp>
        <p:nvSpPr>
          <p:cNvPr id="44" name="Text 42"/>
          <p:cNvSpPr/>
          <p:nvPr/>
        </p:nvSpPr>
        <p:spPr>
          <a:xfrm>
            <a:off x="917222" y="6157076"/>
            <a:ext cx="7020278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4F9A9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断点续传</a:t>
            </a:r>
            <a:r>
              <a:rPr lang="en-US" sz="1335" dirty="0">
                <a:solidFill>
                  <a:srgbClr val="E5E7EB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：服务重启后从上次位置继续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56167" y="6528671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84667" y="169333"/>
                </a:moveTo>
                <a:cubicBezTo>
                  <a:pt x="131395" y="169333"/>
                  <a:pt x="169333" y="131395"/>
                  <a:pt x="169333" y="84667"/>
                </a:cubicBezTo>
                <a:cubicBezTo>
                  <a:pt x="169333" y="37938"/>
                  <a:pt x="131395" y="0"/>
                  <a:pt x="84667" y="0"/>
                </a:cubicBezTo>
                <a:cubicBezTo>
                  <a:pt x="37938" y="0"/>
                  <a:pt x="0" y="37938"/>
                  <a:pt x="0" y="84667"/>
                </a:cubicBezTo>
                <a:cubicBezTo>
                  <a:pt x="0" y="131395"/>
                  <a:pt x="37938" y="169333"/>
                  <a:pt x="84667" y="169333"/>
                </a:cubicBezTo>
                <a:close/>
                <a:moveTo>
                  <a:pt x="112580" y="70346"/>
                </a:moveTo>
                <a:lnTo>
                  <a:pt x="86122" y="112679"/>
                </a:lnTo>
                <a:cubicBezTo>
                  <a:pt x="84733" y="114895"/>
                  <a:pt x="82352" y="116284"/>
                  <a:pt x="79739" y="116417"/>
                </a:cubicBezTo>
                <a:cubicBezTo>
                  <a:pt x="77126" y="116549"/>
                  <a:pt x="74612" y="115358"/>
                  <a:pt x="73058" y="113242"/>
                </a:cubicBezTo>
                <a:lnTo>
                  <a:pt x="57183" y="92075"/>
                </a:lnTo>
                <a:cubicBezTo>
                  <a:pt x="54537" y="88569"/>
                  <a:pt x="55265" y="83608"/>
                  <a:pt x="58771" y="80963"/>
                </a:cubicBezTo>
                <a:cubicBezTo>
                  <a:pt x="62276" y="78317"/>
                  <a:pt x="67237" y="79044"/>
                  <a:pt x="69883" y="82550"/>
                </a:cubicBezTo>
                <a:lnTo>
                  <a:pt x="78813" y="94456"/>
                </a:lnTo>
                <a:lnTo>
                  <a:pt x="99120" y="61946"/>
                </a:lnTo>
                <a:cubicBezTo>
                  <a:pt x="101435" y="58241"/>
                  <a:pt x="106329" y="57084"/>
                  <a:pt x="110067" y="59432"/>
                </a:cubicBezTo>
                <a:cubicBezTo>
                  <a:pt x="113804" y="61780"/>
                  <a:pt x="114928" y="66642"/>
                  <a:pt x="112580" y="70379"/>
                </a:cubicBezTo>
                <a:close/>
              </a:path>
            </a:pathLst>
          </a:custGeom>
          <a:solidFill>
            <a:srgbClr val="4F9A94"/>
          </a:solidFill>
        </p:spPr>
      </p:sp>
      <p:sp>
        <p:nvSpPr>
          <p:cNvPr id="46" name="Text 44"/>
          <p:cNvSpPr/>
          <p:nvPr/>
        </p:nvSpPr>
        <p:spPr>
          <a:xfrm>
            <a:off x="917222" y="6495743"/>
            <a:ext cx="7020278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4F9A9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一致性保证</a:t>
            </a:r>
            <a:r>
              <a:rPr lang="en-US" sz="1335" dirty="0">
                <a:solidFill>
                  <a:srgbClr val="E5E7EB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：确保数据不丢失、不重复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255000" y="5225743"/>
            <a:ext cx="7577667" cy="3683000"/>
          </a:xfrm>
          <a:custGeom>
            <a:avLst/>
            <a:gdLst/>
            <a:ahLst/>
            <a:cxnLst/>
            <a:rect l="l" t="t" r="r" b="b"/>
            <a:pathLst>
              <a:path w="7577667" h="3683000">
                <a:moveTo>
                  <a:pt x="0" y="0"/>
                </a:moveTo>
                <a:lnTo>
                  <a:pt x="7492994" y="0"/>
                </a:lnTo>
                <a:cubicBezTo>
                  <a:pt x="7539758" y="0"/>
                  <a:pt x="7577667" y="37909"/>
                  <a:pt x="7577667" y="84672"/>
                </a:cubicBezTo>
                <a:lnTo>
                  <a:pt x="7577667" y="3598328"/>
                </a:lnTo>
                <a:cubicBezTo>
                  <a:pt x="7577667" y="3645091"/>
                  <a:pt x="7539758" y="3683000"/>
                  <a:pt x="7492994" y="3683000"/>
                </a:cubicBezTo>
                <a:lnTo>
                  <a:pt x="0" y="3683000"/>
                </a:lnTo>
                <a:lnTo>
                  <a:pt x="0" y="0"/>
                </a:lnTo>
                <a:close/>
              </a:path>
            </a:pathLst>
          </a:custGeom>
          <a:solidFill>
            <a:srgbClr val="3D4A5C">
              <a:alpha val="30196"/>
            </a:srgbClr>
          </a:solidFill>
        </p:spPr>
      </p:sp>
      <p:sp>
        <p:nvSpPr>
          <p:cNvPr id="48" name="Shape 46"/>
          <p:cNvSpPr/>
          <p:nvPr/>
        </p:nvSpPr>
        <p:spPr>
          <a:xfrm>
            <a:off x="8255000" y="5225743"/>
            <a:ext cx="42333" cy="3683000"/>
          </a:xfrm>
          <a:custGeom>
            <a:avLst/>
            <a:gdLst/>
            <a:ahLst/>
            <a:cxnLst/>
            <a:rect l="l" t="t" r="r" b="b"/>
            <a:pathLst>
              <a:path w="42333" h="3683000">
                <a:moveTo>
                  <a:pt x="0" y="0"/>
                </a:moveTo>
                <a:lnTo>
                  <a:pt x="42333" y="0"/>
                </a:lnTo>
                <a:lnTo>
                  <a:pt x="42333" y="3683000"/>
                </a:lnTo>
                <a:lnTo>
                  <a:pt x="0" y="3683000"/>
                </a:lnTo>
                <a:lnTo>
                  <a:pt x="0" y="0"/>
                </a:lnTo>
                <a:close/>
              </a:path>
            </a:pathLst>
          </a:custGeom>
          <a:solidFill>
            <a:srgbClr val="6B7280"/>
          </a:solidFill>
        </p:spPr>
      </p:sp>
      <p:sp>
        <p:nvSpPr>
          <p:cNvPr id="49" name="Shape 47"/>
          <p:cNvSpPr/>
          <p:nvPr/>
        </p:nvSpPr>
        <p:spPr>
          <a:xfrm>
            <a:off x="8493125" y="5416243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127000" y="79375"/>
                </a:moveTo>
                <a:lnTo>
                  <a:pt x="127000" y="127000"/>
                </a:lnTo>
                <a:lnTo>
                  <a:pt x="190500" y="127000"/>
                </a:lnTo>
                <a:lnTo>
                  <a:pt x="190500" y="79375"/>
                </a:lnTo>
                <a:lnTo>
                  <a:pt x="127000" y="79375"/>
                </a:lnTo>
                <a:close/>
                <a:moveTo>
                  <a:pt x="95250" y="79375"/>
                </a:moveTo>
                <a:lnTo>
                  <a:pt x="31750" y="79375"/>
                </a:lnTo>
                <a:lnTo>
                  <a:pt x="31750" y="127000"/>
                </a:lnTo>
                <a:lnTo>
                  <a:pt x="95250" y="127000"/>
                </a:lnTo>
                <a:lnTo>
                  <a:pt x="95250" y="79375"/>
                </a:lnTo>
                <a:close/>
                <a:moveTo>
                  <a:pt x="0" y="158750"/>
                </a:moveTo>
                <a:lnTo>
                  <a:pt x="0" y="47625"/>
                </a:lnTo>
                <a:cubicBezTo>
                  <a:pt x="0" y="30113"/>
                  <a:pt x="14238" y="15875"/>
                  <a:pt x="31750" y="15875"/>
                </a:cubicBezTo>
                <a:lnTo>
                  <a:pt x="190500" y="15875"/>
                </a:lnTo>
                <a:cubicBezTo>
                  <a:pt x="208012" y="15875"/>
                  <a:pt x="222250" y="30113"/>
                  <a:pt x="222250" y="47625"/>
                </a:cubicBezTo>
                <a:lnTo>
                  <a:pt x="222250" y="206375"/>
                </a:lnTo>
                <a:cubicBezTo>
                  <a:pt x="222250" y="223887"/>
                  <a:pt x="208012" y="238125"/>
                  <a:pt x="190500" y="238125"/>
                </a:cubicBezTo>
                <a:lnTo>
                  <a:pt x="31750" y="238125"/>
                </a:lnTo>
                <a:cubicBezTo>
                  <a:pt x="14238" y="238125"/>
                  <a:pt x="0" y="223887"/>
                  <a:pt x="0" y="206375"/>
                </a:cubicBezTo>
                <a:lnTo>
                  <a:pt x="0" y="158750"/>
                </a:lnTo>
                <a:close/>
                <a:moveTo>
                  <a:pt x="190500" y="158750"/>
                </a:moveTo>
                <a:lnTo>
                  <a:pt x="127000" y="158750"/>
                </a:lnTo>
                <a:lnTo>
                  <a:pt x="127000" y="206375"/>
                </a:lnTo>
                <a:lnTo>
                  <a:pt x="190500" y="206375"/>
                </a:lnTo>
                <a:lnTo>
                  <a:pt x="190500" y="158750"/>
                </a:lnTo>
                <a:close/>
                <a:moveTo>
                  <a:pt x="95250" y="206375"/>
                </a:moveTo>
                <a:lnTo>
                  <a:pt x="95250" y="158750"/>
                </a:lnTo>
                <a:lnTo>
                  <a:pt x="31750" y="158750"/>
                </a:lnTo>
                <a:lnTo>
                  <a:pt x="31750" y="206375"/>
                </a:lnTo>
                <a:lnTo>
                  <a:pt x="95250" y="206375"/>
                </a:lnTo>
                <a:close/>
              </a:path>
            </a:pathLst>
          </a:custGeom>
          <a:solidFill>
            <a:srgbClr val="6B7280"/>
          </a:solidFill>
        </p:spPr>
      </p:sp>
      <p:sp>
        <p:nvSpPr>
          <p:cNvPr id="50" name="Text 48"/>
          <p:cNvSpPr/>
          <p:nvPr/>
        </p:nvSpPr>
        <p:spPr>
          <a:xfrm>
            <a:off x="8890000" y="5395076"/>
            <a:ext cx="1587500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5" b="1" dirty="0">
                <a:solidFill>
                  <a:srgbClr val="E5E7E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关键配置表结构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445500" y="5818410"/>
            <a:ext cx="7217833" cy="2921000"/>
          </a:xfrm>
          <a:custGeom>
            <a:avLst/>
            <a:gdLst/>
            <a:ahLst/>
            <a:cxnLst/>
            <a:rect l="l" t="t" r="r" b="b"/>
            <a:pathLst>
              <a:path w="7217833" h="2921000">
                <a:moveTo>
                  <a:pt x="84680" y="0"/>
                </a:moveTo>
                <a:lnTo>
                  <a:pt x="7133154" y="0"/>
                </a:lnTo>
                <a:cubicBezTo>
                  <a:pt x="7179921" y="0"/>
                  <a:pt x="7217833" y="37912"/>
                  <a:pt x="7217833" y="84680"/>
                </a:cubicBezTo>
                <a:lnTo>
                  <a:pt x="7217833" y="2836320"/>
                </a:lnTo>
                <a:cubicBezTo>
                  <a:pt x="7217833" y="2883088"/>
                  <a:pt x="7179921" y="2921000"/>
                  <a:pt x="7133154" y="2921000"/>
                </a:cubicBezTo>
                <a:lnTo>
                  <a:pt x="84680" y="2921000"/>
                </a:lnTo>
                <a:cubicBezTo>
                  <a:pt x="37912" y="2921000"/>
                  <a:pt x="0" y="2883088"/>
                  <a:pt x="0" y="2836320"/>
                </a:cubicBezTo>
                <a:lnTo>
                  <a:pt x="0" y="84680"/>
                </a:lnTo>
                <a:cubicBezTo>
                  <a:pt x="0" y="37944"/>
                  <a:pt x="37944" y="0"/>
                  <a:pt x="84680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</p:spPr>
      </p:sp>
      <p:sp>
        <p:nvSpPr>
          <p:cNvPr id="52" name="Text 50"/>
          <p:cNvSpPr/>
          <p:nvPr/>
        </p:nvSpPr>
        <p:spPr>
          <a:xfrm>
            <a:off x="8572500" y="5968928"/>
            <a:ext cx="1540463" cy="261878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E5E7EB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sync_configs: - sync_id (PK) - table_name - mode - interval_seconds - enabled sync_worker_state: - worker_id (PK) - cursor_position - last_sync_time - status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10707173" y="9680148"/>
            <a:ext cx="498475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5" b="1" dirty="0">
                <a:solidFill>
                  <a:srgbClr val="E5E7E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系统负载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3333" y="465667"/>
            <a:ext cx="63500" cy="423333"/>
          </a:xfrm>
          <a:custGeom>
            <a:avLst/>
            <a:gdLst/>
            <a:ahLst/>
            <a:cxnLst/>
            <a:rect l="l" t="t" r="r" b="b"/>
            <a:pathLst>
              <a:path w="63500" h="423333">
                <a:moveTo>
                  <a:pt x="0" y="0"/>
                </a:moveTo>
                <a:lnTo>
                  <a:pt x="63500" y="0"/>
                </a:lnTo>
                <a:lnTo>
                  <a:pt x="63500" y="423333"/>
                </a:lnTo>
                <a:lnTo>
                  <a:pt x="0" y="423333"/>
                </a:lnTo>
                <a:lnTo>
                  <a:pt x="0" y="0"/>
                </a:lnTo>
                <a:close/>
              </a:path>
            </a:pathLst>
          </a:custGeom>
          <a:solidFill>
            <a:srgbClr val="4F9A94"/>
          </a:solidFill>
        </p:spPr>
      </p:sp>
      <p:sp>
        <p:nvSpPr>
          <p:cNvPr id="3" name="Text 1"/>
          <p:cNvSpPr/>
          <p:nvPr/>
        </p:nvSpPr>
        <p:spPr>
          <a:xfrm>
            <a:off x="613833" y="423333"/>
            <a:ext cx="48260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000" b="1" dirty="0">
                <a:solidFill>
                  <a:srgbClr val="E5E7E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性能优化与高级查询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77333" y="1037167"/>
            <a:ext cx="1079500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5" dirty="0">
                <a:solidFill>
                  <a:srgbClr val="6B728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（OLAP）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823720" y="1016000"/>
            <a:ext cx="2875915" cy="338455"/>
          </a:xfrm>
          <a:custGeom>
            <a:avLst/>
            <a:gdLst/>
            <a:ahLst/>
            <a:cxnLst/>
            <a:rect l="l" t="t" r="r" b="b"/>
            <a:pathLst>
              <a:path w="2106083" h="338667">
                <a:moveTo>
                  <a:pt x="169333" y="0"/>
                </a:moveTo>
                <a:lnTo>
                  <a:pt x="1936750" y="0"/>
                </a:lnTo>
                <a:cubicBezTo>
                  <a:pt x="2030270" y="0"/>
                  <a:pt x="2106083" y="75813"/>
                  <a:pt x="2106083" y="169333"/>
                </a:cubicBezTo>
                <a:lnTo>
                  <a:pt x="2106083" y="169333"/>
                </a:lnTo>
                <a:cubicBezTo>
                  <a:pt x="2106083" y="262854"/>
                  <a:pt x="2030270" y="338667"/>
                  <a:pt x="1936750" y="338667"/>
                </a:cubicBezTo>
                <a:lnTo>
                  <a:pt x="169333" y="338667"/>
                </a:lnTo>
                <a:cubicBezTo>
                  <a:pt x="75813" y="338667"/>
                  <a:pt x="0" y="262854"/>
                  <a:pt x="0" y="169333"/>
                </a:cubicBezTo>
                <a:lnTo>
                  <a:pt x="0" y="169333"/>
                </a:lnTo>
                <a:cubicBezTo>
                  <a:pt x="0" y="75813"/>
                  <a:pt x="75813" y="0"/>
                  <a:pt x="169333" y="0"/>
                </a:cubicBezTo>
                <a:close/>
              </a:path>
            </a:pathLst>
          </a:custGeom>
          <a:solidFill>
            <a:srgbClr val="4F9A94">
              <a:alpha val="20000"/>
            </a:srgbClr>
          </a:solidFill>
        </p:spPr>
      </p:sp>
      <p:sp>
        <p:nvSpPr>
          <p:cNvPr id="6" name="Text 4"/>
          <p:cNvSpPr/>
          <p:nvPr/>
        </p:nvSpPr>
        <p:spPr>
          <a:xfrm>
            <a:off x="1823720" y="1016000"/>
            <a:ext cx="2925445" cy="338455"/>
          </a:xfrm>
          <a:prstGeom prst="rect">
            <a:avLst/>
          </a:prstGeom>
          <a:noFill/>
        </p:spPr>
        <p:txBody>
          <a:bodyPr wrap="square" lIns="127000" tIns="42333" rIns="127000" bIns="42333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4F9A9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&amp; Analytics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44500" y="1566333"/>
            <a:ext cx="7577667" cy="1693333"/>
          </a:xfrm>
          <a:custGeom>
            <a:avLst/>
            <a:gdLst/>
            <a:ahLst/>
            <a:cxnLst/>
            <a:rect l="l" t="t" r="r" b="b"/>
            <a:pathLst>
              <a:path w="7577667" h="1693333">
                <a:moveTo>
                  <a:pt x="0" y="0"/>
                </a:moveTo>
                <a:lnTo>
                  <a:pt x="7493000" y="0"/>
                </a:lnTo>
                <a:cubicBezTo>
                  <a:pt x="7539760" y="0"/>
                  <a:pt x="7577667" y="37907"/>
                  <a:pt x="7577667" y="84667"/>
                </a:cubicBezTo>
                <a:lnTo>
                  <a:pt x="7577667" y="1608667"/>
                </a:lnTo>
                <a:cubicBezTo>
                  <a:pt x="7577667" y="1655427"/>
                  <a:pt x="7539760" y="1693333"/>
                  <a:pt x="7493000" y="1693333"/>
                </a:cubicBezTo>
                <a:lnTo>
                  <a:pt x="0" y="1693333"/>
                </a:lnTo>
                <a:lnTo>
                  <a:pt x="0" y="0"/>
                </a:lnTo>
                <a:close/>
              </a:path>
            </a:pathLst>
          </a:custGeom>
          <a:solidFill>
            <a:srgbClr val="3D4A5C">
              <a:alpha val="30196"/>
            </a:srgbClr>
          </a:solidFill>
        </p:spPr>
      </p:sp>
      <p:sp>
        <p:nvSpPr>
          <p:cNvPr id="8" name="Shape 6"/>
          <p:cNvSpPr/>
          <p:nvPr/>
        </p:nvSpPr>
        <p:spPr>
          <a:xfrm>
            <a:off x="444500" y="1566333"/>
            <a:ext cx="42333" cy="1693333"/>
          </a:xfrm>
          <a:custGeom>
            <a:avLst/>
            <a:gdLst/>
            <a:ahLst/>
            <a:cxnLst/>
            <a:rect l="l" t="t" r="r" b="b"/>
            <a:pathLst>
              <a:path w="42333" h="1693333">
                <a:moveTo>
                  <a:pt x="0" y="0"/>
                </a:moveTo>
                <a:lnTo>
                  <a:pt x="42333" y="0"/>
                </a:lnTo>
                <a:lnTo>
                  <a:pt x="42333" y="1693333"/>
                </a:lnTo>
                <a:lnTo>
                  <a:pt x="0" y="1693333"/>
                </a:lnTo>
                <a:lnTo>
                  <a:pt x="0" y="0"/>
                </a:lnTo>
                <a:close/>
              </a:path>
            </a:pathLst>
          </a:custGeom>
          <a:solidFill>
            <a:srgbClr val="4F9A94"/>
          </a:solidFill>
        </p:spPr>
      </p:sp>
      <p:sp>
        <p:nvSpPr>
          <p:cNvPr id="9" name="Shape 7"/>
          <p:cNvSpPr/>
          <p:nvPr/>
        </p:nvSpPr>
        <p:spPr>
          <a:xfrm>
            <a:off x="650875" y="1756833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178991" y="595"/>
                </a:moveTo>
                <a:cubicBezTo>
                  <a:pt x="170557" y="-1836"/>
                  <a:pt x="161776" y="3076"/>
                  <a:pt x="159345" y="11509"/>
                </a:cubicBezTo>
                <a:lnTo>
                  <a:pt x="95845" y="233759"/>
                </a:lnTo>
                <a:cubicBezTo>
                  <a:pt x="93414" y="242193"/>
                  <a:pt x="98326" y="250974"/>
                  <a:pt x="106759" y="253405"/>
                </a:cubicBezTo>
                <a:cubicBezTo>
                  <a:pt x="115193" y="255836"/>
                  <a:pt x="123974" y="250924"/>
                  <a:pt x="126405" y="242491"/>
                </a:cubicBezTo>
                <a:lnTo>
                  <a:pt x="189905" y="20241"/>
                </a:lnTo>
                <a:cubicBezTo>
                  <a:pt x="192336" y="11807"/>
                  <a:pt x="187424" y="3026"/>
                  <a:pt x="178991" y="595"/>
                </a:cubicBezTo>
                <a:close/>
                <a:moveTo>
                  <a:pt x="211038" y="68114"/>
                </a:moveTo>
                <a:cubicBezTo>
                  <a:pt x="204837" y="74315"/>
                  <a:pt x="204837" y="84386"/>
                  <a:pt x="211038" y="90587"/>
                </a:cubicBezTo>
                <a:lnTo>
                  <a:pt x="247452" y="127000"/>
                </a:lnTo>
                <a:lnTo>
                  <a:pt x="211038" y="163413"/>
                </a:lnTo>
                <a:cubicBezTo>
                  <a:pt x="204837" y="169614"/>
                  <a:pt x="204837" y="179685"/>
                  <a:pt x="211038" y="185886"/>
                </a:cubicBezTo>
                <a:cubicBezTo>
                  <a:pt x="217239" y="192087"/>
                  <a:pt x="227310" y="192087"/>
                  <a:pt x="233511" y="185886"/>
                </a:cubicBezTo>
                <a:lnTo>
                  <a:pt x="281136" y="138261"/>
                </a:lnTo>
                <a:cubicBezTo>
                  <a:pt x="287338" y="132060"/>
                  <a:pt x="287338" y="121989"/>
                  <a:pt x="281136" y="115788"/>
                </a:cubicBezTo>
                <a:lnTo>
                  <a:pt x="233511" y="68163"/>
                </a:lnTo>
                <a:cubicBezTo>
                  <a:pt x="227310" y="61962"/>
                  <a:pt x="217239" y="61962"/>
                  <a:pt x="211038" y="68163"/>
                </a:cubicBezTo>
                <a:close/>
                <a:moveTo>
                  <a:pt x="74761" y="68114"/>
                </a:moveTo>
                <a:cubicBezTo>
                  <a:pt x="68560" y="61912"/>
                  <a:pt x="58489" y="61912"/>
                  <a:pt x="52288" y="68114"/>
                </a:cubicBezTo>
                <a:lnTo>
                  <a:pt x="4663" y="115739"/>
                </a:lnTo>
                <a:cubicBezTo>
                  <a:pt x="-1538" y="121940"/>
                  <a:pt x="-1538" y="132011"/>
                  <a:pt x="4663" y="138212"/>
                </a:cubicBezTo>
                <a:lnTo>
                  <a:pt x="52288" y="185837"/>
                </a:lnTo>
                <a:cubicBezTo>
                  <a:pt x="58489" y="192038"/>
                  <a:pt x="68560" y="192038"/>
                  <a:pt x="74761" y="185837"/>
                </a:cubicBezTo>
                <a:cubicBezTo>
                  <a:pt x="80962" y="179636"/>
                  <a:pt x="80962" y="169565"/>
                  <a:pt x="74761" y="163364"/>
                </a:cubicBezTo>
                <a:lnTo>
                  <a:pt x="38348" y="127000"/>
                </a:lnTo>
                <a:lnTo>
                  <a:pt x="74712" y="90587"/>
                </a:lnTo>
                <a:cubicBezTo>
                  <a:pt x="80913" y="84386"/>
                  <a:pt x="80913" y="74315"/>
                  <a:pt x="74712" y="68114"/>
                </a:cubicBezTo>
                <a:close/>
              </a:path>
            </a:pathLst>
          </a:custGeom>
          <a:solidFill>
            <a:srgbClr val="4F9A94"/>
          </a:solidFill>
        </p:spPr>
      </p:sp>
      <p:sp>
        <p:nvSpPr>
          <p:cNvPr id="10" name="Text 8"/>
          <p:cNvSpPr/>
          <p:nvPr/>
        </p:nvSpPr>
        <p:spPr>
          <a:xfrm>
            <a:off x="1079500" y="1735667"/>
            <a:ext cx="1481667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5" b="1" dirty="0">
                <a:solidFill>
                  <a:srgbClr val="E5E7E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复杂 SQL 场景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5583" y="2191928"/>
            <a:ext cx="190500" cy="169333"/>
          </a:xfrm>
          <a:custGeom>
            <a:avLst/>
            <a:gdLst/>
            <a:ahLst/>
            <a:cxnLst/>
            <a:rect l="l" t="t" r="r" b="b"/>
            <a:pathLst>
              <a:path w="190500" h="169333">
                <a:moveTo>
                  <a:pt x="138741" y="31750"/>
                </a:moveTo>
                <a:cubicBezTo>
                  <a:pt x="133251" y="31750"/>
                  <a:pt x="127926" y="33238"/>
                  <a:pt x="123263" y="35950"/>
                </a:cubicBezTo>
                <a:cubicBezTo>
                  <a:pt x="118037" y="30659"/>
                  <a:pt x="111952" y="26227"/>
                  <a:pt x="105238" y="22886"/>
                </a:cubicBezTo>
                <a:cubicBezTo>
                  <a:pt x="114565" y="14949"/>
                  <a:pt x="126438" y="10583"/>
                  <a:pt x="138741" y="10583"/>
                </a:cubicBezTo>
                <a:cubicBezTo>
                  <a:pt x="167316" y="10583"/>
                  <a:pt x="190500" y="33734"/>
                  <a:pt x="190500" y="62342"/>
                </a:cubicBezTo>
                <a:cubicBezTo>
                  <a:pt x="190500" y="76068"/>
                  <a:pt x="185043" y="89231"/>
                  <a:pt x="175353" y="98921"/>
                </a:cubicBezTo>
                <a:lnTo>
                  <a:pt x="151838" y="122436"/>
                </a:lnTo>
                <a:cubicBezTo>
                  <a:pt x="142147" y="132126"/>
                  <a:pt x="128984" y="137583"/>
                  <a:pt x="115259" y="137583"/>
                </a:cubicBezTo>
                <a:cubicBezTo>
                  <a:pt x="86684" y="137583"/>
                  <a:pt x="63500" y="114432"/>
                  <a:pt x="63500" y="85824"/>
                </a:cubicBezTo>
                <a:cubicBezTo>
                  <a:pt x="63500" y="85328"/>
                  <a:pt x="63500" y="84832"/>
                  <a:pt x="63533" y="84336"/>
                </a:cubicBezTo>
                <a:cubicBezTo>
                  <a:pt x="63698" y="78482"/>
                  <a:pt x="68560" y="73885"/>
                  <a:pt x="74414" y="74050"/>
                </a:cubicBezTo>
                <a:cubicBezTo>
                  <a:pt x="80268" y="74216"/>
                  <a:pt x="84865" y="79077"/>
                  <a:pt x="84700" y="84931"/>
                </a:cubicBezTo>
                <a:cubicBezTo>
                  <a:pt x="84700" y="85229"/>
                  <a:pt x="84700" y="85527"/>
                  <a:pt x="84700" y="85791"/>
                </a:cubicBezTo>
                <a:cubicBezTo>
                  <a:pt x="84700" y="102691"/>
                  <a:pt x="98392" y="116384"/>
                  <a:pt x="115292" y="116384"/>
                </a:cubicBezTo>
                <a:cubicBezTo>
                  <a:pt x="123395" y="116384"/>
                  <a:pt x="131167" y="113176"/>
                  <a:pt x="136922" y="107421"/>
                </a:cubicBezTo>
                <a:lnTo>
                  <a:pt x="160437" y="83906"/>
                </a:lnTo>
                <a:cubicBezTo>
                  <a:pt x="166158" y="78184"/>
                  <a:pt x="169399" y="70379"/>
                  <a:pt x="169399" y="62276"/>
                </a:cubicBezTo>
                <a:cubicBezTo>
                  <a:pt x="169399" y="45376"/>
                  <a:pt x="155707" y="31684"/>
                  <a:pt x="138807" y="31684"/>
                </a:cubicBezTo>
                <a:close/>
                <a:moveTo>
                  <a:pt x="91017" y="57315"/>
                </a:moveTo>
                <a:cubicBezTo>
                  <a:pt x="90388" y="57051"/>
                  <a:pt x="89760" y="56687"/>
                  <a:pt x="89198" y="56290"/>
                </a:cubicBezTo>
                <a:cubicBezTo>
                  <a:pt x="85030" y="54140"/>
                  <a:pt x="80268" y="52917"/>
                  <a:pt x="75274" y="52917"/>
                </a:cubicBezTo>
                <a:cubicBezTo>
                  <a:pt x="67171" y="52917"/>
                  <a:pt x="59399" y="56125"/>
                  <a:pt x="53644" y="61879"/>
                </a:cubicBezTo>
                <a:lnTo>
                  <a:pt x="30129" y="85394"/>
                </a:lnTo>
                <a:cubicBezTo>
                  <a:pt x="24408" y="91116"/>
                  <a:pt x="21167" y="98921"/>
                  <a:pt x="21167" y="107024"/>
                </a:cubicBezTo>
                <a:cubicBezTo>
                  <a:pt x="21167" y="123924"/>
                  <a:pt x="34859" y="137616"/>
                  <a:pt x="51759" y="137616"/>
                </a:cubicBezTo>
                <a:cubicBezTo>
                  <a:pt x="57216" y="137616"/>
                  <a:pt x="62541" y="136161"/>
                  <a:pt x="67204" y="133449"/>
                </a:cubicBezTo>
                <a:cubicBezTo>
                  <a:pt x="72430" y="138741"/>
                  <a:pt x="78515" y="143173"/>
                  <a:pt x="85262" y="146513"/>
                </a:cubicBezTo>
                <a:cubicBezTo>
                  <a:pt x="75935" y="154417"/>
                  <a:pt x="64095" y="158816"/>
                  <a:pt x="51759" y="158816"/>
                </a:cubicBezTo>
                <a:cubicBezTo>
                  <a:pt x="23184" y="158816"/>
                  <a:pt x="0" y="135665"/>
                  <a:pt x="0" y="107057"/>
                </a:cubicBezTo>
                <a:cubicBezTo>
                  <a:pt x="0" y="93332"/>
                  <a:pt x="5457" y="80169"/>
                  <a:pt x="15147" y="70478"/>
                </a:cubicBezTo>
                <a:lnTo>
                  <a:pt x="38662" y="46964"/>
                </a:lnTo>
                <a:cubicBezTo>
                  <a:pt x="48353" y="37273"/>
                  <a:pt x="61516" y="31816"/>
                  <a:pt x="75241" y="31816"/>
                </a:cubicBezTo>
                <a:cubicBezTo>
                  <a:pt x="103882" y="31816"/>
                  <a:pt x="127000" y="55166"/>
                  <a:pt x="127000" y="83708"/>
                </a:cubicBezTo>
                <a:cubicBezTo>
                  <a:pt x="127000" y="84138"/>
                  <a:pt x="127000" y="84567"/>
                  <a:pt x="127000" y="84997"/>
                </a:cubicBezTo>
                <a:cubicBezTo>
                  <a:pt x="126868" y="90851"/>
                  <a:pt x="122006" y="95448"/>
                  <a:pt x="116152" y="95316"/>
                </a:cubicBezTo>
                <a:cubicBezTo>
                  <a:pt x="110298" y="95184"/>
                  <a:pt x="105701" y="90322"/>
                  <a:pt x="105833" y="84468"/>
                </a:cubicBezTo>
                <a:cubicBezTo>
                  <a:pt x="105833" y="84204"/>
                  <a:pt x="105833" y="83972"/>
                  <a:pt x="105833" y="83708"/>
                </a:cubicBezTo>
                <a:cubicBezTo>
                  <a:pt x="105833" y="72562"/>
                  <a:pt x="99880" y="62772"/>
                  <a:pt x="91017" y="57382"/>
                </a:cubicBezTo>
                <a:close/>
              </a:path>
            </a:pathLst>
          </a:custGeom>
          <a:solidFill>
            <a:srgbClr val="4F9A94"/>
          </a:solidFill>
        </p:spPr>
      </p:sp>
      <p:sp>
        <p:nvSpPr>
          <p:cNvPr id="12" name="Text 10"/>
          <p:cNvSpPr/>
          <p:nvPr/>
        </p:nvSpPr>
        <p:spPr>
          <a:xfrm>
            <a:off x="917222" y="2159000"/>
            <a:ext cx="7020278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4F9A9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多表 JOIN</a:t>
            </a:r>
            <a:r>
              <a:rPr lang="en-US" sz="1335" dirty="0">
                <a:solidFill>
                  <a:srgbClr val="E5E7EB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：5 表关联查询（用户、商品、交易、消息、收藏）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56167" y="2530595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76895" y="1720"/>
                </a:moveTo>
                <a:cubicBezTo>
                  <a:pt x="81822" y="-562"/>
                  <a:pt x="87511" y="-562"/>
                  <a:pt x="92439" y="1720"/>
                </a:cubicBezTo>
                <a:lnTo>
                  <a:pt x="164736" y="35123"/>
                </a:lnTo>
                <a:cubicBezTo>
                  <a:pt x="167547" y="36413"/>
                  <a:pt x="169333" y="39224"/>
                  <a:pt x="169333" y="42333"/>
                </a:cubicBezTo>
                <a:cubicBezTo>
                  <a:pt x="169333" y="45442"/>
                  <a:pt x="167547" y="48253"/>
                  <a:pt x="164736" y="49543"/>
                </a:cubicBezTo>
                <a:lnTo>
                  <a:pt x="92439" y="82947"/>
                </a:lnTo>
                <a:cubicBezTo>
                  <a:pt x="87511" y="85229"/>
                  <a:pt x="81822" y="85229"/>
                  <a:pt x="76895" y="82947"/>
                </a:cubicBezTo>
                <a:lnTo>
                  <a:pt x="4597" y="49543"/>
                </a:lnTo>
                <a:cubicBezTo>
                  <a:pt x="1786" y="48220"/>
                  <a:pt x="0" y="45409"/>
                  <a:pt x="0" y="42333"/>
                </a:cubicBezTo>
                <a:cubicBezTo>
                  <a:pt x="0" y="39258"/>
                  <a:pt x="1786" y="36413"/>
                  <a:pt x="4597" y="35123"/>
                </a:cubicBezTo>
                <a:lnTo>
                  <a:pt x="76895" y="1720"/>
                </a:lnTo>
                <a:close/>
                <a:moveTo>
                  <a:pt x="15908" y="72231"/>
                </a:moveTo>
                <a:lnTo>
                  <a:pt x="70247" y="97334"/>
                </a:lnTo>
                <a:cubicBezTo>
                  <a:pt x="79408" y="101567"/>
                  <a:pt x="89958" y="101567"/>
                  <a:pt x="99120" y="97334"/>
                </a:cubicBezTo>
                <a:lnTo>
                  <a:pt x="153458" y="72231"/>
                </a:lnTo>
                <a:lnTo>
                  <a:pt x="164736" y="77457"/>
                </a:lnTo>
                <a:cubicBezTo>
                  <a:pt x="167547" y="78747"/>
                  <a:pt x="169333" y="81558"/>
                  <a:pt x="169333" y="84667"/>
                </a:cubicBezTo>
                <a:cubicBezTo>
                  <a:pt x="169333" y="87776"/>
                  <a:pt x="167547" y="90587"/>
                  <a:pt x="164736" y="91877"/>
                </a:cubicBezTo>
                <a:lnTo>
                  <a:pt x="92439" y="125280"/>
                </a:lnTo>
                <a:cubicBezTo>
                  <a:pt x="87511" y="127562"/>
                  <a:pt x="81822" y="127562"/>
                  <a:pt x="76895" y="125280"/>
                </a:cubicBezTo>
                <a:lnTo>
                  <a:pt x="4597" y="91877"/>
                </a:lnTo>
                <a:cubicBezTo>
                  <a:pt x="1786" y="90554"/>
                  <a:pt x="0" y="87742"/>
                  <a:pt x="0" y="84667"/>
                </a:cubicBezTo>
                <a:cubicBezTo>
                  <a:pt x="0" y="81591"/>
                  <a:pt x="1786" y="78747"/>
                  <a:pt x="4597" y="77457"/>
                </a:cubicBezTo>
                <a:lnTo>
                  <a:pt x="15875" y="72231"/>
                </a:lnTo>
                <a:close/>
                <a:moveTo>
                  <a:pt x="4597" y="119790"/>
                </a:moveTo>
                <a:lnTo>
                  <a:pt x="15875" y="114565"/>
                </a:lnTo>
                <a:lnTo>
                  <a:pt x="70214" y="139667"/>
                </a:lnTo>
                <a:cubicBezTo>
                  <a:pt x="79375" y="143900"/>
                  <a:pt x="89925" y="143900"/>
                  <a:pt x="99086" y="139667"/>
                </a:cubicBezTo>
                <a:lnTo>
                  <a:pt x="153425" y="114565"/>
                </a:lnTo>
                <a:lnTo>
                  <a:pt x="164703" y="119790"/>
                </a:lnTo>
                <a:cubicBezTo>
                  <a:pt x="167514" y="121080"/>
                  <a:pt x="169300" y="123891"/>
                  <a:pt x="169300" y="127000"/>
                </a:cubicBezTo>
                <a:cubicBezTo>
                  <a:pt x="169300" y="130109"/>
                  <a:pt x="167514" y="132920"/>
                  <a:pt x="164703" y="134210"/>
                </a:cubicBezTo>
                <a:lnTo>
                  <a:pt x="92406" y="167614"/>
                </a:lnTo>
                <a:cubicBezTo>
                  <a:pt x="87478" y="169896"/>
                  <a:pt x="81789" y="169896"/>
                  <a:pt x="76861" y="167614"/>
                </a:cubicBezTo>
                <a:lnTo>
                  <a:pt x="4597" y="134210"/>
                </a:lnTo>
                <a:cubicBezTo>
                  <a:pt x="1786" y="132887"/>
                  <a:pt x="0" y="130076"/>
                  <a:pt x="0" y="127000"/>
                </a:cubicBezTo>
                <a:cubicBezTo>
                  <a:pt x="0" y="123924"/>
                  <a:pt x="1786" y="121080"/>
                  <a:pt x="4597" y="119790"/>
                </a:cubicBezTo>
                <a:close/>
              </a:path>
            </a:pathLst>
          </a:custGeom>
          <a:solidFill>
            <a:srgbClr val="4F9A94"/>
          </a:solidFill>
        </p:spPr>
      </p:sp>
      <p:sp>
        <p:nvSpPr>
          <p:cNvPr id="14" name="Text 12"/>
          <p:cNvSpPr/>
          <p:nvPr/>
        </p:nvSpPr>
        <p:spPr>
          <a:xfrm>
            <a:off x="917222" y="2497667"/>
            <a:ext cx="7020278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4F9A9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嵌套子查询</a:t>
            </a:r>
            <a:r>
              <a:rPr lang="en-US" sz="1335" dirty="0">
                <a:solidFill>
                  <a:srgbClr val="E5E7EB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：多层嵌套的复杂查询逻辑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44500" y="3429000"/>
            <a:ext cx="7577667" cy="3090333"/>
          </a:xfrm>
          <a:custGeom>
            <a:avLst/>
            <a:gdLst/>
            <a:ahLst/>
            <a:cxnLst/>
            <a:rect l="l" t="t" r="r" b="b"/>
            <a:pathLst>
              <a:path w="7577667" h="3090333">
                <a:moveTo>
                  <a:pt x="0" y="0"/>
                </a:moveTo>
                <a:lnTo>
                  <a:pt x="7492992" y="0"/>
                </a:lnTo>
                <a:cubicBezTo>
                  <a:pt x="7539756" y="0"/>
                  <a:pt x="7577667" y="37910"/>
                  <a:pt x="7577667" y="84675"/>
                </a:cubicBezTo>
                <a:lnTo>
                  <a:pt x="7577667" y="3005658"/>
                </a:lnTo>
                <a:cubicBezTo>
                  <a:pt x="7577667" y="3052423"/>
                  <a:pt x="7539756" y="3090333"/>
                  <a:pt x="7492992" y="3090333"/>
                </a:cubicBezTo>
                <a:lnTo>
                  <a:pt x="0" y="3090333"/>
                </a:lnTo>
                <a:lnTo>
                  <a:pt x="0" y="0"/>
                </a:lnTo>
                <a:close/>
              </a:path>
            </a:pathLst>
          </a:custGeom>
          <a:solidFill>
            <a:srgbClr val="3D4A5C">
              <a:alpha val="30196"/>
            </a:srgbClr>
          </a:solidFill>
        </p:spPr>
      </p:sp>
      <p:sp>
        <p:nvSpPr>
          <p:cNvPr id="18" name="Shape 16"/>
          <p:cNvSpPr/>
          <p:nvPr/>
        </p:nvSpPr>
        <p:spPr>
          <a:xfrm>
            <a:off x="444500" y="3429000"/>
            <a:ext cx="42333" cy="3090333"/>
          </a:xfrm>
          <a:custGeom>
            <a:avLst/>
            <a:gdLst/>
            <a:ahLst/>
            <a:cxnLst/>
            <a:rect l="l" t="t" r="r" b="b"/>
            <a:pathLst>
              <a:path w="42333" h="3090333">
                <a:moveTo>
                  <a:pt x="0" y="0"/>
                </a:moveTo>
                <a:lnTo>
                  <a:pt x="42333" y="0"/>
                </a:lnTo>
                <a:lnTo>
                  <a:pt x="42333" y="3090333"/>
                </a:lnTo>
                <a:lnTo>
                  <a:pt x="0" y="3090333"/>
                </a:lnTo>
                <a:lnTo>
                  <a:pt x="0" y="0"/>
                </a:lnTo>
                <a:close/>
              </a:path>
            </a:pathLst>
          </a:custGeom>
          <a:solidFill>
            <a:srgbClr val="6B7280"/>
          </a:solidFill>
        </p:spPr>
      </p:sp>
      <p:sp>
        <p:nvSpPr>
          <p:cNvPr id="19" name="Shape 17"/>
          <p:cNvSpPr/>
          <p:nvPr/>
        </p:nvSpPr>
        <p:spPr>
          <a:xfrm>
            <a:off x="682625" y="3619500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168077" y="-4911"/>
                </a:moveTo>
                <a:cubicBezTo>
                  <a:pt x="173980" y="-645"/>
                  <a:pt x="176163" y="7094"/>
                  <a:pt x="173484" y="13841"/>
                </a:cubicBezTo>
                <a:lnTo>
                  <a:pt x="134590" y="111125"/>
                </a:lnTo>
                <a:lnTo>
                  <a:pt x="206375" y="111125"/>
                </a:lnTo>
                <a:cubicBezTo>
                  <a:pt x="213072" y="111125"/>
                  <a:pt x="219025" y="115292"/>
                  <a:pt x="221307" y="121593"/>
                </a:cubicBezTo>
                <a:cubicBezTo>
                  <a:pt x="223589" y="127893"/>
                  <a:pt x="221655" y="134938"/>
                  <a:pt x="216545" y="139204"/>
                </a:cubicBezTo>
                <a:lnTo>
                  <a:pt x="73670" y="258266"/>
                </a:lnTo>
                <a:cubicBezTo>
                  <a:pt x="68064" y="262930"/>
                  <a:pt x="60077" y="263178"/>
                  <a:pt x="54173" y="258911"/>
                </a:cubicBezTo>
                <a:cubicBezTo>
                  <a:pt x="48270" y="254645"/>
                  <a:pt x="46087" y="246906"/>
                  <a:pt x="48766" y="240159"/>
                </a:cubicBezTo>
                <a:lnTo>
                  <a:pt x="87660" y="142875"/>
                </a:lnTo>
                <a:lnTo>
                  <a:pt x="15875" y="142875"/>
                </a:lnTo>
                <a:cubicBezTo>
                  <a:pt x="9178" y="142875"/>
                  <a:pt x="3225" y="138708"/>
                  <a:pt x="943" y="132407"/>
                </a:cubicBezTo>
                <a:cubicBezTo>
                  <a:pt x="-1339" y="126107"/>
                  <a:pt x="595" y="119062"/>
                  <a:pt x="5705" y="114796"/>
                </a:cubicBezTo>
                <a:lnTo>
                  <a:pt x="148580" y="-4266"/>
                </a:lnTo>
                <a:cubicBezTo>
                  <a:pt x="154186" y="-8930"/>
                  <a:pt x="162173" y="-9178"/>
                  <a:pt x="168077" y="-4911"/>
                </a:cubicBezTo>
                <a:close/>
              </a:path>
            </a:pathLst>
          </a:custGeom>
          <a:solidFill>
            <a:srgbClr val="6B7280"/>
          </a:solidFill>
        </p:spPr>
      </p:sp>
      <p:sp>
        <p:nvSpPr>
          <p:cNvPr id="20" name="Text 18"/>
          <p:cNvSpPr/>
          <p:nvPr/>
        </p:nvSpPr>
        <p:spPr>
          <a:xfrm>
            <a:off x="1079500" y="3598333"/>
            <a:ext cx="1375833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5" b="1" dirty="0">
                <a:solidFill>
                  <a:srgbClr val="E5E7E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索引优化策略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35000" y="4021667"/>
            <a:ext cx="7217833" cy="1100667"/>
          </a:xfrm>
          <a:custGeom>
            <a:avLst/>
            <a:gdLst/>
            <a:ahLst/>
            <a:cxnLst/>
            <a:rect l="l" t="t" r="r" b="b"/>
            <a:pathLst>
              <a:path w="7217833" h="1100667">
                <a:moveTo>
                  <a:pt x="84663" y="0"/>
                </a:moveTo>
                <a:lnTo>
                  <a:pt x="7133170" y="0"/>
                </a:lnTo>
                <a:cubicBezTo>
                  <a:pt x="7179928" y="0"/>
                  <a:pt x="7217833" y="37905"/>
                  <a:pt x="7217833" y="84663"/>
                </a:cubicBezTo>
                <a:lnTo>
                  <a:pt x="7217833" y="1016003"/>
                </a:lnTo>
                <a:cubicBezTo>
                  <a:pt x="7217833" y="1062762"/>
                  <a:pt x="7179928" y="1100667"/>
                  <a:pt x="7133170" y="1100667"/>
                </a:cubicBezTo>
                <a:lnTo>
                  <a:pt x="84663" y="1100667"/>
                </a:lnTo>
                <a:cubicBezTo>
                  <a:pt x="37905" y="1100667"/>
                  <a:pt x="0" y="1062762"/>
                  <a:pt x="0" y="1016003"/>
                </a:cubicBezTo>
                <a:lnTo>
                  <a:pt x="0" y="84663"/>
                </a:lnTo>
                <a:cubicBezTo>
                  <a:pt x="0" y="37936"/>
                  <a:pt x="37936" y="0"/>
                  <a:pt x="84663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</p:spPr>
      </p:sp>
      <p:sp>
        <p:nvSpPr>
          <p:cNvPr id="22" name="Text 20"/>
          <p:cNvSpPr/>
          <p:nvPr/>
        </p:nvSpPr>
        <p:spPr>
          <a:xfrm>
            <a:off x="762000" y="4148667"/>
            <a:ext cx="70485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4F9A9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items 表（商品）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62000" y="4543780"/>
            <a:ext cx="2273579" cy="1740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5" dirty="0">
                <a:solidFill>
                  <a:srgbClr val="E5E7EB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INDEX (status, category_id)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62000" y="4783667"/>
            <a:ext cx="7037917" cy="211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5" dirty="0">
                <a:solidFill>
                  <a:srgbClr val="6B728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按状态和分类快速筛选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35000" y="5249333"/>
            <a:ext cx="7217833" cy="1100667"/>
          </a:xfrm>
          <a:custGeom>
            <a:avLst/>
            <a:gdLst/>
            <a:ahLst/>
            <a:cxnLst/>
            <a:rect l="l" t="t" r="r" b="b"/>
            <a:pathLst>
              <a:path w="7217833" h="1100667">
                <a:moveTo>
                  <a:pt x="84663" y="0"/>
                </a:moveTo>
                <a:lnTo>
                  <a:pt x="7133170" y="0"/>
                </a:lnTo>
                <a:cubicBezTo>
                  <a:pt x="7179928" y="0"/>
                  <a:pt x="7217833" y="37905"/>
                  <a:pt x="7217833" y="84663"/>
                </a:cubicBezTo>
                <a:lnTo>
                  <a:pt x="7217833" y="1016003"/>
                </a:lnTo>
                <a:cubicBezTo>
                  <a:pt x="7217833" y="1062762"/>
                  <a:pt x="7179928" y="1100667"/>
                  <a:pt x="7133170" y="1100667"/>
                </a:cubicBezTo>
                <a:lnTo>
                  <a:pt x="84663" y="1100667"/>
                </a:lnTo>
                <a:cubicBezTo>
                  <a:pt x="37905" y="1100667"/>
                  <a:pt x="0" y="1062762"/>
                  <a:pt x="0" y="1016003"/>
                </a:cubicBezTo>
                <a:lnTo>
                  <a:pt x="0" y="84663"/>
                </a:lnTo>
                <a:cubicBezTo>
                  <a:pt x="0" y="37936"/>
                  <a:pt x="37936" y="0"/>
                  <a:pt x="84663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</p:spPr>
      </p:sp>
      <p:sp>
        <p:nvSpPr>
          <p:cNvPr id="26" name="Text 24"/>
          <p:cNvSpPr/>
          <p:nvPr/>
        </p:nvSpPr>
        <p:spPr>
          <a:xfrm>
            <a:off x="762000" y="5376333"/>
            <a:ext cx="70485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6B728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transactions 表（交易）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62000" y="5771446"/>
            <a:ext cx="2110714" cy="1740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5" dirty="0">
                <a:solidFill>
                  <a:srgbClr val="E5E7EB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INDEX (status, seller_id)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62000" y="6011339"/>
            <a:ext cx="7037917" cy="211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5" dirty="0">
                <a:solidFill>
                  <a:srgbClr val="6B728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按状态和卖家快速查询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27990" y="6693535"/>
            <a:ext cx="7586980" cy="2302510"/>
          </a:xfrm>
          <a:custGeom>
            <a:avLst/>
            <a:gdLst/>
            <a:ahLst/>
            <a:cxnLst/>
            <a:rect l="l" t="t" r="r" b="b"/>
            <a:pathLst>
              <a:path w="7587074" h="1321741">
                <a:moveTo>
                  <a:pt x="84671" y="0"/>
                </a:moveTo>
                <a:lnTo>
                  <a:pt x="7502403" y="0"/>
                </a:lnTo>
                <a:cubicBezTo>
                  <a:pt x="7549166" y="0"/>
                  <a:pt x="7587074" y="37908"/>
                  <a:pt x="7587074" y="84671"/>
                </a:cubicBezTo>
                <a:lnTo>
                  <a:pt x="7587074" y="1237070"/>
                </a:lnTo>
                <a:cubicBezTo>
                  <a:pt x="7587074" y="1283832"/>
                  <a:pt x="7549166" y="1321741"/>
                  <a:pt x="7502403" y="1321741"/>
                </a:cubicBezTo>
                <a:lnTo>
                  <a:pt x="84671" y="1321741"/>
                </a:lnTo>
                <a:cubicBezTo>
                  <a:pt x="37940" y="1321741"/>
                  <a:pt x="0" y="1283801"/>
                  <a:pt x="0" y="1237070"/>
                </a:cubicBezTo>
                <a:lnTo>
                  <a:pt x="0" y="84671"/>
                </a:lnTo>
                <a:cubicBezTo>
                  <a:pt x="0" y="37908"/>
                  <a:pt x="37908" y="0"/>
                  <a:pt x="84671" y="0"/>
                </a:cubicBezTo>
                <a:close/>
              </a:path>
            </a:pathLst>
          </a:custGeom>
          <a:solidFill>
            <a:srgbClr val="4F9A94">
              <a:alpha val="20000"/>
            </a:srgbClr>
          </a:solidFill>
          <a:ln w="11289">
            <a:solidFill>
              <a:srgbClr val="4F9A9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8532" y="6920327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4F9A94"/>
          </a:solidFill>
        </p:spPr>
      </p:sp>
      <p:sp>
        <p:nvSpPr>
          <p:cNvPr id="31" name="Text 29"/>
          <p:cNvSpPr/>
          <p:nvPr/>
        </p:nvSpPr>
        <p:spPr>
          <a:xfrm>
            <a:off x="845491" y="6867410"/>
            <a:ext cx="7090833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4F9A9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优化效果验证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02074" y="7290744"/>
            <a:ext cx="7323667" cy="550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5" dirty="0">
                <a:solidFill>
                  <a:srgbClr val="E5E7EB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使用</a:t>
            </a:r>
            <a:r>
              <a:rPr lang="en-US" sz="1335" b="1" dirty="0">
                <a:solidFill>
                  <a:srgbClr val="4F9A9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EXPLAIN</a:t>
            </a:r>
            <a:r>
              <a:rPr lang="en-US" sz="1335" dirty="0">
                <a:solidFill>
                  <a:srgbClr val="E5E7EB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分析查询计划，验证优化效果。通过合理的索引设计，将查询从</a:t>
            </a:r>
            <a:r>
              <a:rPr lang="en-US" sz="1335" b="1" dirty="0">
                <a:solidFill>
                  <a:srgbClr val="6B728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全表扫描</a:t>
            </a:r>
            <a:r>
              <a:rPr lang="en-US" sz="1335" dirty="0">
                <a:solidFill>
                  <a:srgbClr val="E5E7EB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优化为</a:t>
            </a:r>
            <a:r>
              <a:rPr lang="en-US" sz="1335" b="1" dirty="0">
                <a:solidFill>
                  <a:srgbClr val="4F9A9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索引覆盖</a:t>
            </a:r>
            <a:r>
              <a:rPr lang="en-US" sz="1335" dirty="0">
                <a:solidFill>
                  <a:srgbClr val="E5E7EB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，显著提升查询性能。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255000" y="1566333"/>
            <a:ext cx="7577667" cy="5101167"/>
          </a:xfrm>
          <a:custGeom>
            <a:avLst/>
            <a:gdLst/>
            <a:ahLst/>
            <a:cxnLst/>
            <a:rect l="l" t="t" r="r" b="b"/>
            <a:pathLst>
              <a:path w="7577667" h="5101167">
                <a:moveTo>
                  <a:pt x="0" y="0"/>
                </a:moveTo>
                <a:lnTo>
                  <a:pt x="7492987" y="0"/>
                </a:lnTo>
                <a:cubicBezTo>
                  <a:pt x="7539754" y="0"/>
                  <a:pt x="7577667" y="37912"/>
                  <a:pt x="7577667" y="84679"/>
                </a:cubicBezTo>
                <a:lnTo>
                  <a:pt x="7577667" y="5016487"/>
                </a:lnTo>
                <a:cubicBezTo>
                  <a:pt x="7577667" y="5063254"/>
                  <a:pt x="7539754" y="5101167"/>
                  <a:pt x="7492987" y="5101167"/>
                </a:cubicBezTo>
                <a:lnTo>
                  <a:pt x="0" y="5101167"/>
                </a:lnTo>
                <a:lnTo>
                  <a:pt x="0" y="0"/>
                </a:lnTo>
                <a:close/>
              </a:path>
            </a:pathLst>
          </a:custGeom>
          <a:solidFill>
            <a:srgbClr val="3D4A5C">
              <a:alpha val="30196"/>
            </a:srgbClr>
          </a:solidFill>
        </p:spPr>
      </p:sp>
      <p:sp>
        <p:nvSpPr>
          <p:cNvPr id="34" name="Shape 32"/>
          <p:cNvSpPr/>
          <p:nvPr/>
        </p:nvSpPr>
        <p:spPr>
          <a:xfrm>
            <a:off x="8255000" y="1566333"/>
            <a:ext cx="42333" cy="5101167"/>
          </a:xfrm>
          <a:custGeom>
            <a:avLst/>
            <a:gdLst/>
            <a:ahLst/>
            <a:cxnLst/>
            <a:rect l="l" t="t" r="r" b="b"/>
            <a:pathLst>
              <a:path w="42333" h="5101167">
                <a:moveTo>
                  <a:pt x="0" y="0"/>
                </a:moveTo>
                <a:lnTo>
                  <a:pt x="42333" y="0"/>
                </a:lnTo>
                <a:lnTo>
                  <a:pt x="42333" y="5101167"/>
                </a:lnTo>
                <a:lnTo>
                  <a:pt x="0" y="5101167"/>
                </a:lnTo>
                <a:lnTo>
                  <a:pt x="0" y="0"/>
                </a:lnTo>
                <a:close/>
              </a:path>
            </a:pathLst>
          </a:custGeom>
          <a:solidFill>
            <a:srgbClr val="4F9A94"/>
          </a:solidFill>
        </p:spPr>
      </p:sp>
      <p:sp>
        <p:nvSpPr>
          <p:cNvPr id="35" name="Shape 33"/>
          <p:cNvSpPr/>
          <p:nvPr/>
        </p:nvSpPr>
        <p:spPr>
          <a:xfrm>
            <a:off x="8471958" y="1778000"/>
            <a:ext cx="211667" cy="211667"/>
          </a:xfrm>
          <a:custGeom>
            <a:avLst/>
            <a:gdLst/>
            <a:ahLst/>
            <a:cxnLst/>
            <a:rect l="l" t="t" r="r" b="b"/>
            <a:pathLst>
              <a:path w="211667" h="211667">
                <a:moveTo>
                  <a:pt x="171979" y="85990"/>
                </a:moveTo>
                <a:cubicBezTo>
                  <a:pt x="171979" y="104965"/>
                  <a:pt x="165819" y="122494"/>
                  <a:pt x="155443" y="136715"/>
                </a:cubicBezTo>
                <a:lnTo>
                  <a:pt x="207781" y="189094"/>
                </a:lnTo>
                <a:cubicBezTo>
                  <a:pt x="212948" y="194262"/>
                  <a:pt x="212948" y="202654"/>
                  <a:pt x="207781" y="207822"/>
                </a:cubicBezTo>
                <a:cubicBezTo>
                  <a:pt x="202613" y="212990"/>
                  <a:pt x="194221" y="212990"/>
                  <a:pt x="189053" y="207822"/>
                </a:cubicBezTo>
                <a:lnTo>
                  <a:pt x="136715" y="155443"/>
                </a:lnTo>
                <a:cubicBezTo>
                  <a:pt x="122494" y="165819"/>
                  <a:pt x="104965" y="171979"/>
                  <a:pt x="85990" y="171979"/>
                </a:cubicBezTo>
                <a:cubicBezTo>
                  <a:pt x="38489" y="171979"/>
                  <a:pt x="0" y="133491"/>
                  <a:pt x="0" y="85990"/>
                </a:cubicBezTo>
                <a:cubicBezTo>
                  <a:pt x="0" y="38489"/>
                  <a:pt x="38489" y="0"/>
                  <a:pt x="85990" y="0"/>
                </a:cubicBezTo>
                <a:cubicBezTo>
                  <a:pt x="133491" y="0"/>
                  <a:pt x="171979" y="38489"/>
                  <a:pt x="171979" y="85990"/>
                </a:cubicBezTo>
                <a:close/>
                <a:moveTo>
                  <a:pt x="85990" y="145521"/>
                </a:moveTo>
                <a:cubicBezTo>
                  <a:pt x="118846" y="145521"/>
                  <a:pt x="145521" y="118846"/>
                  <a:pt x="145521" y="85990"/>
                </a:cubicBezTo>
                <a:cubicBezTo>
                  <a:pt x="145521" y="53133"/>
                  <a:pt x="118846" y="26458"/>
                  <a:pt x="85990" y="26458"/>
                </a:cubicBezTo>
                <a:cubicBezTo>
                  <a:pt x="53133" y="26458"/>
                  <a:pt x="26458" y="53133"/>
                  <a:pt x="26458" y="85990"/>
                </a:cubicBezTo>
                <a:cubicBezTo>
                  <a:pt x="26458" y="118846"/>
                  <a:pt x="53133" y="145521"/>
                  <a:pt x="85990" y="145521"/>
                </a:cubicBezTo>
                <a:close/>
              </a:path>
            </a:pathLst>
          </a:custGeom>
          <a:solidFill>
            <a:srgbClr val="4F9A94"/>
          </a:solidFill>
        </p:spPr>
      </p:sp>
      <p:sp>
        <p:nvSpPr>
          <p:cNvPr id="36" name="Text 34"/>
          <p:cNvSpPr/>
          <p:nvPr/>
        </p:nvSpPr>
        <p:spPr>
          <a:xfrm>
            <a:off x="8710083" y="1735667"/>
            <a:ext cx="7059083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5" b="1" dirty="0">
                <a:solidFill>
                  <a:srgbClr val="4F9A9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EXPLAIN 查询分析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461375" y="2159000"/>
            <a:ext cx="7218045" cy="1736090"/>
          </a:xfrm>
          <a:custGeom>
            <a:avLst/>
            <a:gdLst/>
            <a:ahLst/>
            <a:cxnLst/>
            <a:rect l="l" t="t" r="r" b="b"/>
            <a:pathLst>
              <a:path w="7217833" h="2106083">
                <a:moveTo>
                  <a:pt x="84665" y="0"/>
                </a:moveTo>
                <a:lnTo>
                  <a:pt x="7133169" y="0"/>
                </a:lnTo>
                <a:cubicBezTo>
                  <a:pt x="7179928" y="0"/>
                  <a:pt x="7217833" y="37906"/>
                  <a:pt x="7217833" y="84665"/>
                </a:cubicBezTo>
                <a:lnTo>
                  <a:pt x="7217833" y="2021419"/>
                </a:lnTo>
                <a:cubicBezTo>
                  <a:pt x="7217833" y="2068178"/>
                  <a:pt x="7179928" y="2106083"/>
                  <a:pt x="7133169" y="2106083"/>
                </a:cubicBezTo>
                <a:lnTo>
                  <a:pt x="84665" y="2106083"/>
                </a:lnTo>
                <a:cubicBezTo>
                  <a:pt x="37906" y="2106083"/>
                  <a:pt x="0" y="2068178"/>
                  <a:pt x="0" y="2021419"/>
                </a:cubicBezTo>
                <a:lnTo>
                  <a:pt x="0" y="84665"/>
                </a:lnTo>
                <a:cubicBezTo>
                  <a:pt x="0" y="37906"/>
                  <a:pt x="37906" y="0"/>
                  <a:pt x="84665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</p:spPr>
        <p:txBody>
          <a:bodyPr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8572500" y="2286000"/>
            <a:ext cx="7037917" cy="211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5" b="1" dirty="0">
                <a:solidFill>
                  <a:srgbClr val="6B728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优化前（</a:t>
            </a:r>
            <a:r>
              <a:rPr lang="zh-CN" altLang="en-US" sz="1165" b="1" dirty="0">
                <a:solidFill>
                  <a:srgbClr val="6B728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重复子查询</a:t>
            </a:r>
            <a:r>
              <a:rPr lang="en-US" sz="1165" b="1" dirty="0">
                <a:solidFill>
                  <a:srgbClr val="6B728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）：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572500" y="2605851"/>
            <a:ext cx="2355086" cy="15075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445500" y="4003675"/>
            <a:ext cx="7218045" cy="2494915"/>
          </a:xfrm>
          <a:custGeom>
            <a:avLst/>
            <a:gdLst/>
            <a:ahLst/>
            <a:cxnLst/>
            <a:rect l="l" t="t" r="r" b="b"/>
            <a:pathLst>
              <a:path w="7217833" h="2106083">
                <a:moveTo>
                  <a:pt x="84665" y="0"/>
                </a:moveTo>
                <a:lnTo>
                  <a:pt x="7133169" y="0"/>
                </a:lnTo>
                <a:cubicBezTo>
                  <a:pt x="7179928" y="0"/>
                  <a:pt x="7217833" y="37906"/>
                  <a:pt x="7217833" y="84665"/>
                </a:cubicBezTo>
                <a:lnTo>
                  <a:pt x="7217833" y="2021419"/>
                </a:lnTo>
                <a:cubicBezTo>
                  <a:pt x="7217833" y="2068178"/>
                  <a:pt x="7179928" y="2106083"/>
                  <a:pt x="7133169" y="2106083"/>
                </a:cubicBezTo>
                <a:lnTo>
                  <a:pt x="84665" y="2106083"/>
                </a:lnTo>
                <a:cubicBezTo>
                  <a:pt x="37906" y="2106083"/>
                  <a:pt x="0" y="2068178"/>
                  <a:pt x="0" y="2021419"/>
                </a:cubicBezTo>
                <a:lnTo>
                  <a:pt x="0" y="84665"/>
                </a:lnTo>
                <a:cubicBezTo>
                  <a:pt x="0" y="37906"/>
                  <a:pt x="37906" y="0"/>
                  <a:pt x="84665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</p:spPr>
        <p:txBody>
          <a:bodyPr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8572500" y="4148243"/>
            <a:ext cx="7037917" cy="211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5" b="1" dirty="0">
                <a:solidFill>
                  <a:srgbClr val="4F9A9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优化后（</a:t>
            </a:r>
            <a:r>
              <a:rPr lang="zh-CN" altLang="en-US" sz="1165" b="1" dirty="0">
                <a:solidFill>
                  <a:srgbClr val="4F9A9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利用</a:t>
            </a:r>
            <a:r>
              <a:rPr lang="en-US" altLang="zh-CN" sz="1165" b="1" dirty="0">
                <a:solidFill>
                  <a:srgbClr val="4F9A9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CTE</a:t>
            </a:r>
            <a:r>
              <a:rPr lang="zh-CN" altLang="en-US" sz="1165" b="1" dirty="0">
                <a:solidFill>
                  <a:srgbClr val="4F9A9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，只查一次</a:t>
            </a:r>
            <a:r>
              <a:rPr lang="en-US" sz="1165" b="1" dirty="0">
                <a:solidFill>
                  <a:srgbClr val="4F9A9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）：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572500" y="4838935"/>
            <a:ext cx="2355086" cy="15075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238490" y="6693535"/>
            <a:ext cx="7586980" cy="2303145"/>
          </a:xfrm>
          <a:custGeom>
            <a:avLst/>
            <a:gdLst/>
            <a:ahLst/>
            <a:cxnLst/>
            <a:rect l="l" t="t" r="r" b="b"/>
            <a:pathLst>
              <a:path w="7587074" h="2888074">
                <a:moveTo>
                  <a:pt x="84678" y="0"/>
                </a:moveTo>
                <a:lnTo>
                  <a:pt x="7502396" y="0"/>
                </a:lnTo>
                <a:cubicBezTo>
                  <a:pt x="7549162" y="0"/>
                  <a:pt x="7587074" y="37912"/>
                  <a:pt x="7587074" y="84678"/>
                </a:cubicBezTo>
                <a:lnTo>
                  <a:pt x="7587074" y="2803396"/>
                </a:lnTo>
                <a:cubicBezTo>
                  <a:pt x="7587074" y="2850162"/>
                  <a:pt x="7549162" y="2888074"/>
                  <a:pt x="7502396" y="2888074"/>
                </a:cubicBezTo>
                <a:lnTo>
                  <a:pt x="84678" y="2888074"/>
                </a:lnTo>
                <a:cubicBezTo>
                  <a:pt x="37912" y="2888074"/>
                  <a:pt x="0" y="2850162"/>
                  <a:pt x="0" y="2803396"/>
                </a:cubicBezTo>
                <a:lnTo>
                  <a:pt x="0" y="84678"/>
                </a:lnTo>
                <a:cubicBezTo>
                  <a:pt x="0" y="37943"/>
                  <a:pt x="37943" y="0"/>
                  <a:pt x="84678" y="0"/>
                </a:cubicBezTo>
                <a:close/>
              </a:path>
            </a:pathLst>
          </a:custGeom>
          <a:solidFill>
            <a:srgbClr val="3D4A5C">
              <a:alpha val="30196"/>
            </a:srgbClr>
          </a:solidFill>
          <a:ln w="11289">
            <a:solidFill>
              <a:srgbClr val="3D4A5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439033" y="7068494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1906" y="11906"/>
                </a:moveTo>
                <a:cubicBezTo>
                  <a:pt x="18492" y="11906"/>
                  <a:pt x="23812" y="17227"/>
                  <a:pt x="23812" y="23812"/>
                </a:cubicBezTo>
                <a:lnTo>
                  <a:pt x="23812" y="148828"/>
                </a:lnTo>
                <a:cubicBezTo>
                  <a:pt x="23812" y="152102"/>
                  <a:pt x="26491" y="154781"/>
                  <a:pt x="29766" y="154781"/>
                </a:cubicBezTo>
                <a:lnTo>
                  <a:pt x="178594" y="154781"/>
                </a:lnTo>
                <a:cubicBezTo>
                  <a:pt x="185179" y="154781"/>
                  <a:pt x="190500" y="160102"/>
                  <a:pt x="190500" y="166688"/>
                </a:cubicBezTo>
                <a:cubicBezTo>
                  <a:pt x="190500" y="173273"/>
                  <a:pt x="185179" y="178594"/>
                  <a:pt x="178594" y="178594"/>
                </a:cubicBezTo>
                <a:lnTo>
                  <a:pt x="29766" y="178594"/>
                </a:lnTo>
                <a:cubicBezTo>
                  <a:pt x="13320" y="178594"/>
                  <a:pt x="0" y="165274"/>
                  <a:pt x="0" y="148828"/>
                </a:cubicBezTo>
                <a:lnTo>
                  <a:pt x="0" y="23812"/>
                </a:lnTo>
                <a:cubicBezTo>
                  <a:pt x="0" y="17227"/>
                  <a:pt x="5321" y="11906"/>
                  <a:pt x="11906" y="11906"/>
                </a:cubicBezTo>
                <a:close/>
                <a:moveTo>
                  <a:pt x="47625" y="35719"/>
                </a:moveTo>
                <a:cubicBezTo>
                  <a:pt x="47625" y="29133"/>
                  <a:pt x="52946" y="23812"/>
                  <a:pt x="59531" y="23812"/>
                </a:cubicBezTo>
                <a:lnTo>
                  <a:pt x="130969" y="23812"/>
                </a:lnTo>
                <a:cubicBezTo>
                  <a:pt x="137554" y="23812"/>
                  <a:pt x="142875" y="29133"/>
                  <a:pt x="142875" y="35719"/>
                </a:cubicBezTo>
                <a:cubicBezTo>
                  <a:pt x="142875" y="42304"/>
                  <a:pt x="137554" y="47625"/>
                  <a:pt x="130969" y="47625"/>
                </a:cubicBezTo>
                <a:lnTo>
                  <a:pt x="59531" y="47625"/>
                </a:lnTo>
                <a:cubicBezTo>
                  <a:pt x="52946" y="47625"/>
                  <a:pt x="47625" y="42304"/>
                  <a:pt x="47625" y="35719"/>
                </a:cubicBezTo>
                <a:close/>
                <a:moveTo>
                  <a:pt x="59531" y="65484"/>
                </a:moveTo>
                <a:lnTo>
                  <a:pt x="107156" y="65484"/>
                </a:lnTo>
                <a:cubicBezTo>
                  <a:pt x="113742" y="65484"/>
                  <a:pt x="119063" y="70805"/>
                  <a:pt x="119063" y="77391"/>
                </a:cubicBezTo>
                <a:cubicBezTo>
                  <a:pt x="119063" y="83976"/>
                  <a:pt x="113742" y="89297"/>
                  <a:pt x="107156" y="89297"/>
                </a:cubicBezTo>
                <a:lnTo>
                  <a:pt x="59531" y="89297"/>
                </a:lnTo>
                <a:cubicBezTo>
                  <a:pt x="52946" y="89297"/>
                  <a:pt x="47625" y="83976"/>
                  <a:pt x="47625" y="77391"/>
                </a:cubicBezTo>
                <a:cubicBezTo>
                  <a:pt x="47625" y="70805"/>
                  <a:pt x="52946" y="65484"/>
                  <a:pt x="59531" y="65484"/>
                </a:cubicBezTo>
                <a:close/>
                <a:moveTo>
                  <a:pt x="59531" y="107156"/>
                </a:moveTo>
                <a:lnTo>
                  <a:pt x="154781" y="107156"/>
                </a:lnTo>
                <a:cubicBezTo>
                  <a:pt x="161367" y="107156"/>
                  <a:pt x="166688" y="112477"/>
                  <a:pt x="166688" y="119063"/>
                </a:cubicBezTo>
                <a:cubicBezTo>
                  <a:pt x="166688" y="125648"/>
                  <a:pt x="161367" y="130969"/>
                  <a:pt x="154781" y="130969"/>
                </a:cubicBezTo>
                <a:lnTo>
                  <a:pt x="59531" y="130969"/>
                </a:lnTo>
                <a:cubicBezTo>
                  <a:pt x="52946" y="130969"/>
                  <a:pt x="47625" y="125648"/>
                  <a:pt x="47625" y="119063"/>
                </a:cubicBezTo>
                <a:cubicBezTo>
                  <a:pt x="47625" y="112477"/>
                  <a:pt x="52946" y="107156"/>
                  <a:pt x="59531" y="107156"/>
                </a:cubicBezTo>
                <a:close/>
              </a:path>
            </a:pathLst>
          </a:custGeom>
          <a:solidFill>
            <a:srgbClr val="E5E7EB"/>
          </a:solidFill>
        </p:spPr>
      </p:sp>
      <p:sp>
        <p:nvSpPr>
          <p:cNvPr id="45" name="Text 43"/>
          <p:cNvSpPr/>
          <p:nvPr/>
        </p:nvSpPr>
        <p:spPr>
          <a:xfrm>
            <a:off x="8655991" y="7015577"/>
            <a:ext cx="7090833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5E7E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性能提升对比</a:t>
            </a:r>
            <a:endParaRPr lang="en-US" sz="1600" dirty="0"/>
          </a:p>
        </p:txBody>
      </p:sp>
      <p:pic>
        <p:nvPicPr>
          <p:cNvPr id="46" name="Image 0" descr="https://kimi-img.moonshot.cn/pub/slides/26-01-04-00:46:34-d5ckfqkpm1tafu567c2g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8412480" y="7312025"/>
            <a:ext cx="5884545" cy="1690370"/>
          </a:xfrm>
          <a:prstGeom prst="roundRect">
            <a:avLst>
              <a:gd name="adj" fmla="val 0"/>
            </a:avLst>
          </a:prstGeom>
        </p:spPr>
      </p:pic>
      <p:sp>
        <p:nvSpPr>
          <p:cNvPr id="15" name="文本框 14"/>
          <p:cNvSpPr txBox="1"/>
          <p:nvPr/>
        </p:nvSpPr>
        <p:spPr>
          <a:xfrm>
            <a:off x="8683625" y="2451735"/>
            <a:ext cx="6014720" cy="13550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800">
                <a:solidFill>
                  <a:schemeClr val="bg1"/>
                </a:solidFill>
              </a:rPr>
              <a:t>SELECT</a:t>
            </a:r>
            <a:endParaRPr lang="en-US" altLang="zh-CN" sz="800">
              <a:solidFill>
                <a:schemeClr val="bg1"/>
              </a:solidFill>
            </a:endParaRPr>
          </a:p>
          <a:p>
            <a:r>
              <a:rPr lang="en-US" altLang="zh-CN" sz="800">
                <a:solidFill>
                  <a:schemeClr val="bg1"/>
                </a:solidFill>
              </a:rPr>
              <a:t>  u.id AS user_id,</a:t>
            </a:r>
            <a:endParaRPr lang="en-US" altLang="zh-CN" sz="800">
              <a:solidFill>
                <a:schemeClr val="bg1"/>
              </a:solidFill>
            </a:endParaRPr>
          </a:p>
          <a:p>
            <a:r>
              <a:rPr lang="en-US" altLang="zh-CN" sz="800">
                <a:solidFill>
                  <a:schemeClr val="bg1"/>
                </a:solidFill>
              </a:rPr>
              <a:t>  u.username AS username,</a:t>
            </a:r>
            <a:endParaRPr lang="en-US" altLang="zh-CN" sz="800">
              <a:solidFill>
                <a:schemeClr val="bg1"/>
              </a:solidFill>
            </a:endParaRPr>
          </a:p>
          <a:p>
            <a:r>
              <a:rPr lang="en-US" altLang="zh-CN" sz="800">
                <a:solidFill>
                  <a:schemeClr val="bg1"/>
                </a:solidFill>
              </a:rPr>
              <a:t>  (SELECT COUNT(*) FROM items i WHERE i.seller_id = u.id) AS item_count,......</a:t>
            </a:r>
            <a:endParaRPr lang="en-US" altLang="zh-CN" sz="800">
              <a:solidFill>
                <a:schemeClr val="bg1"/>
              </a:solidFill>
            </a:endParaRPr>
          </a:p>
          <a:p>
            <a:r>
              <a:rPr lang="en-US" altLang="zh-CN" sz="800">
                <a:solidFill>
                  <a:schemeClr val="bg1"/>
                </a:solidFill>
              </a:rPr>
              <a:t>       FROM conflict_records cr</a:t>
            </a:r>
            <a:endParaRPr lang="en-US" altLang="zh-CN" sz="800">
              <a:solidFill>
                <a:schemeClr val="bg1"/>
              </a:solidFill>
            </a:endParaRPr>
          </a:p>
          <a:p>
            <a:r>
              <a:rPr lang="en-US" altLang="zh-CN" sz="800">
                <a:solidFill>
                  <a:schemeClr val="bg1"/>
                </a:solidFill>
              </a:rPr>
              <a:t>     JOIN items i2 ON i2.id = CAST(cr.record_id AS UNSIGNED)</a:t>
            </a:r>
            <a:endParaRPr lang="en-US" altLang="zh-CN" sz="800">
              <a:solidFill>
                <a:schemeClr val="bg1"/>
              </a:solidFill>
            </a:endParaRPr>
          </a:p>
          <a:p>
            <a:r>
              <a:rPr lang="en-US" altLang="zh-CN" sz="800">
                <a:solidFill>
                  <a:schemeClr val="bg1"/>
                </a:solidFill>
              </a:rPr>
              <a:t>    WHERE cr.table_name = 'items'</a:t>
            </a:r>
            <a:endParaRPr lang="en-US" altLang="zh-CN" sz="800">
              <a:solidFill>
                <a:schemeClr val="bg1"/>
              </a:solidFill>
            </a:endParaRPr>
          </a:p>
          <a:p>
            <a:r>
              <a:rPr lang="en-US" altLang="zh-CN" sz="800">
                <a:solidFill>
                  <a:schemeClr val="bg1"/>
                </a:solidFill>
              </a:rPr>
              <a:t>      AND i2.seller_id = u.id</a:t>
            </a:r>
            <a:endParaRPr lang="en-US" altLang="zh-CN" sz="800">
              <a:solidFill>
                <a:schemeClr val="bg1"/>
              </a:solidFill>
            </a:endParaRPr>
          </a:p>
          <a:p>
            <a:r>
              <a:rPr lang="en-US" altLang="zh-CN" sz="800">
                <a:solidFill>
                  <a:schemeClr val="bg1"/>
                </a:solidFill>
              </a:rPr>
              <a:t>  ) AS item_conflicts</a:t>
            </a:r>
            <a:endParaRPr lang="en-US" altLang="zh-CN" sz="800">
              <a:solidFill>
                <a:schemeClr val="bg1"/>
              </a:solidFill>
            </a:endParaRPr>
          </a:p>
          <a:p>
            <a:r>
              <a:rPr lang="en-US" altLang="zh-CN" sz="800">
                <a:solidFill>
                  <a:schemeClr val="bg1"/>
                </a:solidFill>
              </a:rPr>
              <a:t>FROM users u</a:t>
            </a:r>
            <a:endParaRPr lang="en-US" altLang="zh-CN" sz="800">
              <a:solidFill>
                <a:schemeClr val="bg1"/>
              </a:solidFill>
            </a:endParaRPr>
          </a:p>
          <a:p>
            <a:r>
              <a:rPr lang="en-US" altLang="zh-CN" sz="800">
                <a:solidFill>
                  <a:schemeClr val="bg1"/>
                </a:solidFill>
              </a:rPr>
              <a:t>WHERE u.is_active = 1</a:t>
            </a:r>
            <a:endParaRPr lang="en-US" altLang="zh-CN" sz="800">
              <a:solidFill>
                <a:schemeClr val="bg1"/>
              </a:solidFill>
            </a:endParaRPr>
          </a:p>
          <a:p>
            <a:endParaRPr lang="en-US" altLang="zh-CN" sz="800">
              <a:solidFill>
                <a:schemeClr val="bg1"/>
              </a:solidFill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8683625" y="4544060"/>
            <a:ext cx="7202170" cy="21037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800">
                <a:solidFill>
                  <a:schemeClr val="bg1"/>
                </a:solidFill>
              </a:rPr>
              <a:t>WITH</a:t>
            </a:r>
            <a:endParaRPr lang="en-US" altLang="zh-CN" sz="800">
              <a:solidFill>
                <a:schemeClr val="bg1"/>
              </a:solidFill>
            </a:endParaRPr>
          </a:p>
          <a:p>
            <a:r>
              <a:rPr lang="en-US" altLang="zh-CN" sz="800">
                <a:solidFill>
                  <a:schemeClr val="bg1"/>
                </a:solidFill>
              </a:rPr>
              <a:t>seller_items AS (</a:t>
            </a:r>
            <a:endParaRPr lang="en-US" altLang="zh-CN" sz="800">
              <a:solidFill>
                <a:schemeClr val="bg1"/>
              </a:solidFill>
            </a:endParaRPr>
          </a:p>
          <a:p>
            <a:r>
              <a:rPr lang="en-US" altLang="zh-CN" sz="800">
                <a:solidFill>
                  <a:schemeClr val="bg1"/>
                </a:solidFill>
              </a:rPr>
              <a:t>  SELECT seller_id, COUNT(*) AS item_count</a:t>
            </a:r>
            <a:endParaRPr lang="en-US" altLang="zh-CN" sz="800">
              <a:solidFill>
                <a:schemeClr val="bg1"/>
              </a:solidFill>
            </a:endParaRPr>
          </a:p>
          <a:p>
            <a:r>
              <a:rPr lang="en-US" altLang="zh-CN" sz="800">
                <a:solidFill>
                  <a:schemeClr val="bg1"/>
                </a:solidFill>
              </a:rPr>
              <a:t>  FROM items</a:t>
            </a:r>
            <a:endParaRPr lang="en-US" altLang="zh-CN" sz="800">
              <a:solidFill>
                <a:schemeClr val="bg1"/>
              </a:solidFill>
            </a:endParaRPr>
          </a:p>
          <a:p>
            <a:r>
              <a:rPr lang="en-US" altLang="zh-CN" sz="800">
                <a:solidFill>
                  <a:schemeClr val="bg1"/>
                </a:solidFill>
              </a:rPr>
              <a:t>  GROUP BY seller_id</a:t>
            </a:r>
            <a:endParaRPr lang="en-US" altLang="zh-CN" sz="800">
              <a:solidFill>
                <a:schemeClr val="bg1"/>
              </a:solidFill>
            </a:endParaRPr>
          </a:p>
          <a:p>
            <a:r>
              <a:rPr lang="en-US" altLang="zh-CN" sz="800">
                <a:solidFill>
                  <a:schemeClr val="bg1"/>
                </a:solidFill>
              </a:rPr>
              <a:t>),seller_sales AS (</a:t>
            </a:r>
            <a:endParaRPr lang="en-US" altLang="zh-CN" sz="800">
              <a:solidFill>
                <a:schemeClr val="bg1"/>
              </a:solidFill>
            </a:endParaRPr>
          </a:p>
          <a:p>
            <a:r>
              <a:rPr lang="en-US" altLang="zh-CN" sz="800">
                <a:solidFill>
                  <a:schemeClr val="bg1"/>
                </a:solidFill>
              </a:rPr>
              <a:t>  SELECT seller_id, COALESCE(SUM(final_amount), 0) AS total_sales</a:t>
            </a:r>
            <a:endParaRPr lang="en-US" altLang="zh-CN" sz="800">
              <a:solidFill>
                <a:schemeClr val="bg1"/>
              </a:solidFill>
            </a:endParaRPr>
          </a:p>
          <a:p>
            <a:r>
              <a:rPr lang="en-US" altLang="zh-CN" sz="800">
                <a:solidFill>
                  <a:schemeClr val="bg1"/>
                </a:solidFill>
              </a:rPr>
              <a:t>  FROM transactions</a:t>
            </a:r>
            <a:endParaRPr lang="en-US" altLang="zh-CN" sz="800">
              <a:solidFill>
                <a:schemeClr val="bg1"/>
              </a:solidFill>
            </a:endParaRPr>
          </a:p>
          <a:p>
            <a:r>
              <a:rPr lang="en-US" altLang="zh-CN" sz="800">
                <a:solidFill>
                  <a:schemeClr val="bg1"/>
                </a:solidFill>
              </a:rPr>
              <a:t>  WHERE status = 'completed'</a:t>
            </a:r>
            <a:endParaRPr lang="en-US" altLang="zh-CN" sz="800">
              <a:solidFill>
                <a:schemeClr val="bg1"/>
              </a:solidFill>
            </a:endParaRPr>
          </a:p>
          <a:p>
            <a:r>
              <a:rPr lang="en-US" altLang="zh-CN" sz="800">
                <a:solidFill>
                  <a:schemeClr val="bg1"/>
                </a:solidFill>
              </a:rPr>
              <a:t>  GROUP BY seller_id</a:t>
            </a:r>
            <a:endParaRPr lang="en-US" altLang="zh-CN" sz="800">
              <a:solidFill>
                <a:schemeClr val="bg1"/>
              </a:solidFill>
            </a:endParaRPr>
          </a:p>
          <a:p>
            <a:r>
              <a:rPr lang="en-US" altLang="zh-CN" sz="800">
                <a:solidFill>
                  <a:schemeClr val="bg1"/>
                </a:solidFill>
              </a:rPr>
              <a:t>)......</a:t>
            </a:r>
            <a:endParaRPr lang="en-US" altLang="zh-CN" sz="800">
              <a:solidFill>
                <a:schemeClr val="bg1"/>
              </a:solidFill>
            </a:endParaRPr>
          </a:p>
          <a:p>
            <a:r>
              <a:rPr lang="en-US" altLang="zh-CN" sz="800">
                <a:solidFill>
                  <a:schemeClr val="bg1"/>
                </a:solidFill>
              </a:rPr>
              <a:t>)SELECT</a:t>
            </a:r>
            <a:endParaRPr lang="en-US" altLang="zh-CN" sz="800">
              <a:solidFill>
                <a:schemeClr val="bg1"/>
              </a:solidFill>
            </a:endParaRPr>
          </a:p>
          <a:p>
            <a:r>
              <a:rPr lang="en-US" altLang="zh-CN" sz="800">
                <a:solidFill>
                  <a:schemeClr val="bg1"/>
                </a:solidFill>
              </a:rPr>
              <a:t>......</a:t>
            </a:r>
            <a:endParaRPr lang="en-US" altLang="zh-CN" sz="800">
              <a:solidFill>
                <a:schemeClr val="bg1"/>
              </a:solidFill>
            </a:endParaRPr>
          </a:p>
          <a:p>
            <a:r>
              <a:rPr lang="en-US" altLang="zh-CN" sz="800">
                <a:solidFill>
                  <a:schemeClr val="bg1"/>
                </a:solidFill>
              </a:rPr>
              <a:t>LEFT JOIN seller_items si ON si.seller_id = u.id</a:t>
            </a:r>
            <a:endParaRPr lang="en-US" altLang="zh-CN" sz="800">
              <a:solidFill>
                <a:schemeClr val="bg1"/>
              </a:solidFill>
            </a:endParaRPr>
          </a:p>
          <a:p>
            <a:endParaRPr lang="en-US" altLang="zh-CN" sz="80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2558" y="519814"/>
            <a:ext cx="70884" cy="472558"/>
          </a:xfrm>
          <a:custGeom>
            <a:avLst/>
            <a:gdLst/>
            <a:ahLst/>
            <a:cxnLst/>
            <a:rect l="l" t="t" r="r" b="b"/>
            <a:pathLst>
              <a:path w="70884" h="472558">
                <a:moveTo>
                  <a:pt x="0" y="0"/>
                </a:moveTo>
                <a:lnTo>
                  <a:pt x="70884" y="0"/>
                </a:lnTo>
                <a:lnTo>
                  <a:pt x="70884" y="472558"/>
                </a:lnTo>
                <a:lnTo>
                  <a:pt x="0" y="472558"/>
                </a:lnTo>
                <a:lnTo>
                  <a:pt x="0" y="0"/>
                </a:lnTo>
                <a:close/>
              </a:path>
            </a:pathLst>
          </a:custGeom>
          <a:solidFill>
            <a:srgbClr val="4F9A94"/>
          </a:solidFill>
        </p:spPr>
      </p:sp>
      <p:sp>
        <p:nvSpPr>
          <p:cNvPr id="3" name="Text 1"/>
          <p:cNvSpPr/>
          <p:nvPr/>
        </p:nvSpPr>
        <p:spPr>
          <a:xfrm>
            <a:off x="685209" y="472558"/>
            <a:ext cx="4253023" cy="5670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465" b="1" dirty="0">
                <a:solidFill>
                  <a:srgbClr val="E5E7E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系统安全性设计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56093" y="1134140"/>
            <a:ext cx="15145488" cy="3307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60" dirty="0">
                <a:solidFill>
                  <a:srgbClr val="6B728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Security Design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96186" y="1701209"/>
            <a:ext cx="7513674" cy="4961860"/>
          </a:xfrm>
          <a:custGeom>
            <a:avLst/>
            <a:gdLst/>
            <a:ahLst/>
            <a:cxnLst/>
            <a:rect l="l" t="t" r="r" b="b"/>
            <a:pathLst>
              <a:path w="7513674" h="4961860">
                <a:moveTo>
                  <a:pt x="0" y="0"/>
                </a:moveTo>
                <a:lnTo>
                  <a:pt x="7419151" y="0"/>
                </a:lnTo>
                <a:cubicBezTo>
                  <a:pt x="7471355" y="0"/>
                  <a:pt x="7513674" y="42320"/>
                  <a:pt x="7513674" y="94523"/>
                </a:cubicBezTo>
                <a:lnTo>
                  <a:pt x="7513674" y="4867337"/>
                </a:lnTo>
                <a:cubicBezTo>
                  <a:pt x="7513674" y="4919541"/>
                  <a:pt x="7471355" y="4961860"/>
                  <a:pt x="7419151" y="4961860"/>
                </a:cubicBezTo>
                <a:lnTo>
                  <a:pt x="0" y="4961860"/>
                </a:lnTo>
                <a:lnTo>
                  <a:pt x="0" y="0"/>
                </a:lnTo>
                <a:close/>
              </a:path>
            </a:pathLst>
          </a:custGeom>
          <a:solidFill>
            <a:srgbClr val="3D4A5C">
              <a:alpha val="30196"/>
            </a:srgbClr>
          </a:solidFill>
        </p:spPr>
      </p:sp>
      <p:sp>
        <p:nvSpPr>
          <p:cNvPr id="6" name="Shape 4"/>
          <p:cNvSpPr/>
          <p:nvPr/>
        </p:nvSpPr>
        <p:spPr>
          <a:xfrm>
            <a:off x="496186" y="1701209"/>
            <a:ext cx="47256" cy="4961860"/>
          </a:xfrm>
          <a:custGeom>
            <a:avLst/>
            <a:gdLst/>
            <a:ahLst/>
            <a:cxnLst/>
            <a:rect l="l" t="t" r="r" b="b"/>
            <a:pathLst>
              <a:path w="47256" h="4961860">
                <a:moveTo>
                  <a:pt x="0" y="0"/>
                </a:moveTo>
                <a:lnTo>
                  <a:pt x="47256" y="0"/>
                </a:lnTo>
                <a:lnTo>
                  <a:pt x="47256" y="4961860"/>
                </a:lnTo>
                <a:lnTo>
                  <a:pt x="0" y="4961860"/>
                </a:lnTo>
                <a:lnTo>
                  <a:pt x="0" y="0"/>
                </a:lnTo>
                <a:close/>
              </a:path>
            </a:pathLst>
          </a:custGeom>
          <a:solidFill>
            <a:srgbClr val="4F9A94"/>
          </a:solidFill>
        </p:spPr>
      </p:sp>
      <p:sp>
        <p:nvSpPr>
          <p:cNvPr id="7" name="Shape 5"/>
          <p:cNvSpPr/>
          <p:nvPr/>
        </p:nvSpPr>
        <p:spPr>
          <a:xfrm>
            <a:off x="733942" y="1901954"/>
            <a:ext cx="398721" cy="354419"/>
          </a:xfrm>
          <a:custGeom>
            <a:avLst/>
            <a:gdLst/>
            <a:ahLst/>
            <a:cxnLst/>
            <a:rect l="l" t="t" r="r" b="b"/>
            <a:pathLst>
              <a:path w="398721" h="354419">
                <a:moveTo>
                  <a:pt x="155058" y="171672"/>
                </a:moveTo>
                <a:cubicBezTo>
                  <a:pt x="200904" y="171672"/>
                  <a:pt x="238125" y="134450"/>
                  <a:pt x="238125" y="88605"/>
                </a:cubicBezTo>
                <a:cubicBezTo>
                  <a:pt x="238125" y="42759"/>
                  <a:pt x="200904" y="5538"/>
                  <a:pt x="155058" y="5538"/>
                </a:cubicBezTo>
                <a:cubicBezTo>
                  <a:pt x="109212" y="5538"/>
                  <a:pt x="71991" y="42759"/>
                  <a:pt x="71991" y="88605"/>
                </a:cubicBezTo>
                <a:cubicBezTo>
                  <a:pt x="71991" y="134450"/>
                  <a:pt x="109212" y="171672"/>
                  <a:pt x="155058" y="171672"/>
                </a:cubicBezTo>
                <a:close/>
                <a:moveTo>
                  <a:pt x="134499" y="210436"/>
                </a:moveTo>
                <a:cubicBezTo>
                  <a:pt x="66315" y="210436"/>
                  <a:pt x="11076" y="265676"/>
                  <a:pt x="11076" y="333860"/>
                </a:cubicBezTo>
                <a:cubicBezTo>
                  <a:pt x="11076" y="345212"/>
                  <a:pt x="20282" y="354419"/>
                  <a:pt x="31635" y="354419"/>
                </a:cubicBezTo>
                <a:lnTo>
                  <a:pt x="205729" y="354419"/>
                </a:lnTo>
                <a:cubicBezTo>
                  <a:pt x="180670" y="324930"/>
                  <a:pt x="166134" y="286927"/>
                  <a:pt x="166134" y="246709"/>
                </a:cubicBezTo>
                <a:lnTo>
                  <a:pt x="166134" y="225180"/>
                </a:lnTo>
                <a:cubicBezTo>
                  <a:pt x="166134" y="220127"/>
                  <a:pt x="166826" y="215143"/>
                  <a:pt x="168141" y="210436"/>
                </a:cubicBezTo>
                <a:lnTo>
                  <a:pt x="134499" y="210436"/>
                </a:lnTo>
                <a:close/>
                <a:moveTo>
                  <a:pt x="308247" y="338151"/>
                </a:moveTo>
                <a:lnTo>
                  <a:pt x="299041" y="342512"/>
                </a:lnTo>
                <a:lnTo>
                  <a:pt x="299041" y="212305"/>
                </a:lnTo>
                <a:lnTo>
                  <a:pt x="365494" y="234456"/>
                </a:lnTo>
                <a:lnTo>
                  <a:pt x="365494" y="248024"/>
                </a:lnTo>
                <a:cubicBezTo>
                  <a:pt x="365494" y="286650"/>
                  <a:pt x="343205" y="321746"/>
                  <a:pt x="308247" y="338221"/>
                </a:cubicBezTo>
                <a:close/>
                <a:moveTo>
                  <a:pt x="292049" y="179632"/>
                </a:moveTo>
                <a:lnTo>
                  <a:pt x="214520" y="205452"/>
                </a:lnTo>
                <a:cubicBezTo>
                  <a:pt x="205452" y="208498"/>
                  <a:pt x="199360" y="216943"/>
                  <a:pt x="199360" y="226496"/>
                </a:cubicBezTo>
                <a:lnTo>
                  <a:pt x="199360" y="248024"/>
                </a:lnTo>
                <a:cubicBezTo>
                  <a:pt x="199360" y="299525"/>
                  <a:pt x="229126" y="346389"/>
                  <a:pt x="275644" y="368263"/>
                </a:cubicBezTo>
                <a:lnTo>
                  <a:pt x="288450" y="374285"/>
                </a:lnTo>
                <a:cubicBezTo>
                  <a:pt x="291772" y="375808"/>
                  <a:pt x="295372" y="376639"/>
                  <a:pt x="298971" y="376639"/>
                </a:cubicBezTo>
                <a:cubicBezTo>
                  <a:pt x="302571" y="376639"/>
                  <a:pt x="306240" y="375808"/>
                  <a:pt x="309493" y="374285"/>
                </a:cubicBezTo>
                <a:lnTo>
                  <a:pt x="322299" y="368263"/>
                </a:lnTo>
                <a:cubicBezTo>
                  <a:pt x="368955" y="346320"/>
                  <a:pt x="398721" y="299456"/>
                  <a:pt x="398721" y="247955"/>
                </a:cubicBezTo>
                <a:lnTo>
                  <a:pt x="398721" y="226426"/>
                </a:lnTo>
                <a:cubicBezTo>
                  <a:pt x="398721" y="216874"/>
                  <a:pt x="392629" y="208429"/>
                  <a:pt x="383561" y="205383"/>
                </a:cubicBezTo>
                <a:lnTo>
                  <a:pt x="306032" y="179563"/>
                </a:lnTo>
                <a:cubicBezTo>
                  <a:pt x="301463" y="178040"/>
                  <a:pt x="296549" y="178040"/>
                  <a:pt x="292049" y="179563"/>
                </a:cubicBezTo>
                <a:close/>
              </a:path>
            </a:pathLst>
          </a:custGeom>
          <a:solidFill>
            <a:srgbClr val="4F9A94"/>
          </a:solidFill>
        </p:spPr>
      </p:sp>
      <p:sp>
        <p:nvSpPr>
          <p:cNvPr id="8" name="Text 6"/>
          <p:cNvSpPr/>
          <p:nvPr/>
        </p:nvSpPr>
        <p:spPr>
          <a:xfrm>
            <a:off x="1293628" y="1890233"/>
            <a:ext cx="2587256" cy="3780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235" b="1" dirty="0">
                <a:solidFill>
                  <a:srgbClr val="E5E7E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权限控制（RBAC）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14088" y="2462461"/>
            <a:ext cx="7098873" cy="1900734"/>
          </a:xfrm>
          <a:custGeom>
            <a:avLst/>
            <a:gdLst/>
            <a:ahLst/>
            <a:cxnLst/>
            <a:rect l="l" t="t" r="r" b="b"/>
            <a:pathLst>
              <a:path w="7098873" h="1900734">
                <a:moveTo>
                  <a:pt x="94504" y="0"/>
                </a:moveTo>
                <a:lnTo>
                  <a:pt x="7004369" y="0"/>
                </a:lnTo>
                <a:cubicBezTo>
                  <a:pt x="7056562" y="0"/>
                  <a:pt x="7098873" y="42311"/>
                  <a:pt x="7098873" y="94504"/>
                </a:cubicBezTo>
                <a:lnTo>
                  <a:pt x="7098873" y="1806229"/>
                </a:lnTo>
                <a:cubicBezTo>
                  <a:pt x="7098873" y="1858423"/>
                  <a:pt x="7056562" y="1900734"/>
                  <a:pt x="7004369" y="1900734"/>
                </a:cubicBezTo>
                <a:lnTo>
                  <a:pt x="94504" y="1900734"/>
                </a:lnTo>
                <a:cubicBezTo>
                  <a:pt x="42311" y="1900734"/>
                  <a:pt x="0" y="1858423"/>
                  <a:pt x="0" y="1806229"/>
                </a:cubicBezTo>
                <a:lnTo>
                  <a:pt x="0" y="94504"/>
                </a:lnTo>
                <a:cubicBezTo>
                  <a:pt x="0" y="42346"/>
                  <a:pt x="42346" y="0"/>
                  <a:pt x="94504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 w="11289">
            <a:solidFill>
              <a:srgbClr val="6B728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2664" y="2703999"/>
            <a:ext cx="206744" cy="236279"/>
          </a:xfrm>
          <a:custGeom>
            <a:avLst/>
            <a:gdLst/>
            <a:ahLst/>
            <a:cxnLst/>
            <a:rect l="l" t="t" r="r" b="b"/>
            <a:pathLst>
              <a:path w="206744" h="236279">
                <a:moveTo>
                  <a:pt x="103372" y="114448"/>
                </a:moveTo>
                <a:cubicBezTo>
                  <a:pt x="133936" y="114448"/>
                  <a:pt x="158750" y="89634"/>
                  <a:pt x="158750" y="59070"/>
                </a:cubicBezTo>
                <a:cubicBezTo>
                  <a:pt x="158750" y="28506"/>
                  <a:pt x="133936" y="3692"/>
                  <a:pt x="103372" y="3692"/>
                </a:cubicBezTo>
                <a:cubicBezTo>
                  <a:pt x="72808" y="3692"/>
                  <a:pt x="47994" y="28506"/>
                  <a:pt x="47994" y="59070"/>
                </a:cubicBezTo>
                <a:cubicBezTo>
                  <a:pt x="47994" y="89634"/>
                  <a:pt x="72808" y="114448"/>
                  <a:pt x="103372" y="114448"/>
                </a:cubicBezTo>
                <a:close/>
                <a:moveTo>
                  <a:pt x="89666" y="140291"/>
                </a:moveTo>
                <a:cubicBezTo>
                  <a:pt x="44210" y="140291"/>
                  <a:pt x="7384" y="177117"/>
                  <a:pt x="7384" y="222573"/>
                </a:cubicBezTo>
                <a:cubicBezTo>
                  <a:pt x="7384" y="230141"/>
                  <a:pt x="13521" y="236279"/>
                  <a:pt x="21090" y="236279"/>
                </a:cubicBezTo>
                <a:lnTo>
                  <a:pt x="185654" y="236279"/>
                </a:lnTo>
                <a:cubicBezTo>
                  <a:pt x="193223" y="236279"/>
                  <a:pt x="199360" y="230141"/>
                  <a:pt x="199360" y="222573"/>
                </a:cubicBezTo>
                <a:cubicBezTo>
                  <a:pt x="199360" y="177117"/>
                  <a:pt x="162534" y="140291"/>
                  <a:pt x="117078" y="140291"/>
                </a:cubicBezTo>
                <a:lnTo>
                  <a:pt x="89666" y="140291"/>
                </a:lnTo>
                <a:close/>
              </a:path>
            </a:pathLst>
          </a:custGeom>
          <a:solidFill>
            <a:srgbClr val="6B7280"/>
          </a:solidFill>
        </p:spPr>
      </p:sp>
      <p:sp>
        <p:nvSpPr>
          <p:cNvPr id="11" name="Text 9"/>
          <p:cNvSpPr/>
          <p:nvPr/>
        </p:nvSpPr>
        <p:spPr>
          <a:xfrm>
            <a:off x="1345478" y="2656744"/>
            <a:ext cx="956930" cy="3307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75" b="1" dirty="0">
                <a:solidFill>
                  <a:srgbClr val="E5E7E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普通用户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31990" y="3166047"/>
            <a:ext cx="189023" cy="189023"/>
          </a:xfrm>
          <a:custGeom>
            <a:avLst/>
            <a:gdLst/>
            <a:ahLst/>
            <a:cxnLst/>
            <a:rect l="l" t="t" r="r" b="b"/>
            <a:pathLst>
              <a:path w="189023" h="189023">
                <a:moveTo>
                  <a:pt x="153581" y="76791"/>
                </a:moveTo>
                <a:cubicBezTo>
                  <a:pt x="153581" y="93736"/>
                  <a:pt x="148081" y="109390"/>
                  <a:pt x="138814" y="122090"/>
                </a:cubicBezTo>
                <a:lnTo>
                  <a:pt x="185553" y="168866"/>
                </a:lnTo>
                <a:cubicBezTo>
                  <a:pt x="190168" y="173481"/>
                  <a:pt x="190168" y="180975"/>
                  <a:pt x="185553" y="185590"/>
                </a:cubicBezTo>
                <a:cubicBezTo>
                  <a:pt x="180938" y="190205"/>
                  <a:pt x="173444" y="190205"/>
                  <a:pt x="168829" y="185590"/>
                </a:cubicBezTo>
                <a:lnTo>
                  <a:pt x="122090" y="138814"/>
                </a:lnTo>
                <a:cubicBezTo>
                  <a:pt x="109390" y="148081"/>
                  <a:pt x="93736" y="153581"/>
                  <a:pt x="76791" y="153581"/>
                </a:cubicBezTo>
                <a:cubicBezTo>
                  <a:pt x="34371" y="153581"/>
                  <a:pt x="0" y="119210"/>
                  <a:pt x="0" y="76791"/>
                </a:cubicBezTo>
                <a:cubicBezTo>
                  <a:pt x="0" y="34371"/>
                  <a:pt x="34371" y="0"/>
                  <a:pt x="76791" y="0"/>
                </a:cubicBezTo>
                <a:cubicBezTo>
                  <a:pt x="119210" y="0"/>
                  <a:pt x="153581" y="34371"/>
                  <a:pt x="153581" y="76791"/>
                </a:cubicBezTo>
                <a:close/>
                <a:moveTo>
                  <a:pt x="76791" y="129953"/>
                </a:moveTo>
                <a:cubicBezTo>
                  <a:pt x="106132" y="129953"/>
                  <a:pt x="129953" y="106132"/>
                  <a:pt x="129953" y="76791"/>
                </a:cubicBezTo>
                <a:cubicBezTo>
                  <a:pt x="129953" y="47449"/>
                  <a:pt x="106132" y="23628"/>
                  <a:pt x="76791" y="23628"/>
                </a:cubicBezTo>
                <a:cubicBezTo>
                  <a:pt x="47449" y="23628"/>
                  <a:pt x="23628" y="47449"/>
                  <a:pt x="23628" y="76791"/>
                </a:cubicBezTo>
                <a:cubicBezTo>
                  <a:pt x="23628" y="106132"/>
                  <a:pt x="47449" y="129953"/>
                  <a:pt x="76791" y="129953"/>
                </a:cubicBezTo>
                <a:close/>
              </a:path>
            </a:pathLst>
          </a:custGeom>
          <a:solidFill>
            <a:srgbClr val="6B7280"/>
          </a:solidFill>
        </p:spPr>
      </p:sp>
      <p:sp>
        <p:nvSpPr>
          <p:cNvPr id="13" name="Text 11"/>
          <p:cNvSpPr/>
          <p:nvPr/>
        </p:nvSpPr>
        <p:spPr>
          <a:xfrm>
            <a:off x="1232559" y="3129302"/>
            <a:ext cx="6480640" cy="2835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90" b="1" dirty="0">
                <a:solidFill>
                  <a:srgbClr val="6B728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读取数据</a:t>
            </a:r>
            <a:r>
              <a:rPr lang="en-US" sz="1490" dirty="0">
                <a:solidFill>
                  <a:srgbClr val="E5E7EB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：查询商品、查看交易记录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31990" y="3544094"/>
            <a:ext cx="189023" cy="189023"/>
          </a:xfrm>
          <a:custGeom>
            <a:avLst/>
            <a:gdLst/>
            <a:ahLst/>
            <a:cxnLst/>
            <a:rect l="l" t="t" r="r" b="b"/>
            <a:pathLst>
              <a:path w="189023" h="189023">
                <a:moveTo>
                  <a:pt x="174108" y="8011"/>
                </a:moveTo>
                <a:cubicBezTo>
                  <a:pt x="166023" y="-74"/>
                  <a:pt x="152954" y="-74"/>
                  <a:pt x="144869" y="8011"/>
                </a:cubicBezTo>
                <a:lnTo>
                  <a:pt x="135860" y="17019"/>
                </a:lnTo>
                <a:lnTo>
                  <a:pt x="172004" y="53163"/>
                </a:lnTo>
                <a:lnTo>
                  <a:pt x="181012" y="44155"/>
                </a:lnTo>
                <a:cubicBezTo>
                  <a:pt x="189097" y="36069"/>
                  <a:pt x="189097" y="23000"/>
                  <a:pt x="181012" y="14915"/>
                </a:cubicBezTo>
                <a:lnTo>
                  <a:pt x="174108" y="8011"/>
                </a:lnTo>
                <a:close/>
                <a:moveTo>
                  <a:pt x="63648" y="89232"/>
                </a:moveTo>
                <a:cubicBezTo>
                  <a:pt x="61396" y="91484"/>
                  <a:pt x="59660" y="94253"/>
                  <a:pt x="58664" y="97317"/>
                </a:cubicBezTo>
                <a:lnTo>
                  <a:pt x="47736" y="130101"/>
                </a:lnTo>
                <a:cubicBezTo>
                  <a:pt x="46665" y="133276"/>
                  <a:pt x="47514" y="136783"/>
                  <a:pt x="49877" y="139183"/>
                </a:cubicBezTo>
                <a:cubicBezTo>
                  <a:pt x="52240" y="141583"/>
                  <a:pt x="55747" y="142395"/>
                  <a:pt x="58959" y="141324"/>
                </a:cubicBezTo>
                <a:lnTo>
                  <a:pt x="91743" y="130397"/>
                </a:lnTo>
                <a:cubicBezTo>
                  <a:pt x="94770" y="129400"/>
                  <a:pt x="97539" y="127665"/>
                  <a:pt x="99828" y="125412"/>
                </a:cubicBezTo>
                <a:lnTo>
                  <a:pt x="159488" y="65678"/>
                </a:lnTo>
                <a:lnTo>
                  <a:pt x="123345" y="29535"/>
                </a:lnTo>
                <a:lnTo>
                  <a:pt x="63648" y="89232"/>
                </a:lnTo>
                <a:close/>
                <a:moveTo>
                  <a:pt x="35442" y="23628"/>
                </a:moveTo>
                <a:cubicBezTo>
                  <a:pt x="15875" y="23628"/>
                  <a:pt x="0" y="39503"/>
                  <a:pt x="0" y="59070"/>
                </a:cubicBezTo>
                <a:lnTo>
                  <a:pt x="0" y="153581"/>
                </a:lnTo>
                <a:cubicBezTo>
                  <a:pt x="0" y="173148"/>
                  <a:pt x="15875" y="189023"/>
                  <a:pt x="35442" y="189023"/>
                </a:cubicBezTo>
                <a:lnTo>
                  <a:pt x="129953" y="189023"/>
                </a:lnTo>
                <a:cubicBezTo>
                  <a:pt x="149520" y="189023"/>
                  <a:pt x="165395" y="173148"/>
                  <a:pt x="165395" y="153581"/>
                </a:cubicBezTo>
                <a:lnTo>
                  <a:pt x="165395" y="118140"/>
                </a:lnTo>
                <a:cubicBezTo>
                  <a:pt x="165395" y="111605"/>
                  <a:pt x="160116" y="106326"/>
                  <a:pt x="153581" y="106326"/>
                </a:cubicBezTo>
                <a:cubicBezTo>
                  <a:pt x="147047" y="106326"/>
                  <a:pt x="141767" y="111605"/>
                  <a:pt x="141767" y="118140"/>
                </a:cubicBezTo>
                <a:lnTo>
                  <a:pt x="141767" y="153581"/>
                </a:lnTo>
                <a:cubicBezTo>
                  <a:pt x="141767" y="160116"/>
                  <a:pt x="136488" y="165395"/>
                  <a:pt x="129953" y="165395"/>
                </a:cubicBezTo>
                <a:lnTo>
                  <a:pt x="35442" y="165395"/>
                </a:lnTo>
                <a:cubicBezTo>
                  <a:pt x="28907" y="165395"/>
                  <a:pt x="23628" y="160116"/>
                  <a:pt x="23628" y="153581"/>
                </a:cubicBezTo>
                <a:lnTo>
                  <a:pt x="23628" y="59070"/>
                </a:lnTo>
                <a:cubicBezTo>
                  <a:pt x="23628" y="52535"/>
                  <a:pt x="28907" y="47256"/>
                  <a:pt x="35442" y="47256"/>
                </a:cubicBezTo>
                <a:lnTo>
                  <a:pt x="70884" y="47256"/>
                </a:lnTo>
                <a:cubicBezTo>
                  <a:pt x="77418" y="47256"/>
                  <a:pt x="82698" y="41976"/>
                  <a:pt x="82698" y="35442"/>
                </a:cubicBezTo>
                <a:cubicBezTo>
                  <a:pt x="82698" y="28907"/>
                  <a:pt x="77418" y="23628"/>
                  <a:pt x="70884" y="23628"/>
                </a:cubicBezTo>
                <a:lnTo>
                  <a:pt x="35442" y="23628"/>
                </a:lnTo>
                <a:close/>
              </a:path>
            </a:pathLst>
          </a:custGeom>
          <a:solidFill>
            <a:srgbClr val="6B7280"/>
          </a:solidFill>
        </p:spPr>
      </p:sp>
      <p:sp>
        <p:nvSpPr>
          <p:cNvPr id="15" name="Text 13"/>
          <p:cNvSpPr/>
          <p:nvPr/>
        </p:nvSpPr>
        <p:spPr>
          <a:xfrm>
            <a:off x="1232559" y="3507348"/>
            <a:ext cx="6480640" cy="2835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90" b="1" dirty="0">
                <a:solidFill>
                  <a:srgbClr val="6B728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写入数据</a:t>
            </a:r>
            <a:r>
              <a:rPr lang="en-US" sz="1490" dirty="0">
                <a:solidFill>
                  <a:srgbClr val="E5E7EB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：发布商品、下单交易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31990" y="3922140"/>
            <a:ext cx="189023" cy="189023"/>
          </a:xfrm>
          <a:custGeom>
            <a:avLst/>
            <a:gdLst/>
            <a:ahLst/>
            <a:cxnLst/>
            <a:rect l="l" t="t" r="r" b="b"/>
            <a:pathLst>
              <a:path w="189023" h="189023">
                <a:moveTo>
                  <a:pt x="135565" y="152289"/>
                </a:moveTo>
                <a:lnTo>
                  <a:pt x="36734" y="53458"/>
                </a:lnTo>
                <a:cubicBezTo>
                  <a:pt x="28464" y="65051"/>
                  <a:pt x="23628" y="79227"/>
                  <a:pt x="23628" y="94512"/>
                </a:cubicBezTo>
                <a:cubicBezTo>
                  <a:pt x="23628" y="133645"/>
                  <a:pt x="55378" y="165395"/>
                  <a:pt x="94512" y="165395"/>
                </a:cubicBezTo>
                <a:cubicBezTo>
                  <a:pt x="109833" y="165395"/>
                  <a:pt x="124010" y="160559"/>
                  <a:pt x="135565" y="152289"/>
                </a:cubicBezTo>
                <a:close/>
                <a:moveTo>
                  <a:pt x="152289" y="135565"/>
                </a:moveTo>
                <a:cubicBezTo>
                  <a:pt x="160559" y="123973"/>
                  <a:pt x="165395" y="109796"/>
                  <a:pt x="165395" y="94512"/>
                </a:cubicBezTo>
                <a:cubicBezTo>
                  <a:pt x="165395" y="55378"/>
                  <a:pt x="133645" y="23628"/>
                  <a:pt x="94512" y="23628"/>
                </a:cubicBezTo>
                <a:cubicBezTo>
                  <a:pt x="79190" y="23628"/>
                  <a:pt x="65014" y="28464"/>
                  <a:pt x="53458" y="36734"/>
                </a:cubicBezTo>
                <a:lnTo>
                  <a:pt x="152289" y="135565"/>
                </a:lnTo>
                <a:close/>
                <a:moveTo>
                  <a:pt x="0" y="94512"/>
                </a:moveTo>
                <a:cubicBezTo>
                  <a:pt x="0" y="42349"/>
                  <a:pt x="42349" y="0"/>
                  <a:pt x="94512" y="0"/>
                </a:cubicBezTo>
                <a:cubicBezTo>
                  <a:pt x="146674" y="0"/>
                  <a:pt x="189023" y="42349"/>
                  <a:pt x="189023" y="94512"/>
                </a:cubicBezTo>
                <a:cubicBezTo>
                  <a:pt x="189023" y="146674"/>
                  <a:pt x="146674" y="189023"/>
                  <a:pt x="94512" y="189023"/>
                </a:cubicBezTo>
                <a:cubicBezTo>
                  <a:pt x="42349" y="189023"/>
                  <a:pt x="0" y="146674"/>
                  <a:pt x="0" y="94512"/>
                </a:cubicBezTo>
                <a:close/>
              </a:path>
            </a:pathLst>
          </a:custGeom>
          <a:solidFill>
            <a:srgbClr val="6B7280"/>
          </a:solidFill>
        </p:spPr>
      </p:sp>
      <p:sp>
        <p:nvSpPr>
          <p:cNvPr id="17" name="Text 15"/>
          <p:cNvSpPr/>
          <p:nvPr/>
        </p:nvSpPr>
        <p:spPr>
          <a:xfrm>
            <a:off x="1232559" y="3885395"/>
            <a:ext cx="6480640" cy="2835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90" b="1" dirty="0">
                <a:solidFill>
                  <a:srgbClr val="6B728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禁止操作</a:t>
            </a:r>
            <a:r>
              <a:rPr lang="en-US" sz="1490" dirty="0">
                <a:solidFill>
                  <a:srgbClr val="E5E7EB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：同步控制、冲突处理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14088" y="4562725"/>
            <a:ext cx="7098873" cy="1900734"/>
          </a:xfrm>
          <a:custGeom>
            <a:avLst/>
            <a:gdLst/>
            <a:ahLst/>
            <a:cxnLst/>
            <a:rect l="l" t="t" r="r" b="b"/>
            <a:pathLst>
              <a:path w="7098873" h="1900734">
                <a:moveTo>
                  <a:pt x="94504" y="0"/>
                </a:moveTo>
                <a:lnTo>
                  <a:pt x="7004369" y="0"/>
                </a:lnTo>
                <a:cubicBezTo>
                  <a:pt x="7056562" y="0"/>
                  <a:pt x="7098873" y="42311"/>
                  <a:pt x="7098873" y="94504"/>
                </a:cubicBezTo>
                <a:lnTo>
                  <a:pt x="7098873" y="1806229"/>
                </a:lnTo>
                <a:cubicBezTo>
                  <a:pt x="7098873" y="1858423"/>
                  <a:pt x="7056562" y="1900734"/>
                  <a:pt x="7004369" y="1900734"/>
                </a:cubicBezTo>
                <a:lnTo>
                  <a:pt x="94504" y="1900734"/>
                </a:lnTo>
                <a:cubicBezTo>
                  <a:pt x="42311" y="1900734"/>
                  <a:pt x="0" y="1858423"/>
                  <a:pt x="0" y="1806229"/>
                </a:cubicBezTo>
                <a:lnTo>
                  <a:pt x="0" y="94504"/>
                </a:lnTo>
                <a:cubicBezTo>
                  <a:pt x="0" y="42346"/>
                  <a:pt x="42346" y="0"/>
                  <a:pt x="94504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 w="11289">
            <a:solidFill>
              <a:srgbClr val="4F9A9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52664" y="4804253"/>
            <a:ext cx="206744" cy="236279"/>
          </a:xfrm>
          <a:custGeom>
            <a:avLst/>
            <a:gdLst/>
            <a:ahLst/>
            <a:cxnLst/>
            <a:rect l="l" t="t" r="r" b="b"/>
            <a:pathLst>
              <a:path w="206744" h="236279">
                <a:moveTo>
                  <a:pt x="103372" y="114448"/>
                </a:moveTo>
                <a:cubicBezTo>
                  <a:pt x="72808" y="114448"/>
                  <a:pt x="47994" y="89634"/>
                  <a:pt x="47994" y="59070"/>
                </a:cubicBezTo>
                <a:cubicBezTo>
                  <a:pt x="47994" y="28506"/>
                  <a:pt x="72808" y="3692"/>
                  <a:pt x="103372" y="3692"/>
                </a:cubicBezTo>
                <a:cubicBezTo>
                  <a:pt x="133936" y="3692"/>
                  <a:pt x="158750" y="28506"/>
                  <a:pt x="158750" y="59070"/>
                </a:cubicBezTo>
                <a:cubicBezTo>
                  <a:pt x="158750" y="89634"/>
                  <a:pt x="133936" y="114448"/>
                  <a:pt x="103372" y="114448"/>
                </a:cubicBezTo>
                <a:close/>
                <a:moveTo>
                  <a:pt x="89297" y="140291"/>
                </a:moveTo>
                <a:lnTo>
                  <a:pt x="117447" y="140291"/>
                </a:lnTo>
                <a:cubicBezTo>
                  <a:pt x="121924" y="140291"/>
                  <a:pt x="125523" y="143890"/>
                  <a:pt x="125523" y="148367"/>
                </a:cubicBezTo>
                <a:cubicBezTo>
                  <a:pt x="125523" y="150305"/>
                  <a:pt x="124831" y="152151"/>
                  <a:pt x="123585" y="153628"/>
                </a:cubicBezTo>
                <a:lnTo>
                  <a:pt x="110940" y="168395"/>
                </a:lnTo>
                <a:lnTo>
                  <a:pt x="125246" y="221512"/>
                </a:lnTo>
                <a:lnTo>
                  <a:pt x="125523" y="221512"/>
                </a:lnTo>
                <a:lnTo>
                  <a:pt x="141491" y="157596"/>
                </a:lnTo>
                <a:cubicBezTo>
                  <a:pt x="142506" y="153581"/>
                  <a:pt x="146613" y="151136"/>
                  <a:pt x="150489" y="152612"/>
                </a:cubicBezTo>
                <a:cubicBezTo>
                  <a:pt x="179055" y="163503"/>
                  <a:pt x="199360" y="191192"/>
                  <a:pt x="199360" y="223588"/>
                </a:cubicBezTo>
                <a:cubicBezTo>
                  <a:pt x="199360" y="230557"/>
                  <a:pt x="193684" y="236233"/>
                  <a:pt x="186716" y="236233"/>
                </a:cubicBezTo>
                <a:lnTo>
                  <a:pt x="20028" y="236279"/>
                </a:lnTo>
                <a:cubicBezTo>
                  <a:pt x="13060" y="236279"/>
                  <a:pt x="7384" y="230603"/>
                  <a:pt x="7384" y="223634"/>
                </a:cubicBezTo>
                <a:cubicBezTo>
                  <a:pt x="7384" y="191238"/>
                  <a:pt x="27689" y="163549"/>
                  <a:pt x="56255" y="152658"/>
                </a:cubicBezTo>
                <a:cubicBezTo>
                  <a:pt x="60131" y="151182"/>
                  <a:pt x="64238" y="153628"/>
                  <a:pt x="65254" y="157642"/>
                </a:cubicBezTo>
                <a:lnTo>
                  <a:pt x="81221" y="221558"/>
                </a:lnTo>
                <a:lnTo>
                  <a:pt x="81498" y="221558"/>
                </a:lnTo>
                <a:lnTo>
                  <a:pt x="95804" y="168441"/>
                </a:lnTo>
                <a:lnTo>
                  <a:pt x="83159" y="153674"/>
                </a:lnTo>
                <a:cubicBezTo>
                  <a:pt x="81913" y="152197"/>
                  <a:pt x="81221" y="150351"/>
                  <a:pt x="81221" y="148413"/>
                </a:cubicBezTo>
                <a:cubicBezTo>
                  <a:pt x="81221" y="143936"/>
                  <a:pt x="84820" y="140337"/>
                  <a:pt x="89297" y="140337"/>
                </a:cubicBezTo>
                <a:close/>
              </a:path>
            </a:pathLst>
          </a:custGeom>
          <a:solidFill>
            <a:srgbClr val="4F9A94"/>
          </a:solidFill>
        </p:spPr>
      </p:sp>
      <p:sp>
        <p:nvSpPr>
          <p:cNvPr id="20" name="Text 18"/>
          <p:cNvSpPr/>
          <p:nvPr/>
        </p:nvSpPr>
        <p:spPr>
          <a:xfrm>
            <a:off x="1345478" y="4756997"/>
            <a:ext cx="744279" cy="3307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75" b="1" dirty="0">
                <a:solidFill>
                  <a:srgbClr val="E5E7E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管理员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31990" y="5266312"/>
            <a:ext cx="189023" cy="189023"/>
          </a:xfrm>
          <a:custGeom>
            <a:avLst/>
            <a:gdLst/>
            <a:ahLst/>
            <a:cxnLst/>
            <a:rect l="l" t="t" r="r" b="b"/>
            <a:pathLst>
              <a:path w="189023" h="189023">
                <a:moveTo>
                  <a:pt x="24329" y="84359"/>
                </a:moveTo>
                <a:cubicBezTo>
                  <a:pt x="29240" y="50025"/>
                  <a:pt x="58811" y="23628"/>
                  <a:pt x="94512" y="23628"/>
                </a:cubicBezTo>
                <a:cubicBezTo>
                  <a:pt x="114078" y="23628"/>
                  <a:pt x="131799" y="31565"/>
                  <a:pt x="144647" y="44376"/>
                </a:cubicBezTo>
                <a:cubicBezTo>
                  <a:pt x="144721" y="44450"/>
                  <a:pt x="144795" y="44524"/>
                  <a:pt x="144869" y="44598"/>
                </a:cubicBezTo>
                <a:lnTo>
                  <a:pt x="147674" y="47256"/>
                </a:lnTo>
                <a:lnTo>
                  <a:pt x="129990" y="47256"/>
                </a:lnTo>
                <a:cubicBezTo>
                  <a:pt x="123456" y="47256"/>
                  <a:pt x="118176" y="52535"/>
                  <a:pt x="118176" y="59070"/>
                </a:cubicBezTo>
                <a:cubicBezTo>
                  <a:pt x="118176" y="65604"/>
                  <a:pt x="123456" y="70884"/>
                  <a:pt x="129990" y="70884"/>
                </a:cubicBezTo>
                <a:lnTo>
                  <a:pt x="177246" y="70884"/>
                </a:lnTo>
                <a:cubicBezTo>
                  <a:pt x="183781" y="70884"/>
                  <a:pt x="189060" y="65604"/>
                  <a:pt x="189060" y="59070"/>
                </a:cubicBezTo>
                <a:lnTo>
                  <a:pt x="189060" y="11814"/>
                </a:lnTo>
                <a:cubicBezTo>
                  <a:pt x="189060" y="5279"/>
                  <a:pt x="183781" y="0"/>
                  <a:pt x="177246" y="0"/>
                </a:cubicBezTo>
                <a:cubicBezTo>
                  <a:pt x="170712" y="0"/>
                  <a:pt x="165432" y="5279"/>
                  <a:pt x="165432" y="11814"/>
                </a:cubicBezTo>
                <a:lnTo>
                  <a:pt x="165432" y="31528"/>
                </a:lnTo>
                <a:lnTo>
                  <a:pt x="161260" y="27578"/>
                </a:lnTo>
                <a:cubicBezTo>
                  <a:pt x="144167" y="10559"/>
                  <a:pt x="120539" y="0"/>
                  <a:pt x="94512" y="0"/>
                </a:cubicBezTo>
                <a:cubicBezTo>
                  <a:pt x="46887" y="0"/>
                  <a:pt x="7494" y="35220"/>
                  <a:pt x="960" y="81036"/>
                </a:cubicBezTo>
                <a:cubicBezTo>
                  <a:pt x="37" y="87497"/>
                  <a:pt x="4504" y="93478"/>
                  <a:pt x="10965" y="94401"/>
                </a:cubicBezTo>
                <a:cubicBezTo>
                  <a:pt x="17426" y="95324"/>
                  <a:pt x="23406" y="90820"/>
                  <a:pt x="24329" y="84396"/>
                </a:cubicBezTo>
                <a:close/>
                <a:moveTo>
                  <a:pt x="188063" y="107987"/>
                </a:moveTo>
                <a:cubicBezTo>
                  <a:pt x="188986" y="101526"/>
                  <a:pt x="184482" y="95545"/>
                  <a:pt x="178058" y="94622"/>
                </a:cubicBezTo>
                <a:cubicBezTo>
                  <a:pt x="171635" y="93699"/>
                  <a:pt x="165617" y="98203"/>
                  <a:pt x="164694" y="104627"/>
                </a:cubicBezTo>
                <a:cubicBezTo>
                  <a:pt x="159784" y="138962"/>
                  <a:pt x="130212" y="165358"/>
                  <a:pt x="94512" y="165358"/>
                </a:cubicBezTo>
                <a:cubicBezTo>
                  <a:pt x="74945" y="165358"/>
                  <a:pt x="57224" y="157421"/>
                  <a:pt x="44376" y="144610"/>
                </a:cubicBezTo>
                <a:cubicBezTo>
                  <a:pt x="44302" y="144536"/>
                  <a:pt x="44228" y="144463"/>
                  <a:pt x="44155" y="144389"/>
                </a:cubicBezTo>
                <a:lnTo>
                  <a:pt x="41349" y="141731"/>
                </a:lnTo>
                <a:lnTo>
                  <a:pt x="59033" y="141731"/>
                </a:lnTo>
                <a:cubicBezTo>
                  <a:pt x="65567" y="141731"/>
                  <a:pt x="70847" y="136451"/>
                  <a:pt x="70847" y="129917"/>
                </a:cubicBezTo>
                <a:cubicBezTo>
                  <a:pt x="70847" y="123382"/>
                  <a:pt x="65567" y="118103"/>
                  <a:pt x="59033" y="118103"/>
                </a:cubicBezTo>
                <a:lnTo>
                  <a:pt x="11814" y="118140"/>
                </a:lnTo>
                <a:cubicBezTo>
                  <a:pt x="8676" y="118140"/>
                  <a:pt x="5649" y="119395"/>
                  <a:pt x="3433" y="121647"/>
                </a:cubicBezTo>
                <a:cubicBezTo>
                  <a:pt x="1218" y="123899"/>
                  <a:pt x="-37" y="126889"/>
                  <a:pt x="0" y="130064"/>
                </a:cubicBezTo>
                <a:lnTo>
                  <a:pt x="369" y="176951"/>
                </a:lnTo>
                <a:cubicBezTo>
                  <a:pt x="406" y="183485"/>
                  <a:pt x="5759" y="188728"/>
                  <a:pt x="12294" y="188654"/>
                </a:cubicBezTo>
                <a:cubicBezTo>
                  <a:pt x="18828" y="188580"/>
                  <a:pt x="24071" y="183264"/>
                  <a:pt x="23997" y="176729"/>
                </a:cubicBezTo>
                <a:lnTo>
                  <a:pt x="23849" y="157716"/>
                </a:lnTo>
                <a:lnTo>
                  <a:pt x="27800" y="161445"/>
                </a:lnTo>
                <a:cubicBezTo>
                  <a:pt x="44893" y="178465"/>
                  <a:pt x="68484" y="189023"/>
                  <a:pt x="94512" y="189023"/>
                </a:cubicBezTo>
                <a:cubicBezTo>
                  <a:pt x="142137" y="189023"/>
                  <a:pt x="181529" y="153803"/>
                  <a:pt x="188063" y="107987"/>
                </a:cubicBezTo>
                <a:close/>
              </a:path>
            </a:pathLst>
          </a:custGeom>
          <a:solidFill>
            <a:srgbClr val="4F9A94"/>
          </a:solidFill>
        </p:spPr>
      </p:sp>
      <p:sp>
        <p:nvSpPr>
          <p:cNvPr id="22" name="Text 20"/>
          <p:cNvSpPr/>
          <p:nvPr/>
        </p:nvSpPr>
        <p:spPr>
          <a:xfrm>
            <a:off x="1232559" y="5229555"/>
            <a:ext cx="6480640" cy="2835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90" b="1" dirty="0">
                <a:solidFill>
                  <a:srgbClr val="4F9A9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同步控制</a:t>
            </a:r>
            <a:r>
              <a:rPr lang="en-US" sz="1490" dirty="0">
                <a:solidFill>
                  <a:srgbClr val="E5E7EB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：配置同步模式、启停同步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31990" y="5644359"/>
            <a:ext cx="189023" cy="189023"/>
          </a:xfrm>
          <a:custGeom>
            <a:avLst/>
            <a:gdLst/>
            <a:ahLst/>
            <a:cxnLst/>
            <a:rect l="l" t="t" r="r" b="b"/>
            <a:pathLst>
              <a:path w="189023" h="189023">
                <a:moveTo>
                  <a:pt x="94512" y="0"/>
                </a:moveTo>
                <a:cubicBezTo>
                  <a:pt x="99939" y="0"/>
                  <a:pt x="104923" y="2990"/>
                  <a:pt x="107507" y="7753"/>
                </a:cubicBezTo>
                <a:lnTo>
                  <a:pt x="187251" y="155427"/>
                </a:lnTo>
                <a:cubicBezTo>
                  <a:pt x="189725" y="160005"/>
                  <a:pt x="189614" y="165543"/>
                  <a:pt x="186956" y="170010"/>
                </a:cubicBezTo>
                <a:cubicBezTo>
                  <a:pt x="184298" y="174477"/>
                  <a:pt x="179461" y="177209"/>
                  <a:pt x="174256" y="177209"/>
                </a:cubicBezTo>
                <a:lnTo>
                  <a:pt x="14767" y="177209"/>
                </a:lnTo>
                <a:cubicBezTo>
                  <a:pt x="9562" y="177209"/>
                  <a:pt x="4762" y="174477"/>
                  <a:pt x="2067" y="170010"/>
                </a:cubicBezTo>
                <a:cubicBezTo>
                  <a:pt x="-628" y="165543"/>
                  <a:pt x="-701" y="160005"/>
                  <a:pt x="1772" y="155427"/>
                </a:cubicBezTo>
                <a:lnTo>
                  <a:pt x="81516" y="7753"/>
                </a:lnTo>
                <a:cubicBezTo>
                  <a:pt x="84101" y="2990"/>
                  <a:pt x="89085" y="0"/>
                  <a:pt x="94512" y="0"/>
                </a:cubicBezTo>
                <a:close/>
                <a:moveTo>
                  <a:pt x="94512" y="62023"/>
                </a:moveTo>
                <a:cubicBezTo>
                  <a:pt x="89601" y="62023"/>
                  <a:pt x="85651" y="65974"/>
                  <a:pt x="85651" y="70884"/>
                </a:cubicBezTo>
                <a:lnTo>
                  <a:pt x="85651" y="112233"/>
                </a:lnTo>
                <a:cubicBezTo>
                  <a:pt x="85651" y="117143"/>
                  <a:pt x="89601" y="121093"/>
                  <a:pt x="94512" y="121093"/>
                </a:cubicBezTo>
                <a:cubicBezTo>
                  <a:pt x="99422" y="121093"/>
                  <a:pt x="103372" y="117143"/>
                  <a:pt x="103372" y="112233"/>
                </a:cubicBezTo>
                <a:lnTo>
                  <a:pt x="103372" y="70884"/>
                </a:lnTo>
                <a:cubicBezTo>
                  <a:pt x="103372" y="65974"/>
                  <a:pt x="99422" y="62023"/>
                  <a:pt x="94512" y="62023"/>
                </a:cubicBezTo>
                <a:close/>
                <a:moveTo>
                  <a:pt x="104369" y="141767"/>
                </a:moveTo>
                <a:cubicBezTo>
                  <a:pt x="104593" y="138109"/>
                  <a:pt x="102768" y="134627"/>
                  <a:pt x="99632" y="132730"/>
                </a:cubicBezTo>
                <a:cubicBezTo>
                  <a:pt x="96495" y="130833"/>
                  <a:pt x="92565" y="130833"/>
                  <a:pt x="89428" y="132730"/>
                </a:cubicBezTo>
                <a:cubicBezTo>
                  <a:pt x="86292" y="134627"/>
                  <a:pt x="84467" y="138109"/>
                  <a:pt x="84691" y="141767"/>
                </a:cubicBezTo>
                <a:cubicBezTo>
                  <a:pt x="84467" y="145426"/>
                  <a:pt x="86292" y="148907"/>
                  <a:pt x="89428" y="150805"/>
                </a:cubicBezTo>
                <a:cubicBezTo>
                  <a:pt x="92565" y="152702"/>
                  <a:pt x="96495" y="152702"/>
                  <a:pt x="99632" y="150805"/>
                </a:cubicBezTo>
                <a:cubicBezTo>
                  <a:pt x="102768" y="148907"/>
                  <a:pt x="104593" y="145426"/>
                  <a:pt x="104369" y="141767"/>
                </a:cubicBezTo>
                <a:close/>
              </a:path>
            </a:pathLst>
          </a:custGeom>
          <a:solidFill>
            <a:srgbClr val="4F9A94"/>
          </a:solidFill>
        </p:spPr>
      </p:sp>
      <p:sp>
        <p:nvSpPr>
          <p:cNvPr id="24" name="Text 22"/>
          <p:cNvSpPr/>
          <p:nvPr/>
        </p:nvSpPr>
        <p:spPr>
          <a:xfrm>
            <a:off x="1232559" y="5607601"/>
            <a:ext cx="6480640" cy="2835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90" b="1" dirty="0">
                <a:solidFill>
                  <a:srgbClr val="4F9A9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冲突处理</a:t>
            </a:r>
            <a:r>
              <a:rPr lang="en-US" sz="1490" dirty="0">
                <a:solidFill>
                  <a:srgbClr val="E5E7EB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：查看冲突、执行修复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31990" y="6022405"/>
            <a:ext cx="189023" cy="189023"/>
          </a:xfrm>
          <a:custGeom>
            <a:avLst/>
            <a:gdLst/>
            <a:ahLst/>
            <a:cxnLst/>
            <a:rect l="l" t="t" r="r" b="b"/>
            <a:pathLst>
              <a:path w="189023" h="189023">
                <a:moveTo>
                  <a:pt x="11814" y="11814"/>
                </a:moveTo>
                <a:cubicBezTo>
                  <a:pt x="18349" y="11814"/>
                  <a:pt x="23628" y="17093"/>
                  <a:pt x="23628" y="23628"/>
                </a:cubicBezTo>
                <a:lnTo>
                  <a:pt x="23628" y="147674"/>
                </a:lnTo>
                <a:cubicBezTo>
                  <a:pt x="23628" y="150923"/>
                  <a:pt x="26286" y="153581"/>
                  <a:pt x="29535" y="153581"/>
                </a:cubicBezTo>
                <a:lnTo>
                  <a:pt x="177209" y="153581"/>
                </a:lnTo>
                <a:cubicBezTo>
                  <a:pt x="183744" y="153581"/>
                  <a:pt x="189023" y="158861"/>
                  <a:pt x="189023" y="165395"/>
                </a:cubicBezTo>
                <a:cubicBezTo>
                  <a:pt x="189023" y="171930"/>
                  <a:pt x="183744" y="177209"/>
                  <a:pt x="177209" y="177209"/>
                </a:cubicBezTo>
                <a:lnTo>
                  <a:pt x="29535" y="177209"/>
                </a:lnTo>
                <a:cubicBezTo>
                  <a:pt x="13217" y="177209"/>
                  <a:pt x="0" y="163992"/>
                  <a:pt x="0" y="147674"/>
                </a:cubicBezTo>
                <a:lnTo>
                  <a:pt x="0" y="23628"/>
                </a:lnTo>
                <a:cubicBezTo>
                  <a:pt x="0" y="17093"/>
                  <a:pt x="5279" y="11814"/>
                  <a:pt x="11814" y="11814"/>
                </a:cubicBezTo>
                <a:close/>
                <a:moveTo>
                  <a:pt x="47256" y="35442"/>
                </a:moveTo>
                <a:cubicBezTo>
                  <a:pt x="47256" y="28907"/>
                  <a:pt x="52535" y="23628"/>
                  <a:pt x="59070" y="23628"/>
                </a:cubicBezTo>
                <a:lnTo>
                  <a:pt x="129953" y="23628"/>
                </a:lnTo>
                <a:cubicBezTo>
                  <a:pt x="136488" y="23628"/>
                  <a:pt x="141767" y="28907"/>
                  <a:pt x="141767" y="35442"/>
                </a:cubicBezTo>
                <a:cubicBezTo>
                  <a:pt x="141767" y="41976"/>
                  <a:pt x="136488" y="47256"/>
                  <a:pt x="129953" y="47256"/>
                </a:cubicBezTo>
                <a:lnTo>
                  <a:pt x="59070" y="47256"/>
                </a:lnTo>
                <a:cubicBezTo>
                  <a:pt x="52535" y="47256"/>
                  <a:pt x="47256" y="41976"/>
                  <a:pt x="47256" y="35442"/>
                </a:cubicBezTo>
                <a:close/>
                <a:moveTo>
                  <a:pt x="59070" y="64977"/>
                </a:moveTo>
                <a:lnTo>
                  <a:pt x="106326" y="64977"/>
                </a:lnTo>
                <a:cubicBezTo>
                  <a:pt x="112860" y="64977"/>
                  <a:pt x="118140" y="70256"/>
                  <a:pt x="118140" y="76791"/>
                </a:cubicBezTo>
                <a:cubicBezTo>
                  <a:pt x="118140" y="83325"/>
                  <a:pt x="112860" y="88605"/>
                  <a:pt x="106326" y="88605"/>
                </a:cubicBezTo>
                <a:lnTo>
                  <a:pt x="59070" y="88605"/>
                </a:lnTo>
                <a:cubicBezTo>
                  <a:pt x="52535" y="88605"/>
                  <a:pt x="47256" y="83325"/>
                  <a:pt x="47256" y="76791"/>
                </a:cubicBezTo>
                <a:cubicBezTo>
                  <a:pt x="47256" y="70256"/>
                  <a:pt x="52535" y="64977"/>
                  <a:pt x="59070" y="64977"/>
                </a:cubicBezTo>
                <a:close/>
                <a:moveTo>
                  <a:pt x="59070" y="106326"/>
                </a:moveTo>
                <a:lnTo>
                  <a:pt x="153581" y="106326"/>
                </a:lnTo>
                <a:cubicBezTo>
                  <a:pt x="160116" y="106326"/>
                  <a:pt x="165395" y="111605"/>
                  <a:pt x="165395" y="118140"/>
                </a:cubicBezTo>
                <a:cubicBezTo>
                  <a:pt x="165395" y="124674"/>
                  <a:pt x="160116" y="129953"/>
                  <a:pt x="153581" y="129953"/>
                </a:cubicBezTo>
                <a:lnTo>
                  <a:pt x="59070" y="129953"/>
                </a:lnTo>
                <a:cubicBezTo>
                  <a:pt x="52535" y="129953"/>
                  <a:pt x="47256" y="124674"/>
                  <a:pt x="47256" y="118140"/>
                </a:cubicBezTo>
                <a:cubicBezTo>
                  <a:pt x="47256" y="111605"/>
                  <a:pt x="52535" y="106326"/>
                  <a:pt x="59070" y="106326"/>
                </a:cubicBezTo>
                <a:close/>
              </a:path>
            </a:pathLst>
          </a:custGeom>
          <a:solidFill>
            <a:srgbClr val="4F9A94"/>
          </a:solidFill>
        </p:spPr>
      </p:sp>
      <p:sp>
        <p:nvSpPr>
          <p:cNvPr id="26" name="Text 24"/>
          <p:cNvSpPr/>
          <p:nvPr/>
        </p:nvSpPr>
        <p:spPr>
          <a:xfrm>
            <a:off x="1232559" y="5985648"/>
            <a:ext cx="6480640" cy="2835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90" b="1" dirty="0">
                <a:solidFill>
                  <a:srgbClr val="4F9A9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系统监控</a:t>
            </a:r>
            <a:r>
              <a:rPr lang="en-US" sz="1490" dirty="0">
                <a:solidFill>
                  <a:srgbClr val="E5E7EB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：查看同步状态、性能指标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77520" y="6852285"/>
            <a:ext cx="7524115" cy="1558925"/>
          </a:xfrm>
          <a:custGeom>
            <a:avLst/>
            <a:gdLst/>
            <a:ahLst/>
            <a:cxnLst/>
            <a:rect l="l" t="t" r="r" b="b"/>
            <a:pathLst>
              <a:path w="7524176" h="1522687">
                <a:moveTo>
                  <a:pt x="94513" y="0"/>
                </a:moveTo>
                <a:lnTo>
                  <a:pt x="7429663" y="0"/>
                </a:lnTo>
                <a:cubicBezTo>
                  <a:pt x="7481861" y="0"/>
                  <a:pt x="7524176" y="42315"/>
                  <a:pt x="7524176" y="94513"/>
                </a:cubicBezTo>
                <a:lnTo>
                  <a:pt x="7524176" y="1428174"/>
                </a:lnTo>
                <a:cubicBezTo>
                  <a:pt x="7524176" y="1480372"/>
                  <a:pt x="7481861" y="1522687"/>
                  <a:pt x="7429663" y="1522687"/>
                </a:cubicBezTo>
                <a:lnTo>
                  <a:pt x="94513" y="1522687"/>
                </a:lnTo>
                <a:cubicBezTo>
                  <a:pt x="42315" y="1522687"/>
                  <a:pt x="0" y="1480372"/>
                  <a:pt x="0" y="1428174"/>
                </a:cubicBezTo>
                <a:lnTo>
                  <a:pt x="0" y="94513"/>
                </a:lnTo>
                <a:cubicBezTo>
                  <a:pt x="0" y="42315"/>
                  <a:pt x="42315" y="0"/>
                  <a:pt x="94513" y="0"/>
                </a:cubicBezTo>
                <a:close/>
              </a:path>
            </a:pathLst>
          </a:custGeom>
          <a:solidFill>
            <a:srgbClr val="4F9A94">
              <a:alpha val="20000"/>
            </a:srgbClr>
          </a:solidFill>
          <a:ln w="11289">
            <a:solidFill>
              <a:srgbClr val="4F9A9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14908" y="7105355"/>
            <a:ext cx="186070" cy="212651"/>
          </a:xfrm>
          <a:custGeom>
            <a:avLst/>
            <a:gdLst/>
            <a:ahLst/>
            <a:cxnLst/>
            <a:rect l="l" t="t" r="r" b="b"/>
            <a:pathLst>
              <a:path w="186070" h="212651">
                <a:moveTo>
                  <a:pt x="186070" y="85476"/>
                </a:moveTo>
                <a:cubicBezTo>
                  <a:pt x="179923" y="89546"/>
                  <a:pt x="172862" y="92827"/>
                  <a:pt x="165511" y="95444"/>
                </a:cubicBezTo>
                <a:cubicBezTo>
                  <a:pt x="145990" y="102421"/>
                  <a:pt x="120364" y="106326"/>
                  <a:pt x="93035" y="106326"/>
                </a:cubicBezTo>
                <a:cubicBezTo>
                  <a:pt x="65706" y="106326"/>
                  <a:pt x="40038" y="102380"/>
                  <a:pt x="20559" y="95444"/>
                </a:cubicBezTo>
                <a:cubicBezTo>
                  <a:pt x="13249" y="92827"/>
                  <a:pt x="6147" y="89546"/>
                  <a:pt x="0" y="85476"/>
                </a:cubicBezTo>
                <a:lnTo>
                  <a:pt x="0" y="119616"/>
                </a:lnTo>
                <a:cubicBezTo>
                  <a:pt x="0" y="137974"/>
                  <a:pt x="41658" y="152843"/>
                  <a:pt x="93035" y="152843"/>
                </a:cubicBezTo>
                <a:cubicBezTo>
                  <a:pt x="144412" y="152843"/>
                  <a:pt x="186070" y="137974"/>
                  <a:pt x="186070" y="119616"/>
                </a:cubicBezTo>
                <a:lnTo>
                  <a:pt x="186070" y="85476"/>
                </a:lnTo>
                <a:close/>
                <a:moveTo>
                  <a:pt x="186070" y="53163"/>
                </a:moveTo>
                <a:lnTo>
                  <a:pt x="186070" y="33227"/>
                </a:lnTo>
                <a:cubicBezTo>
                  <a:pt x="186070" y="14869"/>
                  <a:pt x="144412" y="0"/>
                  <a:pt x="93035" y="0"/>
                </a:cubicBezTo>
                <a:cubicBezTo>
                  <a:pt x="41658" y="0"/>
                  <a:pt x="0" y="14869"/>
                  <a:pt x="0" y="33227"/>
                </a:cubicBezTo>
                <a:lnTo>
                  <a:pt x="0" y="53163"/>
                </a:lnTo>
                <a:cubicBezTo>
                  <a:pt x="0" y="71521"/>
                  <a:pt x="41658" y="86390"/>
                  <a:pt x="93035" y="86390"/>
                </a:cubicBezTo>
                <a:cubicBezTo>
                  <a:pt x="144412" y="86390"/>
                  <a:pt x="186070" y="71521"/>
                  <a:pt x="186070" y="53163"/>
                </a:cubicBezTo>
                <a:close/>
                <a:moveTo>
                  <a:pt x="165511" y="161897"/>
                </a:moveTo>
                <a:cubicBezTo>
                  <a:pt x="146032" y="168833"/>
                  <a:pt x="120405" y="172779"/>
                  <a:pt x="93035" y="172779"/>
                </a:cubicBezTo>
                <a:cubicBezTo>
                  <a:pt x="65664" y="172779"/>
                  <a:pt x="40038" y="168833"/>
                  <a:pt x="20559" y="161897"/>
                </a:cubicBezTo>
                <a:cubicBezTo>
                  <a:pt x="13249" y="159281"/>
                  <a:pt x="6147" y="156000"/>
                  <a:pt x="0" y="151929"/>
                </a:cubicBezTo>
                <a:lnTo>
                  <a:pt x="0" y="179424"/>
                </a:lnTo>
                <a:cubicBezTo>
                  <a:pt x="0" y="197782"/>
                  <a:pt x="41658" y="212651"/>
                  <a:pt x="93035" y="212651"/>
                </a:cubicBezTo>
                <a:cubicBezTo>
                  <a:pt x="144412" y="212651"/>
                  <a:pt x="186070" y="197782"/>
                  <a:pt x="186070" y="179424"/>
                </a:cubicBezTo>
                <a:lnTo>
                  <a:pt x="186070" y="151929"/>
                </a:lnTo>
                <a:cubicBezTo>
                  <a:pt x="179923" y="156000"/>
                  <a:pt x="172862" y="159281"/>
                  <a:pt x="165511" y="161897"/>
                </a:cubicBezTo>
                <a:close/>
              </a:path>
            </a:pathLst>
          </a:custGeom>
          <a:solidFill>
            <a:srgbClr val="4F9A94"/>
          </a:solidFill>
        </p:spPr>
      </p:sp>
      <p:sp>
        <p:nvSpPr>
          <p:cNvPr id="29" name="Text 27"/>
          <p:cNvSpPr/>
          <p:nvPr/>
        </p:nvSpPr>
        <p:spPr>
          <a:xfrm>
            <a:off x="943804" y="7046285"/>
            <a:ext cx="6970233" cy="3307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75" b="1" dirty="0">
                <a:solidFill>
                  <a:srgbClr val="4F9A9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数据库权限矩阵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95711" y="7555589"/>
            <a:ext cx="189023" cy="189023"/>
          </a:xfrm>
          <a:custGeom>
            <a:avLst/>
            <a:gdLst/>
            <a:ahLst/>
            <a:cxnLst/>
            <a:rect l="l" t="t" r="r" b="b"/>
            <a:pathLst>
              <a:path w="189023" h="189023">
                <a:moveTo>
                  <a:pt x="94512" y="189023"/>
                </a:moveTo>
                <a:cubicBezTo>
                  <a:pt x="146674" y="189023"/>
                  <a:pt x="189023" y="146674"/>
                  <a:pt x="189023" y="94512"/>
                </a:cubicBezTo>
                <a:cubicBezTo>
                  <a:pt x="189023" y="42349"/>
                  <a:pt x="146674" y="0"/>
                  <a:pt x="94512" y="0"/>
                </a:cubicBezTo>
                <a:cubicBezTo>
                  <a:pt x="42349" y="0"/>
                  <a:pt x="0" y="42349"/>
                  <a:pt x="0" y="94512"/>
                </a:cubicBezTo>
                <a:cubicBezTo>
                  <a:pt x="0" y="146674"/>
                  <a:pt x="42349" y="189023"/>
                  <a:pt x="94512" y="189023"/>
                </a:cubicBezTo>
                <a:close/>
                <a:moveTo>
                  <a:pt x="125671" y="78526"/>
                </a:moveTo>
                <a:lnTo>
                  <a:pt x="96136" y="125782"/>
                </a:lnTo>
                <a:cubicBezTo>
                  <a:pt x="94585" y="128255"/>
                  <a:pt x="91927" y="129806"/>
                  <a:pt x="89011" y="129953"/>
                </a:cubicBezTo>
                <a:cubicBezTo>
                  <a:pt x="86094" y="130101"/>
                  <a:pt x="83288" y="128772"/>
                  <a:pt x="81553" y="126409"/>
                </a:cubicBezTo>
                <a:lnTo>
                  <a:pt x="63832" y="102781"/>
                </a:lnTo>
                <a:cubicBezTo>
                  <a:pt x="60879" y="98868"/>
                  <a:pt x="61691" y="93330"/>
                  <a:pt x="65604" y="90377"/>
                </a:cubicBezTo>
                <a:cubicBezTo>
                  <a:pt x="69518" y="87423"/>
                  <a:pt x="75056" y="88235"/>
                  <a:pt x="78009" y="92149"/>
                </a:cubicBezTo>
                <a:lnTo>
                  <a:pt x="87977" y="105440"/>
                </a:lnTo>
                <a:lnTo>
                  <a:pt x="110645" y="69149"/>
                </a:lnTo>
                <a:cubicBezTo>
                  <a:pt x="113229" y="65014"/>
                  <a:pt x="118693" y="63722"/>
                  <a:pt x="122865" y="66343"/>
                </a:cubicBezTo>
                <a:cubicBezTo>
                  <a:pt x="127037" y="68964"/>
                  <a:pt x="128292" y="74391"/>
                  <a:pt x="125671" y="78563"/>
                </a:cubicBezTo>
                <a:close/>
              </a:path>
            </a:pathLst>
          </a:custGeom>
          <a:solidFill>
            <a:srgbClr val="4F9A94"/>
          </a:solidFill>
        </p:spPr>
      </p:sp>
      <p:sp>
        <p:nvSpPr>
          <p:cNvPr id="31" name="Text 29"/>
          <p:cNvSpPr/>
          <p:nvPr/>
        </p:nvSpPr>
        <p:spPr>
          <a:xfrm>
            <a:off x="996280" y="7518843"/>
            <a:ext cx="6905943" cy="2835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90" b="1" dirty="0">
                <a:solidFill>
                  <a:srgbClr val="4F9A9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最小权限原则</a:t>
            </a:r>
            <a:r>
              <a:rPr lang="en-US" sz="1490" dirty="0">
                <a:solidFill>
                  <a:srgbClr val="E5E7EB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：用户只被授予必要权限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19339" y="7933635"/>
            <a:ext cx="141767" cy="189023"/>
          </a:xfrm>
          <a:custGeom>
            <a:avLst/>
            <a:gdLst/>
            <a:ahLst/>
            <a:cxnLst/>
            <a:rect l="l" t="t" r="r" b="b"/>
            <a:pathLst>
              <a:path w="141767" h="189023">
                <a:moveTo>
                  <a:pt x="47256" y="35442"/>
                </a:moveTo>
                <a:lnTo>
                  <a:pt x="47256" y="59070"/>
                </a:lnTo>
                <a:lnTo>
                  <a:pt x="94512" y="59070"/>
                </a:lnTo>
                <a:lnTo>
                  <a:pt x="94512" y="35442"/>
                </a:lnTo>
                <a:cubicBezTo>
                  <a:pt x="94512" y="22410"/>
                  <a:pt x="83916" y="11814"/>
                  <a:pt x="70884" y="11814"/>
                </a:cubicBezTo>
                <a:cubicBezTo>
                  <a:pt x="57851" y="11814"/>
                  <a:pt x="47256" y="22410"/>
                  <a:pt x="47256" y="35442"/>
                </a:cubicBezTo>
                <a:close/>
                <a:moveTo>
                  <a:pt x="23628" y="59070"/>
                </a:moveTo>
                <a:lnTo>
                  <a:pt x="23628" y="35442"/>
                </a:lnTo>
                <a:cubicBezTo>
                  <a:pt x="23628" y="9340"/>
                  <a:pt x="44782" y="-11814"/>
                  <a:pt x="70884" y="-11814"/>
                </a:cubicBezTo>
                <a:cubicBezTo>
                  <a:pt x="96985" y="-11814"/>
                  <a:pt x="118140" y="9340"/>
                  <a:pt x="118140" y="35442"/>
                </a:cubicBezTo>
                <a:lnTo>
                  <a:pt x="118140" y="59070"/>
                </a:lnTo>
                <a:cubicBezTo>
                  <a:pt x="131172" y="59070"/>
                  <a:pt x="141767" y="69665"/>
                  <a:pt x="141767" y="82698"/>
                </a:cubicBezTo>
                <a:lnTo>
                  <a:pt x="141767" y="165395"/>
                </a:lnTo>
                <a:cubicBezTo>
                  <a:pt x="141767" y="178428"/>
                  <a:pt x="131172" y="189023"/>
                  <a:pt x="118140" y="189023"/>
                </a:cubicBezTo>
                <a:lnTo>
                  <a:pt x="23628" y="189023"/>
                </a:lnTo>
                <a:cubicBezTo>
                  <a:pt x="10596" y="189023"/>
                  <a:pt x="0" y="178428"/>
                  <a:pt x="0" y="165395"/>
                </a:cubicBezTo>
                <a:lnTo>
                  <a:pt x="0" y="82698"/>
                </a:lnTo>
                <a:cubicBezTo>
                  <a:pt x="0" y="69665"/>
                  <a:pt x="10596" y="59070"/>
                  <a:pt x="23628" y="59070"/>
                </a:cubicBezTo>
                <a:close/>
              </a:path>
            </a:pathLst>
          </a:custGeom>
          <a:solidFill>
            <a:srgbClr val="4F9A94"/>
          </a:solidFill>
        </p:spPr>
      </p:sp>
      <p:sp>
        <p:nvSpPr>
          <p:cNvPr id="33" name="Text 31"/>
          <p:cNvSpPr/>
          <p:nvPr/>
        </p:nvSpPr>
        <p:spPr>
          <a:xfrm>
            <a:off x="996280" y="7896890"/>
            <a:ext cx="6905943" cy="2835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90" b="1" dirty="0">
                <a:solidFill>
                  <a:srgbClr val="4F9A9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隔离性保证</a:t>
            </a:r>
            <a:r>
              <a:rPr lang="en-US" sz="1490" dirty="0">
                <a:solidFill>
                  <a:srgbClr val="E5E7EB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：不同用户的数据访问权限隔离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269767" y="1701209"/>
            <a:ext cx="7513674" cy="4489302"/>
          </a:xfrm>
          <a:custGeom>
            <a:avLst/>
            <a:gdLst/>
            <a:ahLst/>
            <a:cxnLst/>
            <a:rect l="l" t="t" r="r" b="b"/>
            <a:pathLst>
              <a:path w="7513674" h="4489302">
                <a:moveTo>
                  <a:pt x="0" y="0"/>
                </a:moveTo>
                <a:lnTo>
                  <a:pt x="7419175" y="0"/>
                </a:lnTo>
                <a:cubicBezTo>
                  <a:pt x="7471365" y="0"/>
                  <a:pt x="7513674" y="42309"/>
                  <a:pt x="7513674" y="94500"/>
                </a:cubicBezTo>
                <a:lnTo>
                  <a:pt x="7513674" y="4394803"/>
                </a:lnTo>
                <a:cubicBezTo>
                  <a:pt x="7513674" y="4446993"/>
                  <a:pt x="7471365" y="4489302"/>
                  <a:pt x="7419175" y="4489302"/>
                </a:cubicBezTo>
                <a:lnTo>
                  <a:pt x="0" y="4489302"/>
                </a:lnTo>
                <a:lnTo>
                  <a:pt x="0" y="0"/>
                </a:lnTo>
                <a:close/>
              </a:path>
            </a:pathLst>
          </a:custGeom>
          <a:solidFill>
            <a:srgbClr val="3D4A5C">
              <a:alpha val="30196"/>
            </a:srgbClr>
          </a:solidFill>
        </p:spPr>
      </p:sp>
      <p:sp>
        <p:nvSpPr>
          <p:cNvPr id="35" name="Shape 33"/>
          <p:cNvSpPr/>
          <p:nvPr/>
        </p:nvSpPr>
        <p:spPr>
          <a:xfrm>
            <a:off x="8269767" y="1701209"/>
            <a:ext cx="47256" cy="4489302"/>
          </a:xfrm>
          <a:custGeom>
            <a:avLst/>
            <a:gdLst/>
            <a:ahLst/>
            <a:cxnLst/>
            <a:rect l="l" t="t" r="r" b="b"/>
            <a:pathLst>
              <a:path w="47256" h="4489302">
                <a:moveTo>
                  <a:pt x="0" y="0"/>
                </a:moveTo>
                <a:lnTo>
                  <a:pt x="47256" y="0"/>
                </a:lnTo>
                <a:lnTo>
                  <a:pt x="47256" y="4489302"/>
                </a:lnTo>
                <a:lnTo>
                  <a:pt x="0" y="4489302"/>
                </a:lnTo>
                <a:lnTo>
                  <a:pt x="0" y="0"/>
                </a:lnTo>
                <a:close/>
              </a:path>
            </a:pathLst>
          </a:custGeom>
          <a:solidFill>
            <a:srgbClr val="6B7280"/>
          </a:solidFill>
        </p:spPr>
      </p:sp>
      <p:sp>
        <p:nvSpPr>
          <p:cNvPr id="36" name="Shape 34"/>
          <p:cNvSpPr/>
          <p:nvPr/>
        </p:nvSpPr>
        <p:spPr>
          <a:xfrm>
            <a:off x="8529674" y="1901954"/>
            <a:ext cx="354419" cy="354419"/>
          </a:xfrm>
          <a:custGeom>
            <a:avLst/>
            <a:gdLst/>
            <a:ahLst/>
            <a:cxnLst/>
            <a:rect l="l" t="t" r="r" b="b"/>
            <a:pathLst>
              <a:path w="354419" h="354419">
                <a:moveTo>
                  <a:pt x="177209" y="0"/>
                </a:moveTo>
                <a:cubicBezTo>
                  <a:pt x="180394" y="0"/>
                  <a:pt x="183578" y="692"/>
                  <a:pt x="186485" y="2007"/>
                </a:cubicBezTo>
                <a:lnTo>
                  <a:pt x="316900" y="57316"/>
                </a:lnTo>
                <a:cubicBezTo>
                  <a:pt x="332129" y="63754"/>
                  <a:pt x="343481" y="78775"/>
                  <a:pt x="343412" y="96911"/>
                </a:cubicBezTo>
                <a:cubicBezTo>
                  <a:pt x="343066" y="165580"/>
                  <a:pt x="314823" y="291219"/>
                  <a:pt x="195553" y="348327"/>
                </a:cubicBezTo>
                <a:cubicBezTo>
                  <a:pt x="183993" y="353865"/>
                  <a:pt x="170564" y="353865"/>
                  <a:pt x="159004" y="348327"/>
                </a:cubicBezTo>
                <a:cubicBezTo>
                  <a:pt x="39664" y="291219"/>
                  <a:pt x="11491" y="165580"/>
                  <a:pt x="11145" y="96911"/>
                </a:cubicBezTo>
                <a:cubicBezTo>
                  <a:pt x="11076" y="78775"/>
                  <a:pt x="22428" y="63754"/>
                  <a:pt x="37657" y="57316"/>
                </a:cubicBezTo>
                <a:lnTo>
                  <a:pt x="168003" y="2007"/>
                </a:lnTo>
                <a:cubicBezTo>
                  <a:pt x="170910" y="692"/>
                  <a:pt x="174025" y="0"/>
                  <a:pt x="177209" y="0"/>
                </a:cubicBezTo>
                <a:close/>
                <a:moveTo>
                  <a:pt x="177209" y="46241"/>
                </a:moveTo>
                <a:lnTo>
                  <a:pt x="177209" y="307970"/>
                </a:lnTo>
                <a:cubicBezTo>
                  <a:pt x="272736" y="261730"/>
                  <a:pt x="298418" y="159281"/>
                  <a:pt x="299041" y="97950"/>
                </a:cubicBezTo>
                <a:lnTo>
                  <a:pt x="177209" y="46310"/>
                </a:lnTo>
                <a:lnTo>
                  <a:pt x="177209" y="46310"/>
                </a:lnTo>
                <a:close/>
              </a:path>
            </a:pathLst>
          </a:custGeom>
          <a:solidFill>
            <a:srgbClr val="6B7280"/>
          </a:solidFill>
        </p:spPr>
      </p:sp>
      <p:sp>
        <p:nvSpPr>
          <p:cNvPr id="37" name="Text 35"/>
          <p:cNvSpPr/>
          <p:nvPr/>
        </p:nvSpPr>
        <p:spPr>
          <a:xfrm>
            <a:off x="9067209" y="1890233"/>
            <a:ext cx="1275907" cy="3780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235" b="1" dirty="0">
                <a:solidFill>
                  <a:srgbClr val="E5E7E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安全边界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482419" y="2457210"/>
            <a:ext cx="7112000" cy="1464930"/>
          </a:xfrm>
          <a:custGeom>
            <a:avLst/>
            <a:gdLst/>
            <a:ahLst/>
            <a:cxnLst/>
            <a:rect l="l" t="t" r="r" b="b"/>
            <a:pathLst>
              <a:path w="7112000" h="1464930">
                <a:moveTo>
                  <a:pt x="94517" y="0"/>
                </a:moveTo>
                <a:lnTo>
                  <a:pt x="7017483" y="0"/>
                </a:lnTo>
                <a:cubicBezTo>
                  <a:pt x="7069683" y="0"/>
                  <a:pt x="7112000" y="42317"/>
                  <a:pt x="7112000" y="94517"/>
                </a:cubicBezTo>
                <a:lnTo>
                  <a:pt x="7112000" y="1370413"/>
                </a:lnTo>
                <a:cubicBezTo>
                  <a:pt x="7112000" y="1422613"/>
                  <a:pt x="7069683" y="1464930"/>
                  <a:pt x="7017483" y="1464930"/>
                </a:cubicBezTo>
                <a:lnTo>
                  <a:pt x="94517" y="1464930"/>
                </a:lnTo>
                <a:cubicBezTo>
                  <a:pt x="42317" y="1464930"/>
                  <a:pt x="0" y="1422613"/>
                  <a:pt x="0" y="1370413"/>
                </a:cubicBezTo>
                <a:lnTo>
                  <a:pt x="0" y="94517"/>
                </a:lnTo>
                <a:cubicBezTo>
                  <a:pt x="0" y="42352"/>
                  <a:pt x="42352" y="0"/>
                  <a:pt x="94517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</p:spPr>
      </p:sp>
      <p:sp>
        <p:nvSpPr>
          <p:cNvPr id="39" name="Shape 37"/>
          <p:cNvSpPr/>
          <p:nvPr/>
        </p:nvSpPr>
        <p:spPr>
          <a:xfrm>
            <a:off x="8686209" y="2693489"/>
            <a:ext cx="265814" cy="236279"/>
          </a:xfrm>
          <a:custGeom>
            <a:avLst/>
            <a:gdLst/>
            <a:ahLst/>
            <a:cxnLst/>
            <a:rect l="l" t="t" r="r" b="b"/>
            <a:pathLst>
              <a:path w="265814" h="236279">
                <a:moveTo>
                  <a:pt x="132907" y="14767"/>
                </a:moveTo>
                <a:cubicBezTo>
                  <a:pt x="95619" y="14767"/>
                  <a:pt x="65761" y="31750"/>
                  <a:pt x="44025" y="51963"/>
                </a:cubicBezTo>
                <a:cubicBezTo>
                  <a:pt x="22428" y="72037"/>
                  <a:pt x="7984" y="95988"/>
                  <a:pt x="1108" y="112463"/>
                </a:cubicBezTo>
                <a:cubicBezTo>
                  <a:pt x="-415" y="116109"/>
                  <a:pt x="-415" y="120170"/>
                  <a:pt x="1108" y="123816"/>
                </a:cubicBezTo>
                <a:cubicBezTo>
                  <a:pt x="7984" y="140291"/>
                  <a:pt x="22428" y="164288"/>
                  <a:pt x="44025" y="184316"/>
                </a:cubicBezTo>
                <a:cubicBezTo>
                  <a:pt x="65761" y="204483"/>
                  <a:pt x="95619" y="221512"/>
                  <a:pt x="132907" y="221512"/>
                </a:cubicBezTo>
                <a:cubicBezTo>
                  <a:pt x="170195" y="221512"/>
                  <a:pt x="200053" y="204529"/>
                  <a:pt x="221789" y="184316"/>
                </a:cubicBezTo>
                <a:cubicBezTo>
                  <a:pt x="243386" y="164242"/>
                  <a:pt x="257830" y="140291"/>
                  <a:pt x="264706" y="123816"/>
                </a:cubicBezTo>
                <a:cubicBezTo>
                  <a:pt x="266229" y="120170"/>
                  <a:pt x="266229" y="116109"/>
                  <a:pt x="264706" y="112463"/>
                </a:cubicBezTo>
                <a:cubicBezTo>
                  <a:pt x="257830" y="95988"/>
                  <a:pt x="243386" y="71991"/>
                  <a:pt x="221789" y="51963"/>
                </a:cubicBezTo>
                <a:cubicBezTo>
                  <a:pt x="200053" y="31796"/>
                  <a:pt x="170195" y="14767"/>
                  <a:pt x="132907" y="14767"/>
                </a:cubicBezTo>
                <a:close/>
                <a:moveTo>
                  <a:pt x="66453" y="118140"/>
                </a:moveTo>
                <a:cubicBezTo>
                  <a:pt x="66453" y="81463"/>
                  <a:pt x="96230" y="51686"/>
                  <a:pt x="132907" y="51686"/>
                </a:cubicBezTo>
                <a:cubicBezTo>
                  <a:pt x="169584" y="51686"/>
                  <a:pt x="199360" y="81463"/>
                  <a:pt x="199360" y="118140"/>
                </a:cubicBezTo>
                <a:cubicBezTo>
                  <a:pt x="199360" y="154816"/>
                  <a:pt x="169584" y="184593"/>
                  <a:pt x="132907" y="184593"/>
                </a:cubicBezTo>
                <a:cubicBezTo>
                  <a:pt x="96230" y="184593"/>
                  <a:pt x="66453" y="154816"/>
                  <a:pt x="66453" y="118140"/>
                </a:cubicBezTo>
                <a:close/>
                <a:moveTo>
                  <a:pt x="132907" y="88605"/>
                </a:moveTo>
                <a:cubicBezTo>
                  <a:pt x="132907" y="104895"/>
                  <a:pt x="119662" y="118140"/>
                  <a:pt x="103372" y="118140"/>
                </a:cubicBezTo>
                <a:cubicBezTo>
                  <a:pt x="98065" y="118140"/>
                  <a:pt x="93081" y="116755"/>
                  <a:pt x="88743" y="114263"/>
                </a:cubicBezTo>
                <a:cubicBezTo>
                  <a:pt x="88282" y="119293"/>
                  <a:pt x="88697" y="124462"/>
                  <a:pt x="90081" y="129584"/>
                </a:cubicBezTo>
                <a:cubicBezTo>
                  <a:pt x="96404" y="153212"/>
                  <a:pt x="120724" y="167241"/>
                  <a:pt x="144352" y="160919"/>
                </a:cubicBezTo>
                <a:cubicBezTo>
                  <a:pt x="167980" y="154597"/>
                  <a:pt x="182009" y="130277"/>
                  <a:pt x="175686" y="106649"/>
                </a:cubicBezTo>
                <a:cubicBezTo>
                  <a:pt x="170056" y="85559"/>
                  <a:pt x="150074" y="72130"/>
                  <a:pt x="129031" y="73976"/>
                </a:cubicBezTo>
                <a:cubicBezTo>
                  <a:pt x="131476" y="78267"/>
                  <a:pt x="132907" y="83251"/>
                  <a:pt x="132907" y="88605"/>
                </a:cubicBezTo>
                <a:close/>
              </a:path>
            </a:pathLst>
          </a:custGeom>
          <a:solidFill>
            <a:srgbClr val="6B7280"/>
          </a:solidFill>
        </p:spPr>
      </p:sp>
      <p:sp>
        <p:nvSpPr>
          <p:cNvPr id="40" name="Text 38"/>
          <p:cNvSpPr/>
          <p:nvPr/>
        </p:nvSpPr>
        <p:spPr>
          <a:xfrm>
            <a:off x="9061302" y="2646233"/>
            <a:ext cx="1913860" cy="3307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75" b="1" dirty="0">
                <a:solidFill>
                  <a:srgbClr val="E5E7E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只读 SQL 执行接口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671442" y="3118791"/>
            <a:ext cx="6828465" cy="2835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90" b="1" dirty="0">
                <a:solidFill>
                  <a:srgbClr val="6B728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限制写操作</a:t>
            </a:r>
            <a:r>
              <a:rPr lang="en-US" sz="1490" dirty="0">
                <a:solidFill>
                  <a:srgbClr val="E5E7EB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：查询接口禁止执行 INSERT/UPDATE/DELETE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695070" y="3523096"/>
            <a:ext cx="165395" cy="165395"/>
          </a:xfrm>
          <a:custGeom>
            <a:avLst/>
            <a:gdLst/>
            <a:ahLst/>
            <a:cxnLst/>
            <a:rect l="l" t="t" r="r" b="b"/>
            <a:pathLst>
              <a:path w="165395" h="165395">
                <a:moveTo>
                  <a:pt x="82698" y="165395"/>
                </a:moveTo>
                <a:cubicBezTo>
                  <a:pt x="128340" y="165395"/>
                  <a:pt x="165395" y="128340"/>
                  <a:pt x="165395" y="82698"/>
                </a:cubicBezTo>
                <a:cubicBezTo>
                  <a:pt x="165395" y="37056"/>
                  <a:pt x="128340" y="0"/>
                  <a:pt x="82698" y="0"/>
                </a:cubicBezTo>
                <a:cubicBezTo>
                  <a:pt x="37056" y="0"/>
                  <a:pt x="0" y="37056"/>
                  <a:pt x="0" y="82698"/>
                </a:cubicBezTo>
                <a:cubicBezTo>
                  <a:pt x="0" y="128340"/>
                  <a:pt x="37056" y="165395"/>
                  <a:pt x="82698" y="165395"/>
                </a:cubicBezTo>
                <a:close/>
                <a:moveTo>
                  <a:pt x="72360" y="51686"/>
                </a:moveTo>
                <a:cubicBezTo>
                  <a:pt x="72360" y="45981"/>
                  <a:pt x="76992" y="41349"/>
                  <a:pt x="82698" y="41349"/>
                </a:cubicBezTo>
                <a:cubicBezTo>
                  <a:pt x="88403" y="41349"/>
                  <a:pt x="93035" y="45981"/>
                  <a:pt x="93035" y="51686"/>
                </a:cubicBezTo>
                <a:cubicBezTo>
                  <a:pt x="93035" y="57391"/>
                  <a:pt x="88403" y="62023"/>
                  <a:pt x="82698" y="62023"/>
                </a:cubicBezTo>
                <a:cubicBezTo>
                  <a:pt x="76992" y="62023"/>
                  <a:pt x="72360" y="57391"/>
                  <a:pt x="72360" y="51686"/>
                </a:cubicBezTo>
                <a:close/>
                <a:moveTo>
                  <a:pt x="69776" y="72360"/>
                </a:moveTo>
                <a:lnTo>
                  <a:pt x="85282" y="72360"/>
                </a:lnTo>
                <a:cubicBezTo>
                  <a:pt x="89578" y="72360"/>
                  <a:pt x="93035" y="75817"/>
                  <a:pt x="93035" y="80113"/>
                </a:cubicBezTo>
                <a:lnTo>
                  <a:pt x="93035" y="108541"/>
                </a:lnTo>
                <a:lnTo>
                  <a:pt x="95619" y="108541"/>
                </a:lnTo>
                <a:cubicBezTo>
                  <a:pt x="99916" y="108541"/>
                  <a:pt x="103372" y="111997"/>
                  <a:pt x="103372" y="116294"/>
                </a:cubicBezTo>
                <a:cubicBezTo>
                  <a:pt x="103372" y="120590"/>
                  <a:pt x="99916" y="124047"/>
                  <a:pt x="95619" y="124047"/>
                </a:cubicBezTo>
                <a:lnTo>
                  <a:pt x="69776" y="124047"/>
                </a:lnTo>
                <a:cubicBezTo>
                  <a:pt x="65480" y="124047"/>
                  <a:pt x="62023" y="120590"/>
                  <a:pt x="62023" y="116294"/>
                </a:cubicBezTo>
                <a:cubicBezTo>
                  <a:pt x="62023" y="111997"/>
                  <a:pt x="65480" y="108541"/>
                  <a:pt x="69776" y="108541"/>
                </a:cubicBezTo>
                <a:lnTo>
                  <a:pt x="77529" y="108541"/>
                </a:lnTo>
                <a:lnTo>
                  <a:pt x="77529" y="87866"/>
                </a:lnTo>
                <a:lnTo>
                  <a:pt x="69776" y="87866"/>
                </a:lnTo>
                <a:cubicBezTo>
                  <a:pt x="65480" y="87866"/>
                  <a:pt x="62023" y="84410"/>
                  <a:pt x="62023" y="80113"/>
                </a:cubicBezTo>
                <a:cubicBezTo>
                  <a:pt x="62023" y="75817"/>
                  <a:pt x="65480" y="72360"/>
                  <a:pt x="69776" y="72360"/>
                </a:cubicBezTo>
                <a:close/>
              </a:path>
            </a:pathLst>
          </a:custGeom>
          <a:solidFill>
            <a:srgbClr val="4F9A94"/>
          </a:solidFill>
        </p:spPr>
      </p:sp>
      <p:sp>
        <p:nvSpPr>
          <p:cNvPr id="43" name="Text 41"/>
          <p:cNvSpPr/>
          <p:nvPr/>
        </p:nvSpPr>
        <p:spPr>
          <a:xfrm>
            <a:off x="8972011" y="3496838"/>
            <a:ext cx="6516082" cy="23627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0" dirty="0">
                <a:solidFill>
                  <a:srgbClr val="6B728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防止恶意或误操作导致数据变更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482419" y="4111164"/>
            <a:ext cx="7112000" cy="1890233"/>
          </a:xfrm>
          <a:custGeom>
            <a:avLst/>
            <a:gdLst/>
            <a:ahLst/>
            <a:cxnLst/>
            <a:rect l="l" t="t" r="r" b="b"/>
            <a:pathLst>
              <a:path w="7112000" h="1890233">
                <a:moveTo>
                  <a:pt x="94512" y="0"/>
                </a:moveTo>
                <a:lnTo>
                  <a:pt x="7017488" y="0"/>
                </a:lnTo>
                <a:cubicBezTo>
                  <a:pt x="7069686" y="0"/>
                  <a:pt x="7112000" y="42314"/>
                  <a:pt x="7112000" y="94512"/>
                </a:cubicBezTo>
                <a:lnTo>
                  <a:pt x="7112000" y="1795721"/>
                </a:lnTo>
                <a:cubicBezTo>
                  <a:pt x="7112000" y="1847918"/>
                  <a:pt x="7069686" y="1890233"/>
                  <a:pt x="7017488" y="1890233"/>
                </a:cubicBezTo>
                <a:lnTo>
                  <a:pt x="94512" y="1890233"/>
                </a:lnTo>
                <a:cubicBezTo>
                  <a:pt x="42314" y="1890233"/>
                  <a:pt x="0" y="1847918"/>
                  <a:pt x="0" y="1795721"/>
                </a:cubicBezTo>
                <a:lnTo>
                  <a:pt x="0" y="94512"/>
                </a:lnTo>
                <a:cubicBezTo>
                  <a:pt x="0" y="42349"/>
                  <a:pt x="42349" y="0"/>
                  <a:pt x="94512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</p:spPr>
      </p:sp>
      <p:sp>
        <p:nvSpPr>
          <p:cNvPr id="45" name="Shape 43"/>
          <p:cNvSpPr/>
          <p:nvPr/>
        </p:nvSpPr>
        <p:spPr>
          <a:xfrm>
            <a:off x="8700977" y="4347443"/>
            <a:ext cx="236279" cy="236279"/>
          </a:xfrm>
          <a:custGeom>
            <a:avLst/>
            <a:gdLst/>
            <a:ahLst/>
            <a:cxnLst/>
            <a:rect l="l" t="t" r="r" b="b"/>
            <a:pathLst>
              <a:path w="236279" h="236279">
                <a:moveTo>
                  <a:pt x="155058" y="162442"/>
                </a:moveTo>
                <a:cubicBezTo>
                  <a:pt x="199914" y="162442"/>
                  <a:pt x="236279" y="126077"/>
                  <a:pt x="236279" y="81221"/>
                </a:cubicBezTo>
                <a:cubicBezTo>
                  <a:pt x="236279" y="36365"/>
                  <a:pt x="199914" y="0"/>
                  <a:pt x="155058" y="0"/>
                </a:cubicBezTo>
                <a:cubicBezTo>
                  <a:pt x="110202" y="0"/>
                  <a:pt x="73837" y="36365"/>
                  <a:pt x="73837" y="81221"/>
                </a:cubicBezTo>
                <a:cubicBezTo>
                  <a:pt x="73837" y="89851"/>
                  <a:pt x="75176" y="98203"/>
                  <a:pt x="77668" y="106003"/>
                </a:cubicBezTo>
                <a:lnTo>
                  <a:pt x="3230" y="180440"/>
                </a:lnTo>
                <a:cubicBezTo>
                  <a:pt x="1154" y="182516"/>
                  <a:pt x="0" y="185331"/>
                  <a:pt x="0" y="188285"/>
                </a:cubicBezTo>
                <a:lnTo>
                  <a:pt x="0" y="225203"/>
                </a:lnTo>
                <a:cubicBezTo>
                  <a:pt x="0" y="231341"/>
                  <a:pt x="4938" y="236279"/>
                  <a:pt x="11076" y="236279"/>
                </a:cubicBezTo>
                <a:lnTo>
                  <a:pt x="47994" y="236279"/>
                </a:lnTo>
                <a:cubicBezTo>
                  <a:pt x="54132" y="236279"/>
                  <a:pt x="59070" y="231341"/>
                  <a:pt x="59070" y="225203"/>
                </a:cubicBezTo>
                <a:lnTo>
                  <a:pt x="59070" y="206744"/>
                </a:lnTo>
                <a:lnTo>
                  <a:pt x="77529" y="206744"/>
                </a:lnTo>
                <a:cubicBezTo>
                  <a:pt x="83667" y="206744"/>
                  <a:pt x="88605" y="201806"/>
                  <a:pt x="88605" y="195669"/>
                </a:cubicBezTo>
                <a:lnTo>
                  <a:pt x="88605" y="177209"/>
                </a:lnTo>
                <a:lnTo>
                  <a:pt x="107064" y="177209"/>
                </a:lnTo>
                <a:cubicBezTo>
                  <a:pt x="110017" y="177209"/>
                  <a:pt x="112832" y="176056"/>
                  <a:pt x="114909" y="173979"/>
                </a:cubicBezTo>
                <a:lnTo>
                  <a:pt x="130277" y="158612"/>
                </a:lnTo>
                <a:cubicBezTo>
                  <a:pt x="138076" y="161104"/>
                  <a:pt x="146428" y="162442"/>
                  <a:pt x="155058" y="162442"/>
                </a:cubicBezTo>
                <a:close/>
                <a:moveTo>
                  <a:pt x="173517" y="44302"/>
                </a:moveTo>
                <a:cubicBezTo>
                  <a:pt x="183705" y="44302"/>
                  <a:pt x="191977" y="52574"/>
                  <a:pt x="191977" y="62762"/>
                </a:cubicBezTo>
                <a:cubicBezTo>
                  <a:pt x="191977" y="72950"/>
                  <a:pt x="183705" y="81221"/>
                  <a:pt x="173517" y="81221"/>
                </a:cubicBezTo>
                <a:cubicBezTo>
                  <a:pt x="163329" y="81221"/>
                  <a:pt x="155058" y="72950"/>
                  <a:pt x="155058" y="62762"/>
                </a:cubicBezTo>
                <a:cubicBezTo>
                  <a:pt x="155058" y="52574"/>
                  <a:pt x="163329" y="44302"/>
                  <a:pt x="173517" y="44302"/>
                </a:cubicBezTo>
                <a:close/>
              </a:path>
            </a:pathLst>
          </a:custGeom>
          <a:solidFill>
            <a:srgbClr val="4F9A94"/>
          </a:solidFill>
        </p:spPr>
      </p:sp>
      <p:sp>
        <p:nvSpPr>
          <p:cNvPr id="46" name="Text 44"/>
          <p:cNvSpPr/>
          <p:nvPr/>
        </p:nvSpPr>
        <p:spPr>
          <a:xfrm>
            <a:off x="9061302" y="4300187"/>
            <a:ext cx="1831163" cy="3307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75" b="1" dirty="0">
                <a:solidFill>
                  <a:srgbClr val="E5E7E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Token 时效性认证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695070" y="4809502"/>
            <a:ext cx="189023" cy="189023"/>
          </a:xfrm>
          <a:custGeom>
            <a:avLst/>
            <a:gdLst/>
            <a:ahLst/>
            <a:cxnLst/>
            <a:rect l="l" t="t" r="r" b="b"/>
            <a:pathLst>
              <a:path w="189023" h="189023">
                <a:moveTo>
                  <a:pt x="94512" y="0"/>
                </a:moveTo>
                <a:cubicBezTo>
                  <a:pt x="146674" y="0"/>
                  <a:pt x="189023" y="42349"/>
                  <a:pt x="189023" y="94512"/>
                </a:cubicBezTo>
                <a:cubicBezTo>
                  <a:pt x="189023" y="146674"/>
                  <a:pt x="146674" y="189023"/>
                  <a:pt x="94512" y="189023"/>
                </a:cubicBezTo>
                <a:cubicBezTo>
                  <a:pt x="42349" y="189023"/>
                  <a:pt x="0" y="146674"/>
                  <a:pt x="0" y="94512"/>
                </a:cubicBezTo>
                <a:cubicBezTo>
                  <a:pt x="0" y="42349"/>
                  <a:pt x="42349" y="0"/>
                  <a:pt x="94512" y="0"/>
                </a:cubicBezTo>
                <a:close/>
                <a:moveTo>
                  <a:pt x="85651" y="44302"/>
                </a:moveTo>
                <a:lnTo>
                  <a:pt x="85651" y="94512"/>
                </a:lnTo>
                <a:cubicBezTo>
                  <a:pt x="85651" y="97465"/>
                  <a:pt x="87128" y="100234"/>
                  <a:pt x="89601" y="101895"/>
                </a:cubicBezTo>
                <a:lnTo>
                  <a:pt x="125043" y="125523"/>
                </a:lnTo>
                <a:cubicBezTo>
                  <a:pt x="129104" y="128255"/>
                  <a:pt x="134605" y="127148"/>
                  <a:pt x="137337" y="123050"/>
                </a:cubicBezTo>
                <a:cubicBezTo>
                  <a:pt x="140069" y="118952"/>
                  <a:pt x="138962" y="113488"/>
                  <a:pt x="134864" y="110756"/>
                </a:cubicBezTo>
                <a:lnTo>
                  <a:pt x="103372" y="89786"/>
                </a:lnTo>
                <a:lnTo>
                  <a:pt x="103372" y="44302"/>
                </a:lnTo>
                <a:cubicBezTo>
                  <a:pt x="103372" y="39392"/>
                  <a:pt x="99422" y="35442"/>
                  <a:pt x="94512" y="35442"/>
                </a:cubicBezTo>
                <a:cubicBezTo>
                  <a:pt x="89601" y="35442"/>
                  <a:pt x="85651" y="39392"/>
                  <a:pt x="85651" y="44302"/>
                </a:cubicBezTo>
                <a:close/>
              </a:path>
            </a:pathLst>
          </a:custGeom>
          <a:solidFill>
            <a:srgbClr val="4F9A94"/>
          </a:solidFill>
        </p:spPr>
      </p:sp>
      <p:sp>
        <p:nvSpPr>
          <p:cNvPr id="48" name="Text 46"/>
          <p:cNvSpPr/>
          <p:nvPr/>
        </p:nvSpPr>
        <p:spPr>
          <a:xfrm>
            <a:off x="8995639" y="4772745"/>
            <a:ext cx="6504268" cy="2835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90" b="1" dirty="0">
                <a:solidFill>
                  <a:srgbClr val="4F9A9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时效性</a:t>
            </a:r>
            <a:r>
              <a:rPr lang="en-US" sz="1490" dirty="0">
                <a:solidFill>
                  <a:srgbClr val="E5E7EB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：Token 30 分钟内有效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695070" y="5187549"/>
            <a:ext cx="189023" cy="189023"/>
          </a:xfrm>
          <a:custGeom>
            <a:avLst/>
            <a:gdLst/>
            <a:ahLst/>
            <a:cxnLst/>
            <a:rect l="l" t="t" r="r" b="b"/>
            <a:pathLst>
              <a:path w="189023" h="189023">
                <a:moveTo>
                  <a:pt x="94512" y="189023"/>
                </a:moveTo>
                <a:cubicBezTo>
                  <a:pt x="146674" y="189023"/>
                  <a:pt x="189023" y="146674"/>
                  <a:pt x="189023" y="94512"/>
                </a:cubicBezTo>
                <a:cubicBezTo>
                  <a:pt x="189023" y="42349"/>
                  <a:pt x="146674" y="0"/>
                  <a:pt x="94512" y="0"/>
                </a:cubicBezTo>
                <a:cubicBezTo>
                  <a:pt x="42349" y="0"/>
                  <a:pt x="0" y="42349"/>
                  <a:pt x="0" y="94512"/>
                </a:cubicBezTo>
                <a:cubicBezTo>
                  <a:pt x="0" y="146674"/>
                  <a:pt x="42349" y="189023"/>
                  <a:pt x="94512" y="189023"/>
                </a:cubicBezTo>
                <a:close/>
                <a:moveTo>
                  <a:pt x="61654" y="61654"/>
                </a:moveTo>
                <a:cubicBezTo>
                  <a:pt x="65124" y="58184"/>
                  <a:pt x="70736" y="58184"/>
                  <a:pt x="74169" y="61654"/>
                </a:cubicBezTo>
                <a:lnTo>
                  <a:pt x="94475" y="81959"/>
                </a:lnTo>
                <a:lnTo>
                  <a:pt x="114780" y="61654"/>
                </a:lnTo>
                <a:cubicBezTo>
                  <a:pt x="118250" y="58184"/>
                  <a:pt x="123862" y="58184"/>
                  <a:pt x="127295" y="61654"/>
                </a:cubicBezTo>
                <a:cubicBezTo>
                  <a:pt x="130729" y="65124"/>
                  <a:pt x="130766" y="70736"/>
                  <a:pt x="127295" y="74169"/>
                </a:cubicBezTo>
                <a:lnTo>
                  <a:pt x="106990" y="94475"/>
                </a:lnTo>
                <a:lnTo>
                  <a:pt x="127295" y="114780"/>
                </a:lnTo>
                <a:cubicBezTo>
                  <a:pt x="130766" y="118250"/>
                  <a:pt x="130766" y="123862"/>
                  <a:pt x="127295" y="127295"/>
                </a:cubicBezTo>
                <a:cubicBezTo>
                  <a:pt x="123825" y="130729"/>
                  <a:pt x="118213" y="130766"/>
                  <a:pt x="114780" y="127295"/>
                </a:cubicBezTo>
                <a:lnTo>
                  <a:pt x="94475" y="106990"/>
                </a:lnTo>
                <a:lnTo>
                  <a:pt x="74169" y="127295"/>
                </a:lnTo>
                <a:cubicBezTo>
                  <a:pt x="70699" y="130766"/>
                  <a:pt x="65088" y="130766"/>
                  <a:pt x="61654" y="127295"/>
                </a:cubicBezTo>
                <a:cubicBezTo>
                  <a:pt x="58221" y="123825"/>
                  <a:pt x="58184" y="118213"/>
                  <a:pt x="61654" y="114780"/>
                </a:cubicBezTo>
                <a:lnTo>
                  <a:pt x="81959" y="94475"/>
                </a:lnTo>
                <a:lnTo>
                  <a:pt x="61654" y="74169"/>
                </a:lnTo>
                <a:cubicBezTo>
                  <a:pt x="58184" y="70699"/>
                  <a:pt x="58184" y="65088"/>
                  <a:pt x="61654" y="61654"/>
                </a:cubicBezTo>
                <a:close/>
              </a:path>
            </a:pathLst>
          </a:custGeom>
          <a:solidFill>
            <a:srgbClr val="4F9A94"/>
          </a:solidFill>
        </p:spPr>
      </p:sp>
      <p:sp>
        <p:nvSpPr>
          <p:cNvPr id="50" name="Text 48"/>
          <p:cNvSpPr/>
          <p:nvPr/>
        </p:nvSpPr>
        <p:spPr>
          <a:xfrm>
            <a:off x="8995639" y="5150791"/>
            <a:ext cx="6504268" cy="2835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90" b="1" dirty="0">
                <a:solidFill>
                  <a:srgbClr val="4F9A9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一次性</a:t>
            </a:r>
            <a:r>
              <a:rPr lang="en-US" sz="1490" dirty="0">
                <a:solidFill>
                  <a:srgbClr val="E5E7EB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：使用后立即失效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671442" y="5565595"/>
            <a:ext cx="236279" cy="189023"/>
          </a:xfrm>
          <a:custGeom>
            <a:avLst/>
            <a:gdLst/>
            <a:ahLst/>
            <a:cxnLst/>
            <a:rect l="l" t="t" r="r" b="b"/>
            <a:pathLst>
              <a:path w="236279" h="189023">
                <a:moveTo>
                  <a:pt x="50209" y="47256"/>
                </a:moveTo>
                <a:cubicBezTo>
                  <a:pt x="50209" y="22805"/>
                  <a:pt x="70061" y="2953"/>
                  <a:pt x="94512" y="2953"/>
                </a:cubicBezTo>
                <a:cubicBezTo>
                  <a:pt x="118963" y="2953"/>
                  <a:pt x="138814" y="22805"/>
                  <a:pt x="138814" y="47256"/>
                </a:cubicBezTo>
                <a:cubicBezTo>
                  <a:pt x="138814" y="71707"/>
                  <a:pt x="118963" y="91558"/>
                  <a:pt x="94512" y="91558"/>
                </a:cubicBezTo>
                <a:cubicBezTo>
                  <a:pt x="70061" y="91558"/>
                  <a:pt x="50209" y="71707"/>
                  <a:pt x="50209" y="47256"/>
                </a:cubicBezTo>
                <a:close/>
                <a:moveTo>
                  <a:pt x="17721" y="178058"/>
                </a:moveTo>
                <a:cubicBezTo>
                  <a:pt x="17721" y="141694"/>
                  <a:pt x="47182" y="112233"/>
                  <a:pt x="83547" y="112233"/>
                </a:cubicBezTo>
                <a:lnTo>
                  <a:pt x="105476" y="112233"/>
                </a:lnTo>
                <a:cubicBezTo>
                  <a:pt x="141841" y="112233"/>
                  <a:pt x="171302" y="141694"/>
                  <a:pt x="171302" y="178058"/>
                </a:cubicBezTo>
                <a:cubicBezTo>
                  <a:pt x="171302" y="184113"/>
                  <a:pt x="166392" y="189023"/>
                  <a:pt x="160338" y="189023"/>
                </a:cubicBezTo>
                <a:lnTo>
                  <a:pt x="28686" y="189023"/>
                </a:lnTo>
                <a:cubicBezTo>
                  <a:pt x="22631" y="189023"/>
                  <a:pt x="17721" y="184113"/>
                  <a:pt x="17721" y="178058"/>
                </a:cubicBezTo>
                <a:close/>
                <a:moveTo>
                  <a:pt x="226090" y="48991"/>
                </a:moveTo>
                <a:lnTo>
                  <a:pt x="196555" y="96247"/>
                </a:lnTo>
                <a:cubicBezTo>
                  <a:pt x="195004" y="98720"/>
                  <a:pt x="192346" y="100271"/>
                  <a:pt x="189429" y="100419"/>
                </a:cubicBezTo>
                <a:cubicBezTo>
                  <a:pt x="186513" y="100566"/>
                  <a:pt x="183707" y="99237"/>
                  <a:pt x="181972" y="96874"/>
                </a:cubicBezTo>
                <a:lnTo>
                  <a:pt x="164251" y="73247"/>
                </a:lnTo>
                <a:cubicBezTo>
                  <a:pt x="161297" y="69333"/>
                  <a:pt x="162110" y="63795"/>
                  <a:pt x="166023" y="60842"/>
                </a:cubicBezTo>
                <a:cubicBezTo>
                  <a:pt x="169936" y="57888"/>
                  <a:pt x="175474" y="58701"/>
                  <a:pt x="178428" y="62614"/>
                </a:cubicBezTo>
                <a:lnTo>
                  <a:pt x="188396" y="75905"/>
                </a:lnTo>
                <a:lnTo>
                  <a:pt x="211064" y="39614"/>
                </a:lnTo>
                <a:cubicBezTo>
                  <a:pt x="213648" y="35479"/>
                  <a:pt x="219112" y="34187"/>
                  <a:pt x="223284" y="36808"/>
                </a:cubicBezTo>
                <a:cubicBezTo>
                  <a:pt x="227456" y="39429"/>
                  <a:pt x="228711" y="44856"/>
                  <a:pt x="226090" y="49028"/>
                </a:cubicBezTo>
                <a:close/>
              </a:path>
            </a:pathLst>
          </a:custGeom>
          <a:solidFill>
            <a:srgbClr val="4F9A94"/>
          </a:solidFill>
        </p:spPr>
      </p:sp>
      <p:sp>
        <p:nvSpPr>
          <p:cNvPr id="52" name="Text 50"/>
          <p:cNvSpPr/>
          <p:nvPr/>
        </p:nvSpPr>
        <p:spPr>
          <a:xfrm>
            <a:off x="8995639" y="5528838"/>
            <a:ext cx="6504268" cy="2835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90" b="1" dirty="0">
                <a:solidFill>
                  <a:srgbClr val="4F9A9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身份绑定</a:t>
            </a:r>
            <a:r>
              <a:rPr lang="en-US" sz="1490" dirty="0">
                <a:solidFill>
                  <a:srgbClr val="E5E7EB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：与管理员账户强绑定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251190" y="6384925"/>
            <a:ext cx="7524115" cy="2040255"/>
          </a:xfrm>
          <a:custGeom>
            <a:avLst/>
            <a:gdLst/>
            <a:ahLst/>
            <a:cxnLst/>
            <a:rect l="l" t="t" r="r" b="b"/>
            <a:pathLst>
              <a:path w="7524176" h="2278780">
                <a:moveTo>
                  <a:pt x="94501" y="0"/>
                </a:moveTo>
                <a:lnTo>
                  <a:pt x="7429675" y="0"/>
                </a:lnTo>
                <a:cubicBezTo>
                  <a:pt x="7481866" y="0"/>
                  <a:pt x="7524176" y="42310"/>
                  <a:pt x="7524176" y="94501"/>
                </a:cubicBezTo>
                <a:lnTo>
                  <a:pt x="7524176" y="2184279"/>
                </a:lnTo>
                <a:cubicBezTo>
                  <a:pt x="7524176" y="2236471"/>
                  <a:pt x="7481866" y="2278780"/>
                  <a:pt x="7429675" y="2278780"/>
                </a:cubicBezTo>
                <a:lnTo>
                  <a:pt x="94501" y="2278780"/>
                </a:lnTo>
                <a:cubicBezTo>
                  <a:pt x="42310" y="2278780"/>
                  <a:pt x="0" y="2236471"/>
                  <a:pt x="0" y="2184279"/>
                </a:cubicBezTo>
                <a:lnTo>
                  <a:pt x="0" y="94501"/>
                </a:lnTo>
                <a:cubicBezTo>
                  <a:pt x="0" y="42344"/>
                  <a:pt x="42344" y="0"/>
                  <a:pt x="94501" y="0"/>
                </a:cubicBezTo>
                <a:close/>
              </a:path>
            </a:pathLst>
          </a:custGeom>
          <a:solidFill>
            <a:srgbClr val="3D4A5C">
              <a:alpha val="30196"/>
            </a:srgbClr>
          </a:solidFill>
          <a:ln w="11289">
            <a:solidFill>
              <a:srgbClr val="3D4A5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461909" y="6638046"/>
            <a:ext cx="239233" cy="212651"/>
          </a:xfrm>
          <a:custGeom>
            <a:avLst/>
            <a:gdLst/>
            <a:ahLst/>
            <a:cxnLst/>
            <a:rect l="l" t="t" r="r" b="b"/>
            <a:pathLst>
              <a:path w="239233" h="212651">
                <a:moveTo>
                  <a:pt x="146198" y="109648"/>
                </a:moveTo>
                <a:lnTo>
                  <a:pt x="146198" y="26581"/>
                </a:lnTo>
                <a:cubicBezTo>
                  <a:pt x="146198" y="19230"/>
                  <a:pt x="140258" y="13291"/>
                  <a:pt x="132907" y="13291"/>
                </a:cubicBezTo>
                <a:lnTo>
                  <a:pt x="106326" y="13291"/>
                </a:lnTo>
                <a:cubicBezTo>
                  <a:pt x="98974" y="13291"/>
                  <a:pt x="93035" y="19230"/>
                  <a:pt x="93035" y="26581"/>
                </a:cubicBezTo>
                <a:lnTo>
                  <a:pt x="93035" y="109648"/>
                </a:lnTo>
                <a:cubicBezTo>
                  <a:pt x="93035" y="115172"/>
                  <a:pt x="88591" y="119616"/>
                  <a:pt x="83067" y="119616"/>
                </a:cubicBezTo>
                <a:cubicBezTo>
                  <a:pt x="77543" y="119616"/>
                  <a:pt x="73099" y="115172"/>
                  <a:pt x="73099" y="109648"/>
                </a:cubicBezTo>
                <a:lnTo>
                  <a:pt x="73099" y="32438"/>
                </a:lnTo>
                <a:cubicBezTo>
                  <a:pt x="37380" y="45604"/>
                  <a:pt x="13291" y="79661"/>
                  <a:pt x="13291" y="119616"/>
                </a:cubicBezTo>
                <a:lnTo>
                  <a:pt x="13291" y="146198"/>
                </a:lnTo>
                <a:lnTo>
                  <a:pt x="225942" y="146198"/>
                </a:lnTo>
                <a:lnTo>
                  <a:pt x="225942" y="119616"/>
                </a:lnTo>
                <a:cubicBezTo>
                  <a:pt x="225527" y="80076"/>
                  <a:pt x="201686" y="45811"/>
                  <a:pt x="166134" y="32479"/>
                </a:cubicBezTo>
                <a:lnTo>
                  <a:pt x="166134" y="109648"/>
                </a:lnTo>
                <a:cubicBezTo>
                  <a:pt x="166134" y="115172"/>
                  <a:pt x="161690" y="119616"/>
                  <a:pt x="156166" y="119616"/>
                </a:cubicBezTo>
                <a:cubicBezTo>
                  <a:pt x="150642" y="119616"/>
                  <a:pt x="146198" y="115172"/>
                  <a:pt x="146198" y="109648"/>
                </a:cubicBezTo>
                <a:close/>
                <a:moveTo>
                  <a:pt x="16613" y="166134"/>
                </a:moveTo>
                <a:cubicBezTo>
                  <a:pt x="7434" y="166134"/>
                  <a:pt x="0" y="173568"/>
                  <a:pt x="0" y="182747"/>
                </a:cubicBezTo>
                <a:cubicBezTo>
                  <a:pt x="0" y="191926"/>
                  <a:pt x="7434" y="199360"/>
                  <a:pt x="16613" y="199360"/>
                </a:cubicBezTo>
                <a:lnTo>
                  <a:pt x="222619" y="199360"/>
                </a:lnTo>
                <a:cubicBezTo>
                  <a:pt x="231798" y="199360"/>
                  <a:pt x="239233" y="191926"/>
                  <a:pt x="239233" y="182747"/>
                </a:cubicBezTo>
                <a:cubicBezTo>
                  <a:pt x="239233" y="173568"/>
                  <a:pt x="231798" y="166134"/>
                  <a:pt x="222619" y="166134"/>
                </a:cubicBezTo>
                <a:lnTo>
                  <a:pt x="16613" y="166134"/>
                </a:lnTo>
                <a:close/>
              </a:path>
            </a:pathLst>
          </a:custGeom>
          <a:solidFill>
            <a:srgbClr val="E5E7EB"/>
          </a:solidFill>
        </p:spPr>
      </p:sp>
      <p:sp>
        <p:nvSpPr>
          <p:cNvPr id="55" name="Text 53"/>
          <p:cNvSpPr/>
          <p:nvPr/>
        </p:nvSpPr>
        <p:spPr>
          <a:xfrm>
            <a:off x="8717385" y="6578976"/>
            <a:ext cx="6970233" cy="3307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75" b="1" dirty="0">
                <a:solidFill>
                  <a:srgbClr val="E5E7E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其他安全措施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8457478" y="7088280"/>
            <a:ext cx="212651" cy="189023"/>
          </a:xfrm>
          <a:custGeom>
            <a:avLst/>
            <a:gdLst/>
            <a:ahLst/>
            <a:cxnLst/>
            <a:rect l="l" t="t" r="r" b="b"/>
            <a:pathLst>
              <a:path w="212651" h="189023">
                <a:moveTo>
                  <a:pt x="91558" y="32488"/>
                </a:moveTo>
                <a:lnTo>
                  <a:pt x="121093" y="32488"/>
                </a:lnTo>
                <a:lnTo>
                  <a:pt x="121093" y="50209"/>
                </a:lnTo>
                <a:lnTo>
                  <a:pt x="91558" y="50209"/>
                </a:lnTo>
                <a:lnTo>
                  <a:pt x="91558" y="32488"/>
                </a:lnTo>
                <a:close/>
                <a:moveTo>
                  <a:pt x="88605" y="11814"/>
                </a:moveTo>
                <a:cubicBezTo>
                  <a:pt x="78821" y="11814"/>
                  <a:pt x="70884" y="19751"/>
                  <a:pt x="70884" y="29535"/>
                </a:cubicBezTo>
                <a:lnTo>
                  <a:pt x="70884" y="53163"/>
                </a:lnTo>
                <a:cubicBezTo>
                  <a:pt x="70884" y="62946"/>
                  <a:pt x="78821" y="70884"/>
                  <a:pt x="88605" y="70884"/>
                </a:cubicBezTo>
                <a:lnTo>
                  <a:pt x="94512" y="70884"/>
                </a:lnTo>
                <a:lnTo>
                  <a:pt x="94512" y="82698"/>
                </a:lnTo>
                <a:lnTo>
                  <a:pt x="11814" y="82698"/>
                </a:lnTo>
                <a:cubicBezTo>
                  <a:pt x="5279" y="82698"/>
                  <a:pt x="0" y="87977"/>
                  <a:pt x="0" y="94512"/>
                </a:cubicBezTo>
                <a:cubicBezTo>
                  <a:pt x="0" y="101046"/>
                  <a:pt x="5279" y="106326"/>
                  <a:pt x="11814" y="106326"/>
                </a:cubicBezTo>
                <a:lnTo>
                  <a:pt x="47256" y="106326"/>
                </a:lnTo>
                <a:lnTo>
                  <a:pt x="47256" y="118140"/>
                </a:lnTo>
                <a:lnTo>
                  <a:pt x="41349" y="118140"/>
                </a:lnTo>
                <a:cubicBezTo>
                  <a:pt x="31565" y="118140"/>
                  <a:pt x="23628" y="126077"/>
                  <a:pt x="23628" y="135860"/>
                </a:cubicBezTo>
                <a:lnTo>
                  <a:pt x="23628" y="159488"/>
                </a:lnTo>
                <a:cubicBezTo>
                  <a:pt x="23628" y="169272"/>
                  <a:pt x="31565" y="177209"/>
                  <a:pt x="41349" y="177209"/>
                </a:cubicBezTo>
                <a:lnTo>
                  <a:pt x="76791" y="177209"/>
                </a:lnTo>
                <a:cubicBezTo>
                  <a:pt x="86574" y="177209"/>
                  <a:pt x="94512" y="169272"/>
                  <a:pt x="94512" y="159488"/>
                </a:cubicBezTo>
                <a:lnTo>
                  <a:pt x="94512" y="135860"/>
                </a:lnTo>
                <a:cubicBezTo>
                  <a:pt x="94512" y="126077"/>
                  <a:pt x="86574" y="118140"/>
                  <a:pt x="76791" y="118140"/>
                </a:cubicBezTo>
                <a:lnTo>
                  <a:pt x="70884" y="118140"/>
                </a:lnTo>
                <a:lnTo>
                  <a:pt x="70884" y="106326"/>
                </a:lnTo>
                <a:lnTo>
                  <a:pt x="141767" y="106326"/>
                </a:lnTo>
                <a:lnTo>
                  <a:pt x="141767" y="118140"/>
                </a:lnTo>
                <a:lnTo>
                  <a:pt x="135860" y="118140"/>
                </a:lnTo>
                <a:cubicBezTo>
                  <a:pt x="126077" y="118140"/>
                  <a:pt x="118140" y="126077"/>
                  <a:pt x="118140" y="135860"/>
                </a:cubicBezTo>
                <a:lnTo>
                  <a:pt x="118140" y="159488"/>
                </a:lnTo>
                <a:cubicBezTo>
                  <a:pt x="118140" y="169272"/>
                  <a:pt x="126077" y="177209"/>
                  <a:pt x="135860" y="177209"/>
                </a:cubicBezTo>
                <a:lnTo>
                  <a:pt x="171302" y="177209"/>
                </a:lnTo>
                <a:cubicBezTo>
                  <a:pt x="181086" y="177209"/>
                  <a:pt x="189023" y="169272"/>
                  <a:pt x="189023" y="159488"/>
                </a:cubicBezTo>
                <a:lnTo>
                  <a:pt x="189023" y="135860"/>
                </a:lnTo>
                <a:cubicBezTo>
                  <a:pt x="189023" y="126077"/>
                  <a:pt x="181086" y="118140"/>
                  <a:pt x="171302" y="118140"/>
                </a:cubicBezTo>
                <a:lnTo>
                  <a:pt x="165395" y="118140"/>
                </a:lnTo>
                <a:lnTo>
                  <a:pt x="165395" y="106326"/>
                </a:lnTo>
                <a:lnTo>
                  <a:pt x="200837" y="106326"/>
                </a:lnTo>
                <a:cubicBezTo>
                  <a:pt x="207372" y="106326"/>
                  <a:pt x="212651" y="101046"/>
                  <a:pt x="212651" y="94512"/>
                </a:cubicBezTo>
                <a:cubicBezTo>
                  <a:pt x="212651" y="87977"/>
                  <a:pt x="207372" y="82698"/>
                  <a:pt x="200837" y="82698"/>
                </a:cubicBezTo>
                <a:lnTo>
                  <a:pt x="118140" y="82698"/>
                </a:lnTo>
                <a:lnTo>
                  <a:pt x="118140" y="70884"/>
                </a:lnTo>
                <a:lnTo>
                  <a:pt x="124047" y="70884"/>
                </a:lnTo>
                <a:cubicBezTo>
                  <a:pt x="133830" y="70884"/>
                  <a:pt x="141767" y="62946"/>
                  <a:pt x="141767" y="53163"/>
                </a:cubicBezTo>
                <a:lnTo>
                  <a:pt x="141767" y="29535"/>
                </a:lnTo>
                <a:cubicBezTo>
                  <a:pt x="141767" y="19751"/>
                  <a:pt x="133830" y="11814"/>
                  <a:pt x="124047" y="11814"/>
                </a:cubicBezTo>
                <a:lnTo>
                  <a:pt x="88605" y="11814"/>
                </a:lnTo>
                <a:close/>
                <a:moveTo>
                  <a:pt x="165395" y="138814"/>
                </a:moveTo>
                <a:lnTo>
                  <a:pt x="168349" y="138814"/>
                </a:lnTo>
                <a:lnTo>
                  <a:pt x="168349" y="156535"/>
                </a:lnTo>
                <a:lnTo>
                  <a:pt x="138814" y="156535"/>
                </a:lnTo>
                <a:lnTo>
                  <a:pt x="138814" y="138814"/>
                </a:lnTo>
                <a:lnTo>
                  <a:pt x="165395" y="138814"/>
                </a:lnTo>
                <a:close/>
                <a:moveTo>
                  <a:pt x="70884" y="138814"/>
                </a:moveTo>
                <a:lnTo>
                  <a:pt x="73837" y="138814"/>
                </a:lnTo>
                <a:lnTo>
                  <a:pt x="73837" y="156535"/>
                </a:lnTo>
                <a:lnTo>
                  <a:pt x="44302" y="156535"/>
                </a:lnTo>
                <a:lnTo>
                  <a:pt x="44302" y="138814"/>
                </a:lnTo>
                <a:lnTo>
                  <a:pt x="70884" y="138814"/>
                </a:lnTo>
                <a:close/>
              </a:path>
            </a:pathLst>
          </a:custGeom>
          <a:solidFill>
            <a:srgbClr val="4F9A94"/>
          </a:solidFill>
        </p:spPr>
      </p:sp>
      <p:sp>
        <p:nvSpPr>
          <p:cNvPr id="57" name="Text 55"/>
          <p:cNvSpPr/>
          <p:nvPr/>
        </p:nvSpPr>
        <p:spPr>
          <a:xfrm>
            <a:off x="8769861" y="7051534"/>
            <a:ext cx="6905943" cy="2835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90" b="1" dirty="0">
                <a:solidFill>
                  <a:srgbClr val="4F9A9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网络隔离</a:t>
            </a:r>
            <a:r>
              <a:rPr lang="en-US" sz="1490" dirty="0">
                <a:solidFill>
                  <a:srgbClr val="E5E7EB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：数据库部署在内网环境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8492920" y="7466326"/>
            <a:ext cx="141767" cy="189023"/>
          </a:xfrm>
          <a:custGeom>
            <a:avLst/>
            <a:gdLst/>
            <a:ahLst/>
            <a:cxnLst/>
            <a:rect l="l" t="t" r="r" b="b"/>
            <a:pathLst>
              <a:path w="141767" h="189023">
                <a:moveTo>
                  <a:pt x="0" y="23628"/>
                </a:moveTo>
                <a:cubicBezTo>
                  <a:pt x="0" y="10596"/>
                  <a:pt x="10596" y="0"/>
                  <a:pt x="23628" y="0"/>
                </a:cubicBezTo>
                <a:lnTo>
                  <a:pt x="78821" y="0"/>
                </a:lnTo>
                <a:cubicBezTo>
                  <a:pt x="85097" y="0"/>
                  <a:pt x="91115" y="2474"/>
                  <a:pt x="95545" y="6904"/>
                </a:cubicBezTo>
                <a:lnTo>
                  <a:pt x="134864" y="46259"/>
                </a:lnTo>
                <a:cubicBezTo>
                  <a:pt x="139294" y="50689"/>
                  <a:pt x="141767" y="56707"/>
                  <a:pt x="141767" y="62983"/>
                </a:cubicBezTo>
                <a:lnTo>
                  <a:pt x="141767" y="165395"/>
                </a:lnTo>
                <a:cubicBezTo>
                  <a:pt x="141767" y="178428"/>
                  <a:pt x="131172" y="189023"/>
                  <a:pt x="118140" y="189023"/>
                </a:cubicBezTo>
                <a:lnTo>
                  <a:pt x="23628" y="189023"/>
                </a:lnTo>
                <a:cubicBezTo>
                  <a:pt x="10596" y="189023"/>
                  <a:pt x="0" y="178428"/>
                  <a:pt x="0" y="165395"/>
                </a:cubicBezTo>
                <a:lnTo>
                  <a:pt x="0" y="23628"/>
                </a:lnTo>
                <a:close/>
                <a:moveTo>
                  <a:pt x="76791" y="21597"/>
                </a:moveTo>
                <a:lnTo>
                  <a:pt x="76791" y="56116"/>
                </a:lnTo>
                <a:cubicBezTo>
                  <a:pt x="76791" y="61026"/>
                  <a:pt x="80741" y="64977"/>
                  <a:pt x="85651" y="64977"/>
                </a:cubicBezTo>
                <a:lnTo>
                  <a:pt x="120170" y="64977"/>
                </a:lnTo>
                <a:lnTo>
                  <a:pt x="76791" y="21597"/>
                </a:lnTo>
                <a:close/>
                <a:moveTo>
                  <a:pt x="44302" y="94512"/>
                </a:moveTo>
                <a:cubicBezTo>
                  <a:pt x="39392" y="94512"/>
                  <a:pt x="35442" y="98462"/>
                  <a:pt x="35442" y="103372"/>
                </a:cubicBezTo>
                <a:cubicBezTo>
                  <a:pt x="35442" y="108282"/>
                  <a:pt x="39392" y="112233"/>
                  <a:pt x="44302" y="112233"/>
                </a:cubicBezTo>
                <a:lnTo>
                  <a:pt x="97465" y="112233"/>
                </a:lnTo>
                <a:cubicBezTo>
                  <a:pt x="102375" y="112233"/>
                  <a:pt x="106326" y="108282"/>
                  <a:pt x="106326" y="103372"/>
                </a:cubicBezTo>
                <a:cubicBezTo>
                  <a:pt x="106326" y="98462"/>
                  <a:pt x="102375" y="94512"/>
                  <a:pt x="97465" y="94512"/>
                </a:cubicBezTo>
                <a:lnTo>
                  <a:pt x="44302" y="94512"/>
                </a:lnTo>
                <a:close/>
                <a:moveTo>
                  <a:pt x="44302" y="129953"/>
                </a:moveTo>
                <a:cubicBezTo>
                  <a:pt x="39392" y="129953"/>
                  <a:pt x="35442" y="133904"/>
                  <a:pt x="35442" y="138814"/>
                </a:cubicBezTo>
                <a:cubicBezTo>
                  <a:pt x="35442" y="143724"/>
                  <a:pt x="39392" y="147674"/>
                  <a:pt x="44302" y="147674"/>
                </a:cubicBezTo>
                <a:lnTo>
                  <a:pt x="97465" y="147674"/>
                </a:lnTo>
                <a:cubicBezTo>
                  <a:pt x="102375" y="147674"/>
                  <a:pt x="106326" y="143724"/>
                  <a:pt x="106326" y="138814"/>
                </a:cubicBezTo>
                <a:cubicBezTo>
                  <a:pt x="106326" y="133904"/>
                  <a:pt x="102375" y="129953"/>
                  <a:pt x="97465" y="129953"/>
                </a:cubicBezTo>
                <a:lnTo>
                  <a:pt x="44302" y="129953"/>
                </a:lnTo>
                <a:close/>
              </a:path>
            </a:pathLst>
          </a:custGeom>
          <a:solidFill>
            <a:srgbClr val="4F9A94"/>
          </a:solidFill>
        </p:spPr>
      </p:sp>
      <p:sp>
        <p:nvSpPr>
          <p:cNvPr id="59" name="Text 57"/>
          <p:cNvSpPr/>
          <p:nvPr/>
        </p:nvSpPr>
        <p:spPr>
          <a:xfrm>
            <a:off x="8769861" y="7429581"/>
            <a:ext cx="6905943" cy="2835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90" b="1" dirty="0">
                <a:solidFill>
                  <a:srgbClr val="4F9A9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操作审计</a:t>
            </a:r>
            <a:r>
              <a:rPr lang="en-US" sz="1490" dirty="0">
                <a:solidFill>
                  <a:srgbClr val="E5E7EB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：记录所有敏感操作日志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8469292" y="7844373"/>
            <a:ext cx="189023" cy="189023"/>
          </a:xfrm>
          <a:custGeom>
            <a:avLst/>
            <a:gdLst/>
            <a:ahLst/>
            <a:cxnLst/>
            <a:rect l="l" t="t" r="r" b="b"/>
            <a:pathLst>
              <a:path w="189023" h="189023">
                <a:moveTo>
                  <a:pt x="124047" y="129953"/>
                </a:moveTo>
                <a:cubicBezTo>
                  <a:pt x="159931" y="129953"/>
                  <a:pt x="189023" y="100862"/>
                  <a:pt x="189023" y="64977"/>
                </a:cubicBezTo>
                <a:cubicBezTo>
                  <a:pt x="189023" y="29092"/>
                  <a:pt x="159931" y="0"/>
                  <a:pt x="124047" y="0"/>
                </a:cubicBezTo>
                <a:cubicBezTo>
                  <a:pt x="88162" y="0"/>
                  <a:pt x="59070" y="29092"/>
                  <a:pt x="59070" y="64977"/>
                </a:cubicBezTo>
                <a:cubicBezTo>
                  <a:pt x="59070" y="71881"/>
                  <a:pt x="60140" y="78563"/>
                  <a:pt x="62134" y="84802"/>
                </a:cubicBezTo>
                <a:lnTo>
                  <a:pt x="2584" y="144352"/>
                </a:lnTo>
                <a:cubicBezTo>
                  <a:pt x="923" y="146013"/>
                  <a:pt x="0" y="148265"/>
                  <a:pt x="0" y="150628"/>
                </a:cubicBezTo>
                <a:lnTo>
                  <a:pt x="0" y="180163"/>
                </a:lnTo>
                <a:cubicBezTo>
                  <a:pt x="0" y="185073"/>
                  <a:pt x="3950" y="189023"/>
                  <a:pt x="8860" y="189023"/>
                </a:cubicBezTo>
                <a:lnTo>
                  <a:pt x="38395" y="189023"/>
                </a:lnTo>
                <a:cubicBezTo>
                  <a:pt x="43306" y="189023"/>
                  <a:pt x="47256" y="185073"/>
                  <a:pt x="47256" y="180163"/>
                </a:cubicBezTo>
                <a:lnTo>
                  <a:pt x="47256" y="165395"/>
                </a:lnTo>
                <a:lnTo>
                  <a:pt x="62023" y="165395"/>
                </a:lnTo>
                <a:cubicBezTo>
                  <a:pt x="66933" y="165395"/>
                  <a:pt x="70884" y="161445"/>
                  <a:pt x="70884" y="156535"/>
                </a:cubicBezTo>
                <a:lnTo>
                  <a:pt x="70884" y="141767"/>
                </a:lnTo>
                <a:lnTo>
                  <a:pt x="85651" y="141767"/>
                </a:lnTo>
                <a:cubicBezTo>
                  <a:pt x="88014" y="141767"/>
                  <a:pt x="90266" y="140844"/>
                  <a:pt x="91927" y="139183"/>
                </a:cubicBezTo>
                <a:lnTo>
                  <a:pt x="104221" y="126889"/>
                </a:lnTo>
                <a:cubicBezTo>
                  <a:pt x="110460" y="128883"/>
                  <a:pt x="117143" y="129953"/>
                  <a:pt x="124047" y="129953"/>
                </a:cubicBezTo>
                <a:close/>
                <a:moveTo>
                  <a:pt x="138814" y="35442"/>
                </a:moveTo>
                <a:cubicBezTo>
                  <a:pt x="146964" y="35442"/>
                  <a:pt x="153581" y="42059"/>
                  <a:pt x="153581" y="50209"/>
                </a:cubicBezTo>
                <a:cubicBezTo>
                  <a:pt x="153581" y="58360"/>
                  <a:pt x="146964" y="64977"/>
                  <a:pt x="138814" y="64977"/>
                </a:cubicBezTo>
                <a:cubicBezTo>
                  <a:pt x="130664" y="64977"/>
                  <a:pt x="124047" y="58360"/>
                  <a:pt x="124047" y="50209"/>
                </a:cubicBezTo>
                <a:cubicBezTo>
                  <a:pt x="124047" y="42059"/>
                  <a:pt x="130664" y="35442"/>
                  <a:pt x="138814" y="35442"/>
                </a:cubicBezTo>
                <a:close/>
              </a:path>
            </a:pathLst>
          </a:custGeom>
          <a:solidFill>
            <a:srgbClr val="4F9A94"/>
          </a:solidFill>
        </p:spPr>
      </p:sp>
      <p:sp>
        <p:nvSpPr>
          <p:cNvPr id="61" name="Text 59"/>
          <p:cNvSpPr/>
          <p:nvPr/>
        </p:nvSpPr>
        <p:spPr>
          <a:xfrm>
            <a:off x="8769861" y="7807627"/>
            <a:ext cx="6905943" cy="2835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90" b="1" dirty="0">
                <a:solidFill>
                  <a:srgbClr val="4F9A9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密码策略</a:t>
            </a:r>
            <a:r>
              <a:rPr lang="en-US" sz="1490" dirty="0">
                <a:solidFill>
                  <a:srgbClr val="E5E7EB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：强制复杂密码、定期更换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8469292" y="8222419"/>
            <a:ext cx="189023" cy="189023"/>
          </a:xfrm>
          <a:custGeom>
            <a:avLst/>
            <a:gdLst/>
            <a:ahLst/>
            <a:cxnLst/>
            <a:rect l="l" t="t" r="r" b="b"/>
            <a:pathLst>
              <a:path w="189023" h="189023">
                <a:moveTo>
                  <a:pt x="93552" y="1071"/>
                </a:moveTo>
                <a:cubicBezTo>
                  <a:pt x="92001" y="369"/>
                  <a:pt x="90340" y="0"/>
                  <a:pt x="88605" y="0"/>
                </a:cubicBezTo>
                <a:cubicBezTo>
                  <a:pt x="86869" y="0"/>
                  <a:pt x="85208" y="369"/>
                  <a:pt x="83658" y="1071"/>
                </a:cubicBezTo>
                <a:lnTo>
                  <a:pt x="14140" y="30569"/>
                </a:lnTo>
                <a:cubicBezTo>
                  <a:pt x="6018" y="34002"/>
                  <a:pt x="-37" y="42013"/>
                  <a:pt x="0" y="51686"/>
                </a:cubicBezTo>
                <a:cubicBezTo>
                  <a:pt x="185" y="88309"/>
                  <a:pt x="15247" y="155317"/>
                  <a:pt x="78858" y="185774"/>
                </a:cubicBezTo>
                <a:cubicBezTo>
                  <a:pt x="85024" y="188728"/>
                  <a:pt x="92186" y="188728"/>
                  <a:pt x="98351" y="185774"/>
                </a:cubicBezTo>
                <a:cubicBezTo>
                  <a:pt x="161999" y="155317"/>
                  <a:pt x="177062" y="88309"/>
                  <a:pt x="177209" y="51686"/>
                </a:cubicBezTo>
                <a:cubicBezTo>
                  <a:pt x="177246" y="42013"/>
                  <a:pt x="171192" y="34002"/>
                  <a:pt x="163069" y="30569"/>
                </a:cubicBezTo>
                <a:lnTo>
                  <a:pt x="93552" y="1071"/>
                </a:lnTo>
                <a:close/>
                <a:moveTo>
                  <a:pt x="88605" y="47256"/>
                </a:moveTo>
                <a:cubicBezTo>
                  <a:pt x="93515" y="47256"/>
                  <a:pt x="97465" y="51206"/>
                  <a:pt x="97465" y="56116"/>
                </a:cubicBezTo>
                <a:cubicBezTo>
                  <a:pt x="97465" y="64571"/>
                  <a:pt x="107692" y="68816"/>
                  <a:pt x="113672" y="62835"/>
                </a:cubicBezTo>
                <a:cubicBezTo>
                  <a:pt x="117143" y="59365"/>
                  <a:pt x="122754" y="59365"/>
                  <a:pt x="126188" y="62835"/>
                </a:cubicBezTo>
                <a:cubicBezTo>
                  <a:pt x="129621" y="66306"/>
                  <a:pt x="129658" y="71917"/>
                  <a:pt x="126188" y="75351"/>
                </a:cubicBezTo>
                <a:cubicBezTo>
                  <a:pt x="120207" y="81332"/>
                  <a:pt x="124453" y="91558"/>
                  <a:pt x="132907" y="91558"/>
                </a:cubicBezTo>
                <a:cubicBezTo>
                  <a:pt x="137817" y="91558"/>
                  <a:pt x="141767" y="95508"/>
                  <a:pt x="141767" y="100419"/>
                </a:cubicBezTo>
                <a:cubicBezTo>
                  <a:pt x="141767" y="105329"/>
                  <a:pt x="137817" y="109279"/>
                  <a:pt x="132907" y="109279"/>
                </a:cubicBezTo>
                <a:cubicBezTo>
                  <a:pt x="124453" y="109279"/>
                  <a:pt x="120207" y="119506"/>
                  <a:pt x="126188" y="125486"/>
                </a:cubicBezTo>
                <a:cubicBezTo>
                  <a:pt x="129658" y="128957"/>
                  <a:pt x="129658" y="134568"/>
                  <a:pt x="126188" y="138002"/>
                </a:cubicBezTo>
                <a:cubicBezTo>
                  <a:pt x="122717" y="141435"/>
                  <a:pt x="117106" y="141472"/>
                  <a:pt x="113672" y="138002"/>
                </a:cubicBezTo>
                <a:cubicBezTo>
                  <a:pt x="107692" y="132021"/>
                  <a:pt x="97465" y="136267"/>
                  <a:pt x="97465" y="144721"/>
                </a:cubicBezTo>
                <a:cubicBezTo>
                  <a:pt x="97465" y="149631"/>
                  <a:pt x="93515" y="153581"/>
                  <a:pt x="88605" y="153581"/>
                </a:cubicBezTo>
                <a:cubicBezTo>
                  <a:pt x="83694" y="153581"/>
                  <a:pt x="79744" y="149631"/>
                  <a:pt x="79744" y="144721"/>
                </a:cubicBezTo>
                <a:cubicBezTo>
                  <a:pt x="79744" y="136267"/>
                  <a:pt x="69518" y="132021"/>
                  <a:pt x="63537" y="138002"/>
                </a:cubicBezTo>
                <a:cubicBezTo>
                  <a:pt x="60067" y="141472"/>
                  <a:pt x="54455" y="141472"/>
                  <a:pt x="51022" y="138002"/>
                </a:cubicBezTo>
                <a:cubicBezTo>
                  <a:pt x="47588" y="134531"/>
                  <a:pt x="47551" y="128920"/>
                  <a:pt x="51022" y="125486"/>
                </a:cubicBezTo>
                <a:cubicBezTo>
                  <a:pt x="57002" y="119506"/>
                  <a:pt x="52757" y="109279"/>
                  <a:pt x="44302" y="109279"/>
                </a:cubicBezTo>
                <a:cubicBezTo>
                  <a:pt x="39392" y="109279"/>
                  <a:pt x="35442" y="105329"/>
                  <a:pt x="35442" y="100419"/>
                </a:cubicBezTo>
                <a:cubicBezTo>
                  <a:pt x="35442" y="95508"/>
                  <a:pt x="39392" y="91558"/>
                  <a:pt x="44302" y="91558"/>
                </a:cubicBezTo>
                <a:cubicBezTo>
                  <a:pt x="52757" y="91558"/>
                  <a:pt x="57002" y="81332"/>
                  <a:pt x="51022" y="75351"/>
                </a:cubicBezTo>
                <a:cubicBezTo>
                  <a:pt x="47551" y="71881"/>
                  <a:pt x="47551" y="66269"/>
                  <a:pt x="51022" y="62835"/>
                </a:cubicBezTo>
                <a:cubicBezTo>
                  <a:pt x="54492" y="59402"/>
                  <a:pt x="60103" y="59365"/>
                  <a:pt x="63537" y="62835"/>
                </a:cubicBezTo>
                <a:cubicBezTo>
                  <a:pt x="69518" y="68816"/>
                  <a:pt x="79744" y="64571"/>
                  <a:pt x="79744" y="56116"/>
                </a:cubicBezTo>
                <a:cubicBezTo>
                  <a:pt x="79744" y="51206"/>
                  <a:pt x="83694" y="47256"/>
                  <a:pt x="88605" y="47256"/>
                </a:cubicBezTo>
                <a:close/>
                <a:moveTo>
                  <a:pt x="76791" y="97465"/>
                </a:moveTo>
                <a:cubicBezTo>
                  <a:pt x="81681" y="97465"/>
                  <a:pt x="85651" y="93495"/>
                  <a:pt x="85651" y="88605"/>
                </a:cubicBezTo>
                <a:cubicBezTo>
                  <a:pt x="85651" y="83714"/>
                  <a:pt x="81681" y="79744"/>
                  <a:pt x="76791" y="79744"/>
                </a:cubicBezTo>
                <a:cubicBezTo>
                  <a:pt x="71900" y="79744"/>
                  <a:pt x="67930" y="83714"/>
                  <a:pt x="67930" y="88605"/>
                </a:cubicBezTo>
                <a:cubicBezTo>
                  <a:pt x="67930" y="93495"/>
                  <a:pt x="71900" y="97465"/>
                  <a:pt x="76791" y="97465"/>
                </a:cubicBezTo>
                <a:close/>
                <a:moveTo>
                  <a:pt x="109279" y="112233"/>
                </a:moveTo>
                <a:cubicBezTo>
                  <a:pt x="109279" y="107342"/>
                  <a:pt x="105309" y="103372"/>
                  <a:pt x="100419" y="103372"/>
                </a:cubicBezTo>
                <a:cubicBezTo>
                  <a:pt x="95528" y="103372"/>
                  <a:pt x="91558" y="107342"/>
                  <a:pt x="91558" y="112233"/>
                </a:cubicBezTo>
                <a:cubicBezTo>
                  <a:pt x="91558" y="117123"/>
                  <a:pt x="95528" y="121093"/>
                  <a:pt x="100419" y="121093"/>
                </a:cubicBezTo>
                <a:cubicBezTo>
                  <a:pt x="105309" y="121093"/>
                  <a:pt x="109279" y="117123"/>
                  <a:pt x="109279" y="112233"/>
                </a:cubicBezTo>
                <a:close/>
              </a:path>
            </a:pathLst>
          </a:custGeom>
          <a:solidFill>
            <a:srgbClr val="4F9A94"/>
          </a:solidFill>
        </p:spPr>
      </p:sp>
      <p:sp>
        <p:nvSpPr>
          <p:cNvPr id="63" name="Text 61"/>
          <p:cNvSpPr/>
          <p:nvPr/>
        </p:nvSpPr>
        <p:spPr>
          <a:xfrm>
            <a:off x="8769861" y="8185674"/>
            <a:ext cx="6905943" cy="2835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90" b="1" dirty="0">
                <a:solidFill>
                  <a:srgbClr val="4F9A9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SQL 注入防护</a:t>
            </a:r>
            <a:r>
              <a:rPr lang="en-US" sz="1490" dirty="0">
                <a:solidFill>
                  <a:srgbClr val="E5E7EB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：参数化查询、输入验证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7208" y="491928"/>
            <a:ext cx="67081" cy="447208"/>
          </a:xfrm>
          <a:custGeom>
            <a:avLst/>
            <a:gdLst/>
            <a:ahLst/>
            <a:cxnLst/>
            <a:rect l="l" t="t" r="r" b="b"/>
            <a:pathLst>
              <a:path w="67081" h="447208">
                <a:moveTo>
                  <a:pt x="0" y="0"/>
                </a:moveTo>
                <a:lnTo>
                  <a:pt x="67081" y="0"/>
                </a:lnTo>
                <a:lnTo>
                  <a:pt x="67081" y="447208"/>
                </a:lnTo>
                <a:lnTo>
                  <a:pt x="0" y="447208"/>
                </a:lnTo>
                <a:lnTo>
                  <a:pt x="0" y="0"/>
                </a:lnTo>
                <a:close/>
              </a:path>
            </a:pathLst>
          </a:custGeom>
          <a:solidFill>
            <a:srgbClr val="4F9A94"/>
          </a:solidFill>
        </p:spPr>
      </p:sp>
      <p:sp>
        <p:nvSpPr>
          <p:cNvPr id="3" name="Text 1"/>
          <p:cNvSpPr/>
          <p:nvPr/>
        </p:nvSpPr>
        <p:spPr>
          <a:xfrm>
            <a:off x="648451" y="447208"/>
            <a:ext cx="4024869" cy="53664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225" b="1" dirty="0">
                <a:solidFill>
                  <a:srgbClr val="E5E7E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系统演示与成果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21247" y="1004718"/>
            <a:ext cx="15205062" cy="3130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60" dirty="0">
                <a:solidFill>
                  <a:srgbClr val="6B728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Demo &amp; Achievements</a:t>
            </a:r>
            <a:endParaRPr lang="en-US" sz="1600" dirty="0"/>
          </a:p>
        </p:txBody>
      </p:sp>
      <p:grpSp>
        <p:nvGrpSpPr>
          <p:cNvPr id="79" name="组合 78"/>
          <p:cNvGrpSpPr/>
          <p:nvPr/>
        </p:nvGrpSpPr>
        <p:grpSpPr>
          <a:xfrm>
            <a:off x="469265" y="1609725"/>
            <a:ext cx="7546340" cy="2280920"/>
            <a:chOff x="739" y="2535"/>
            <a:chExt cx="11884" cy="3592"/>
          </a:xfrm>
        </p:grpSpPr>
        <p:sp>
          <p:nvSpPr>
            <p:cNvPr id="5" name="Shape 3"/>
            <p:cNvSpPr/>
            <p:nvPr/>
          </p:nvSpPr>
          <p:spPr>
            <a:xfrm>
              <a:off x="739" y="2535"/>
              <a:ext cx="11884" cy="3592"/>
            </a:xfrm>
            <a:custGeom>
              <a:avLst/>
              <a:gdLst/>
              <a:ahLst/>
              <a:cxnLst/>
              <a:rect l="l" t="t" r="r" b="b"/>
              <a:pathLst>
                <a:path w="7546630" h="2280759">
                  <a:moveTo>
                    <a:pt x="0" y="0"/>
                  </a:moveTo>
                  <a:lnTo>
                    <a:pt x="7457179" y="0"/>
                  </a:lnTo>
                  <a:cubicBezTo>
                    <a:pt x="7506581" y="0"/>
                    <a:pt x="7546630" y="40049"/>
                    <a:pt x="7546630" y="89451"/>
                  </a:cubicBezTo>
                  <a:lnTo>
                    <a:pt x="7546630" y="2191308"/>
                  </a:lnTo>
                  <a:cubicBezTo>
                    <a:pt x="7546630" y="2240711"/>
                    <a:pt x="7506581" y="2280759"/>
                    <a:pt x="7457179" y="2280759"/>
                  </a:cubicBezTo>
                  <a:lnTo>
                    <a:pt x="0" y="22807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4A5C">
                <a:alpha val="30196"/>
              </a:srgbClr>
            </a:solidFill>
          </p:spPr>
        </p:sp>
        <p:sp>
          <p:nvSpPr>
            <p:cNvPr id="6" name="Shape 4"/>
            <p:cNvSpPr/>
            <p:nvPr/>
          </p:nvSpPr>
          <p:spPr>
            <a:xfrm>
              <a:off x="739" y="2535"/>
              <a:ext cx="70" cy="3592"/>
            </a:xfrm>
            <a:custGeom>
              <a:avLst/>
              <a:gdLst/>
              <a:ahLst/>
              <a:cxnLst/>
              <a:rect l="l" t="t" r="r" b="b"/>
              <a:pathLst>
                <a:path w="44721" h="2280759">
                  <a:moveTo>
                    <a:pt x="0" y="0"/>
                  </a:moveTo>
                  <a:lnTo>
                    <a:pt x="44721" y="0"/>
                  </a:lnTo>
                  <a:lnTo>
                    <a:pt x="44721" y="2280759"/>
                  </a:lnTo>
                  <a:lnTo>
                    <a:pt x="0" y="22807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9A94"/>
            </a:solidFill>
          </p:spPr>
        </p:sp>
        <p:sp>
          <p:nvSpPr>
            <p:cNvPr id="7" name="Shape 5"/>
            <p:cNvSpPr/>
            <p:nvPr/>
          </p:nvSpPr>
          <p:spPr>
            <a:xfrm>
              <a:off x="1136" y="2852"/>
              <a:ext cx="370" cy="423"/>
            </a:xfrm>
            <a:custGeom>
              <a:avLst/>
              <a:gdLst/>
              <a:ahLst/>
              <a:cxnLst/>
              <a:rect l="l" t="t" r="r" b="b"/>
              <a:pathLst>
                <a:path w="234784" h="268325">
                  <a:moveTo>
                    <a:pt x="33541" y="16770"/>
                  </a:moveTo>
                  <a:cubicBezTo>
                    <a:pt x="15041" y="16770"/>
                    <a:pt x="0" y="31811"/>
                    <a:pt x="0" y="50311"/>
                  </a:cubicBezTo>
                  <a:lnTo>
                    <a:pt x="0" y="83851"/>
                  </a:lnTo>
                  <a:cubicBezTo>
                    <a:pt x="0" y="102351"/>
                    <a:pt x="15041" y="117392"/>
                    <a:pt x="33541" y="117392"/>
                  </a:cubicBezTo>
                  <a:lnTo>
                    <a:pt x="201243" y="117392"/>
                  </a:lnTo>
                  <a:cubicBezTo>
                    <a:pt x="219743" y="117392"/>
                    <a:pt x="234784" y="102351"/>
                    <a:pt x="234784" y="83851"/>
                  </a:cubicBezTo>
                  <a:lnTo>
                    <a:pt x="234784" y="50311"/>
                  </a:lnTo>
                  <a:cubicBezTo>
                    <a:pt x="234784" y="31811"/>
                    <a:pt x="219743" y="16770"/>
                    <a:pt x="201243" y="16770"/>
                  </a:cubicBezTo>
                  <a:lnTo>
                    <a:pt x="33541" y="16770"/>
                  </a:lnTo>
                  <a:close/>
                  <a:moveTo>
                    <a:pt x="146740" y="54503"/>
                  </a:moveTo>
                  <a:cubicBezTo>
                    <a:pt x="153682" y="54503"/>
                    <a:pt x="159318" y="60139"/>
                    <a:pt x="159318" y="67081"/>
                  </a:cubicBezTo>
                  <a:cubicBezTo>
                    <a:pt x="159318" y="74023"/>
                    <a:pt x="153682" y="79659"/>
                    <a:pt x="146740" y="79659"/>
                  </a:cubicBezTo>
                  <a:cubicBezTo>
                    <a:pt x="139798" y="79659"/>
                    <a:pt x="134162" y="74023"/>
                    <a:pt x="134162" y="67081"/>
                  </a:cubicBezTo>
                  <a:cubicBezTo>
                    <a:pt x="134162" y="60139"/>
                    <a:pt x="139798" y="54503"/>
                    <a:pt x="146740" y="54503"/>
                  </a:cubicBezTo>
                  <a:close/>
                  <a:moveTo>
                    <a:pt x="176088" y="67081"/>
                  </a:moveTo>
                  <a:cubicBezTo>
                    <a:pt x="176088" y="60139"/>
                    <a:pt x="181724" y="54503"/>
                    <a:pt x="188666" y="54503"/>
                  </a:cubicBezTo>
                  <a:cubicBezTo>
                    <a:pt x="195608" y="54503"/>
                    <a:pt x="201243" y="60139"/>
                    <a:pt x="201243" y="67081"/>
                  </a:cubicBezTo>
                  <a:cubicBezTo>
                    <a:pt x="201243" y="74023"/>
                    <a:pt x="195608" y="79659"/>
                    <a:pt x="188666" y="79659"/>
                  </a:cubicBezTo>
                  <a:cubicBezTo>
                    <a:pt x="181724" y="79659"/>
                    <a:pt x="176088" y="74023"/>
                    <a:pt x="176088" y="67081"/>
                  </a:cubicBezTo>
                  <a:close/>
                  <a:moveTo>
                    <a:pt x="33541" y="150933"/>
                  </a:moveTo>
                  <a:cubicBezTo>
                    <a:pt x="15041" y="150933"/>
                    <a:pt x="0" y="165973"/>
                    <a:pt x="0" y="184473"/>
                  </a:cubicBezTo>
                  <a:lnTo>
                    <a:pt x="0" y="218014"/>
                  </a:lnTo>
                  <a:cubicBezTo>
                    <a:pt x="0" y="236513"/>
                    <a:pt x="15041" y="251554"/>
                    <a:pt x="33541" y="251554"/>
                  </a:cubicBezTo>
                  <a:lnTo>
                    <a:pt x="201243" y="251554"/>
                  </a:lnTo>
                  <a:cubicBezTo>
                    <a:pt x="219743" y="251554"/>
                    <a:pt x="234784" y="236513"/>
                    <a:pt x="234784" y="218014"/>
                  </a:cubicBezTo>
                  <a:lnTo>
                    <a:pt x="234784" y="184473"/>
                  </a:lnTo>
                  <a:cubicBezTo>
                    <a:pt x="234784" y="165973"/>
                    <a:pt x="219743" y="150933"/>
                    <a:pt x="201243" y="150933"/>
                  </a:cubicBezTo>
                  <a:lnTo>
                    <a:pt x="33541" y="150933"/>
                  </a:lnTo>
                  <a:close/>
                  <a:moveTo>
                    <a:pt x="146740" y="188666"/>
                  </a:moveTo>
                  <a:cubicBezTo>
                    <a:pt x="153682" y="188666"/>
                    <a:pt x="159318" y="194302"/>
                    <a:pt x="159318" y="201243"/>
                  </a:cubicBezTo>
                  <a:cubicBezTo>
                    <a:pt x="159318" y="208185"/>
                    <a:pt x="153682" y="213821"/>
                    <a:pt x="146740" y="213821"/>
                  </a:cubicBezTo>
                  <a:cubicBezTo>
                    <a:pt x="139798" y="213821"/>
                    <a:pt x="134162" y="208185"/>
                    <a:pt x="134162" y="201243"/>
                  </a:cubicBezTo>
                  <a:cubicBezTo>
                    <a:pt x="134162" y="194302"/>
                    <a:pt x="139798" y="188666"/>
                    <a:pt x="146740" y="188666"/>
                  </a:cubicBezTo>
                  <a:close/>
                  <a:moveTo>
                    <a:pt x="176088" y="201243"/>
                  </a:moveTo>
                  <a:cubicBezTo>
                    <a:pt x="176088" y="194302"/>
                    <a:pt x="181724" y="188666"/>
                    <a:pt x="188666" y="188666"/>
                  </a:cubicBezTo>
                  <a:cubicBezTo>
                    <a:pt x="195608" y="188666"/>
                    <a:pt x="201243" y="194302"/>
                    <a:pt x="201243" y="201243"/>
                  </a:cubicBezTo>
                  <a:cubicBezTo>
                    <a:pt x="201243" y="208185"/>
                    <a:pt x="195608" y="213821"/>
                    <a:pt x="188666" y="213821"/>
                  </a:cubicBezTo>
                  <a:cubicBezTo>
                    <a:pt x="181724" y="213821"/>
                    <a:pt x="176088" y="208185"/>
                    <a:pt x="176088" y="201243"/>
                  </a:cubicBezTo>
                  <a:close/>
                </a:path>
              </a:pathLst>
            </a:custGeom>
            <a:solidFill>
              <a:srgbClr val="4F9A94"/>
            </a:solidFill>
          </p:spPr>
        </p:sp>
        <p:sp>
          <p:nvSpPr>
            <p:cNvPr id="8" name="Text 6"/>
            <p:cNvSpPr/>
            <p:nvPr/>
          </p:nvSpPr>
          <p:spPr>
            <a:xfrm>
              <a:off x="1796" y="2817"/>
              <a:ext cx="1585" cy="49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760" b="1" dirty="0">
                  <a:solidFill>
                    <a:srgbClr val="E5E7EB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运行环境</a:t>
              </a:r>
              <a:endParaRPr lang="en-US" sz="16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1056" y="3521"/>
              <a:ext cx="11286" cy="2324"/>
            </a:xfrm>
            <a:custGeom>
              <a:avLst/>
              <a:gdLst/>
              <a:ahLst/>
              <a:cxnLst/>
              <a:rect l="l" t="t" r="r" b="b"/>
              <a:pathLst>
                <a:path w="7166503" h="1475785">
                  <a:moveTo>
                    <a:pt x="89447" y="0"/>
                  </a:moveTo>
                  <a:lnTo>
                    <a:pt x="7077056" y="0"/>
                  </a:lnTo>
                  <a:cubicBezTo>
                    <a:pt x="7126456" y="0"/>
                    <a:pt x="7166503" y="40047"/>
                    <a:pt x="7166503" y="89447"/>
                  </a:cubicBezTo>
                  <a:lnTo>
                    <a:pt x="7166503" y="1386338"/>
                  </a:lnTo>
                  <a:cubicBezTo>
                    <a:pt x="7166503" y="1435738"/>
                    <a:pt x="7126456" y="1475785"/>
                    <a:pt x="7077056" y="1475785"/>
                  </a:cubicBezTo>
                  <a:lnTo>
                    <a:pt x="89447" y="1475785"/>
                  </a:lnTo>
                  <a:cubicBezTo>
                    <a:pt x="40047" y="1475785"/>
                    <a:pt x="0" y="1435738"/>
                    <a:pt x="0" y="1386338"/>
                  </a:cubicBezTo>
                  <a:lnTo>
                    <a:pt x="0" y="89447"/>
                  </a:lnTo>
                  <a:cubicBezTo>
                    <a:pt x="0" y="40080"/>
                    <a:pt x="40080" y="0"/>
                    <a:pt x="89447" y="0"/>
                  </a:cubicBezTo>
                  <a:close/>
                </a:path>
              </a:pathLst>
            </a:custGeom>
            <a:solidFill>
              <a:srgbClr val="1A1D21">
                <a:alpha val="70196"/>
              </a:srgbClr>
            </a:solidFill>
          </p:spPr>
        </p:sp>
        <p:sp>
          <p:nvSpPr>
            <p:cNvPr id="10" name="Shape 8"/>
            <p:cNvSpPr/>
            <p:nvPr/>
          </p:nvSpPr>
          <p:spPr>
            <a:xfrm>
              <a:off x="1338" y="3858"/>
              <a:ext cx="352" cy="282"/>
            </a:xfrm>
            <a:custGeom>
              <a:avLst/>
              <a:gdLst/>
              <a:ahLst/>
              <a:cxnLst/>
              <a:rect l="l" t="t" r="r" b="b"/>
              <a:pathLst>
                <a:path w="223604" h="178883">
                  <a:moveTo>
                    <a:pt x="122248" y="82559"/>
                  </a:moveTo>
                  <a:lnTo>
                    <a:pt x="99154" y="82559"/>
                  </a:lnTo>
                  <a:lnTo>
                    <a:pt x="99154" y="61806"/>
                  </a:lnTo>
                  <a:lnTo>
                    <a:pt x="122248" y="61806"/>
                  </a:lnTo>
                  <a:lnTo>
                    <a:pt x="122248" y="82559"/>
                  </a:lnTo>
                  <a:close/>
                  <a:moveTo>
                    <a:pt x="122248" y="11180"/>
                  </a:moveTo>
                  <a:lnTo>
                    <a:pt x="99154" y="11180"/>
                  </a:lnTo>
                  <a:lnTo>
                    <a:pt x="99154" y="32388"/>
                  </a:lnTo>
                  <a:lnTo>
                    <a:pt x="122248" y="32388"/>
                  </a:lnTo>
                  <a:lnTo>
                    <a:pt x="122248" y="11180"/>
                  </a:lnTo>
                  <a:close/>
                  <a:moveTo>
                    <a:pt x="149570" y="61771"/>
                  </a:moveTo>
                  <a:lnTo>
                    <a:pt x="126476" y="61771"/>
                  </a:lnTo>
                  <a:lnTo>
                    <a:pt x="126476" y="82524"/>
                  </a:lnTo>
                  <a:lnTo>
                    <a:pt x="149570" y="82524"/>
                  </a:lnTo>
                  <a:lnTo>
                    <a:pt x="149570" y="61771"/>
                  </a:lnTo>
                  <a:close/>
                  <a:moveTo>
                    <a:pt x="94962" y="36580"/>
                  </a:moveTo>
                  <a:lnTo>
                    <a:pt x="71868" y="36580"/>
                  </a:lnTo>
                  <a:lnTo>
                    <a:pt x="71868" y="57578"/>
                  </a:lnTo>
                  <a:lnTo>
                    <a:pt x="94962" y="57578"/>
                  </a:lnTo>
                  <a:lnTo>
                    <a:pt x="94962" y="36580"/>
                  </a:lnTo>
                  <a:close/>
                  <a:moveTo>
                    <a:pt x="122248" y="36580"/>
                  </a:moveTo>
                  <a:lnTo>
                    <a:pt x="99154" y="36580"/>
                  </a:lnTo>
                  <a:lnTo>
                    <a:pt x="99154" y="57578"/>
                  </a:lnTo>
                  <a:lnTo>
                    <a:pt x="122248" y="57578"/>
                  </a:lnTo>
                  <a:lnTo>
                    <a:pt x="122248" y="36580"/>
                  </a:lnTo>
                  <a:close/>
                  <a:moveTo>
                    <a:pt x="218957" y="71518"/>
                  </a:moveTo>
                  <a:cubicBezTo>
                    <a:pt x="213926" y="68129"/>
                    <a:pt x="202327" y="66906"/>
                    <a:pt x="193417" y="68583"/>
                  </a:cubicBezTo>
                  <a:cubicBezTo>
                    <a:pt x="192264" y="60198"/>
                    <a:pt x="187583" y="52896"/>
                    <a:pt x="179058" y="46328"/>
                  </a:cubicBezTo>
                  <a:lnTo>
                    <a:pt x="174166" y="43079"/>
                  </a:lnTo>
                  <a:lnTo>
                    <a:pt x="170917" y="47970"/>
                  </a:lnTo>
                  <a:cubicBezTo>
                    <a:pt x="164489" y="57683"/>
                    <a:pt x="162742" y="73684"/>
                    <a:pt x="169624" y="84236"/>
                  </a:cubicBezTo>
                  <a:cubicBezTo>
                    <a:pt x="166585" y="85878"/>
                    <a:pt x="160610" y="88114"/>
                    <a:pt x="152714" y="87974"/>
                  </a:cubicBezTo>
                  <a:lnTo>
                    <a:pt x="839" y="87974"/>
                  </a:lnTo>
                  <a:cubicBezTo>
                    <a:pt x="-2201" y="105723"/>
                    <a:pt x="2865" y="128782"/>
                    <a:pt x="16211" y="144609"/>
                  </a:cubicBezTo>
                  <a:cubicBezTo>
                    <a:pt x="29173" y="159947"/>
                    <a:pt x="48599" y="167738"/>
                    <a:pt x="73999" y="167738"/>
                  </a:cubicBezTo>
                  <a:cubicBezTo>
                    <a:pt x="128991" y="167738"/>
                    <a:pt x="169694" y="142408"/>
                    <a:pt x="188736" y="96394"/>
                  </a:cubicBezTo>
                  <a:cubicBezTo>
                    <a:pt x="196212" y="96534"/>
                    <a:pt x="212354" y="96429"/>
                    <a:pt x="220634" y="80602"/>
                  </a:cubicBezTo>
                  <a:cubicBezTo>
                    <a:pt x="221158" y="79729"/>
                    <a:pt x="222940" y="75990"/>
                    <a:pt x="223604" y="74628"/>
                  </a:cubicBezTo>
                  <a:lnTo>
                    <a:pt x="218957" y="71518"/>
                  </a:lnTo>
                  <a:close/>
                  <a:moveTo>
                    <a:pt x="40388" y="61771"/>
                  </a:moveTo>
                  <a:lnTo>
                    <a:pt x="17329" y="61771"/>
                  </a:lnTo>
                  <a:lnTo>
                    <a:pt x="17329" y="82524"/>
                  </a:lnTo>
                  <a:lnTo>
                    <a:pt x="40423" y="82524"/>
                  </a:lnTo>
                  <a:lnTo>
                    <a:pt x="40423" y="61771"/>
                  </a:lnTo>
                  <a:lnTo>
                    <a:pt x="40388" y="61771"/>
                  </a:lnTo>
                  <a:close/>
                  <a:moveTo>
                    <a:pt x="67675" y="61771"/>
                  </a:moveTo>
                  <a:lnTo>
                    <a:pt x="44581" y="61771"/>
                  </a:lnTo>
                  <a:lnTo>
                    <a:pt x="44581" y="82524"/>
                  </a:lnTo>
                  <a:lnTo>
                    <a:pt x="67675" y="82524"/>
                  </a:lnTo>
                  <a:lnTo>
                    <a:pt x="67675" y="61771"/>
                  </a:lnTo>
                  <a:close/>
                  <a:moveTo>
                    <a:pt x="94962" y="61771"/>
                  </a:moveTo>
                  <a:lnTo>
                    <a:pt x="71868" y="61771"/>
                  </a:lnTo>
                  <a:lnTo>
                    <a:pt x="71868" y="82524"/>
                  </a:lnTo>
                  <a:lnTo>
                    <a:pt x="94962" y="82524"/>
                  </a:lnTo>
                  <a:lnTo>
                    <a:pt x="94962" y="61771"/>
                  </a:lnTo>
                  <a:close/>
                  <a:moveTo>
                    <a:pt x="67675" y="36580"/>
                  </a:moveTo>
                  <a:lnTo>
                    <a:pt x="44581" y="36580"/>
                  </a:lnTo>
                  <a:lnTo>
                    <a:pt x="44581" y="57578"/>
                  </a:lnTo>
                  <a:lnTo>
                    <a:pt x="67675" y="57578"/>
                  </a:lnTo>
                  <a:lnTo>
                    <a:pt x="67675" y="36580"/>
                  </a:lnTo>
                  <a:close/>
                </a:path>
              </a:pathLst>
            </a:custGeom>
            <a:solidFill>
              <a:srgbClr val="4F9A94"/>
            </a:solidFill>
          </p:spPr>
        </p:sp>
        <p:sp>
          <p:nvSpPr>
            <p:cNvPr id="11" name="Text 9"/>
            <p:cNvSpPr/>
            <p:nvPr/>
          </p:nvSpPr>
          <p:spPr>
            <a:xfrm>
              <a:off x="1814" y="3803"/>
              <a:ext cx="10387" cy="42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410" b="1" dirty="0">
                  <a:solidFill>
                    <a:srgbClr val="4F9A94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Docker Compose</a:t>
              </a:r>
              <a:endParaRPr lang="en-US" sz="16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1358" y="4406"/>
              <a:ext cx="277" cy="246"/>
            </a:xfrm>
            <a:custGeom>
              <a:avLst/>
              <a:gdLst/>
              <a:ahLst/>
              <a:cxnLst/>
              <a:rect l="l" t="t" r="r" b="b"/>
              <a:pathLst>
                <a:path w="176088" h="156523">
                  <a:moveTo>
                    <a:pt x="110300" y="367"/>
                  </a:moveTo>
                  <a:cubicBezTo>
                    <a:pt x="105103" y="-1131"/>
                    <a:pt x="99692" y="1895"/>
                    <a:pt x="98194" y="7092"/>
                  </a:cubicBezTo>
                  <a:lnTo>
                    <a:pt x="59063" y="144050"/>
                  </a:lnTo>
                  <a:cubicBezTo>
                    <a:pt x="57565" y="149247"/>
                    <a:pt x="60591" y="154658"/>
                    <a:pt x="65788" y="156156"/>
                  </a:cubicBezTo>
                  <a:cubicBezTo>
                    <a:pt x="70985" y="157654"/>
                    <a:pt x="76397" y="154627"/>
                    <a:pt x="77894" y="149430"/>
                  </a:cubicBezTo>
                  <a:lnTo>
                    <a:pt x="117025" y="12473"/>
                  </a:lnTo>
                  <a:cubicBezTo>
                    <a:pt x="118523" y="7276"/>
                    <a:pt x="115497" y="1865"/>
                    <a:pt x="110300" y="367"/>
                  </a:cubicBezTo>
                  <a:close/>
                  <a:moveTo>
                    <a:pt x="130048" y="41974"/>
                  </a:moveTo>
                  <a:cubicBezTo>
                    <a:pt x="126227" y="45795"/>
                    <a:pt x="126227" y="52001"/>
                    <a:pt x="130048" y="55822"/>
                  </a:cubicBezTo>
                  <a:lnTo>
                    <a:pt x="152487" y="78261"/>
                  </a:lnTo>
                  <a:lnTo>
                    <a:pt x="130048" y="100700"/>
                  </a:lnTo>
                  <a:cubicBezTo>
                    <a:pt x="126227" y="104522"/>
                    <a:pt x="126227" y="110728"/>
                    <a:pt x="130048" y="114549"/>
                  </a:cubicBezTo>
                  <a:cubicBezTo>
                    <a:pt x="133870" y="118370"/>
                    <a:pt x="140076" y="118370"/>
                    <a:pt x="143897" y="114549"/>
                  </a:cubicBezTo>
                  <a:lnTo>
                    <a:pt x="173245" y="85201"/>
                  </a:lnTo>
                  <a:cubicBezTo>
                    <a:pt x="177066" y="81380"/>
                    <a:pt x="177066" y="75174"/>
                    <a:pt x="173245" y="71352"/>
                  </a:cubicBezTo>
                  <a:lnTo>
                    <a:pt x="143897" y="42004"/>
                  </a:lnTo>
                  <a:cubicBezTo>
                    <a:pt x="140076" y="38183"/>
                    <a:pt x="133870" y="38183"/>
                    <a:pt x="130048" y="42004"/>
                  </a:cubicBezTo>
                  <a:close/>
                  <a:moveTo>
                    <a:pt x="46070" y="41974"/>
                  </a:moveTo>
                  <a:cubicBezTo>
                    <a:pt x="42249" y="38152"/>
                    <a:pt x="36043" y="38152"/>
                    <a:pt x="32222" y="41974"/>
                  </a:cubicBezTo>
                  <a:lnTo>
                    <a:pt x="2874" y="71322"/>
                  </a:lnTo>
                  <a:cubicBezTo>
                    <a:pt x="-948" y="75143"/>
                    <a:pt x="-948" y="81349"/>
                    <a:pt x="2874" y="85170"/>
                  </a:cubicBezTo>
                  <a:lnTo>
                    <a:pt x="32222" y="114518"/>
                  </a:lnTo>
                  <a:cubicBezTo>
                    <a:pt x="36043" y="118340"/>
                    <a:pt x="42249" y="118340"/>
                    <a:pt x="46070" y="114518"/>
                  </a:cubicBezTo>
                  <a:cubicBezTo>
                    <a:pt x="49892" y="110697"/>
                    <a:pt x="49892" y="104491"/>
                    <a:pt x="46070" y="100670"/>
                  </a:cubicBezTo>
                  <a:lnTo>
                    <a:pt x="23631" y="78261"/>
                  </a:lnTo>
                  <a:lnTo>
                    <a:pt x="46040" y="55822"/>
                  </a:lnTo>
                  <a:cubicBezTo>
                    <a:pt x="49861" y="52001"/>
                    <a:pt x="49861" y="45795"/>
                    <a:pt x="46040" y="41974"/>
                  </a:cubicBezTo>
                  <a:close/>
                </a:path>
              </a:pathLst>
            </a:custGeom>
            <a:solidFill>
              <a:srgbClr val="4F9A94"/>
            </a:solidFill>
          </p:spPr>
        </p:sp>
        <p:sp>
          <p:nvSpPr>
            <p:cNvPr id="13" name="Text 11"/>
            <p:cNvSpPr/>
            <p:nvPr/>
          </p:nvSpPr>
          <p:spPr>
            <a:xfrm>
              <a:off x="1779" y="4366"/>
              <a:ext cx="10405" cy="35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230" dirty="0">
                  <a:solidFill>
                    <a:srgbClr val="E5E7EB">
                      <a:alpha val="90000"/>
                    </a:srgbClr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FastAPI (后端 API)</a:t>
              </a:r>
              <a:endParaRPr lang="en-US" sz="16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1373" y="4828"/>
              <a:ext cx="246" cy="246"/>
            </a:xfrm>
            <a:custGeom>
              <a:avLst/>
              <a:gdLst/>
              <a:ahLst/>
              <a:cxnLst/>
              <a:rect l="l" t="t" r="r" b="b"/>
              <a:pathLst>
                <a:path w="156523" h="156523">
                  <a:moveTo>
                    <a:pt x="19565" y="9783"/>
                  </a:moveTo>
                  <a:cubicBezTo>
                    <a:pt x="8774" y="9783"/>
                    <a:pt x="0" y="18556"/>
                    <a:pt x="0" y="29348"/>
                  </a:cubicBezTo>
                  <a:lnTo>
                    <a:pt x="0" y="107609"/>
                  </a:lnTo>
                  <a:cubicBezTo>
                    <a:pt x="0" y="118401"/>
                    <a:pt x="8774" y="127175"/>
                    <a:pt x="19565" y="127175"/>
                  </a:cubicBezTo>
                  <a:lnTo>
                    <a:pt x="63587" y="127175"/>
                  </a:lnTo>
                  <a:lnTo>
                    <a:pt x="58696" y="141849"/>
                  </a:lnTo>
                  <a:lnTo>
                    <a:pt x="36685" y="141849"/>
                  </a:lnTo>
                  <a:cubicBezTo>
                    <a:pt x="32619" y="141849"/>
                    <a:pt x="29348" y="145120"/>
                    <a:pt x="29348" y="149186"/>
                  </a:cubicBezTo>
                  <a:cubicBezTo>
                    <a:pt x="29348" y="153252"/>
                    <a:pt x="32619" y="156523"/>
                    <a:pt x="36685" y="156523"/>
                  </a:cubicBezTo>
                  <a:lnTo>
                    <a:pt x="119838" y="156523"/>
                  </a:lnTo>
                  <a:cubicBezTo>
                    <a:pt x="123904" y="156523"/>
                    <a:pt x="127175" y="153252"/>
                    <a:pt x="127175" y="149186"/>
                  </a:cubicBezTo>
                  <a:cubicBezTo>
                    <a:pt x="127175" y="145120"/>
                    <a:pt x="123904" y="141849"/>
                    <a:pt x="119838" y="141849"/>
                  </a:cubicBezTo>
                  <a:lnTo>
                    <a:pt x="97827" y="141849"/>
                  </a:lnTo>
                  <a:lnTo>
                    <a:pt x="92935" y="127175"/>
                  </a:lnTo>
                  <a:lnTo>
                    <a:pt x="136957" y="127175"/>
                  </a:lnTo>
                  <a:cubicBezTo>
                    <a:pt x="147749" y="127175"/>
                    <a:pt x="156523" y="118401"/>
                    <a:pt x="156523" y="107609"/>
                  </a:cubicBezTo>
                  <a:lnTo>
                    <a:pt x="156523" y="29348"/>
                  </a:lnTo>
                  <a:cubicBezTo>
                    <a:pt x="156523" y="18556"/>
                    <a:pt x="147749" y="9783"/>
                    <a:pt x="136957" y="9783"/>
                  </a:cubicBezTo>
                  <a:lnTo>
                    <a:pt x="19565" y="9783"/>
                  </a:lnTo>
                  <a:close/>
                  <a:moveTo>
                    <a:pt x="29348" y="29348"/>
                  </a:moveTo>
                  <a:lnTo>
                    <a:pt x="127175" y="29348"/>
                  </a:lnTo>
                  <a:cubicBezTo>
                    <a:pt x="132586" y="29348"/>
                    <a:pt x="136957" y="33720"/>
                    <a:pt x="136957" y="39131"/>
                  </a:cubicBezTo>
                  <a:lnTo>
                    <a:pt x="136957" y="88044"/>
                  </a:lnTo>
                  <a:cubicBezTo>
                    <a:pt x="136957" y="93455"/>
                    <a:pt x="132586" y="97827"/>
                    <a:pt x="127175" y="97827"/>
                  </a:cubicBezTo>
                  <a:lnTo>
                    <a:pt x="29348" y="97827"/>
                  </a:lnTo>
                  <a:cubicBezTo>
                    <a:pt x="23937" y="97827"/>
                    <a:pt x="19565" y="93455"/>
                    <a:pt x="19565" y="88044"/>
                  </a:cubicBezTo>
                  <a:lnTo>
                    <a:pt x="19565" y="39131"/>
                  </a:lnTo>
                  <a:cubicBezTo>
                    <a:pt x="19565" y="33720"/>
                    <a:pt x="23937" y="29348"/>
                    <a:pt x="29348" y="29348"/>
                  </a:cubicBezTo>
                  <a:close/>
                </a:path>
              </a:pathLst>
            </a:custGeom>
            <a:solidFill>
              <a:srgbClr val="4F9A94"/>
            </a:solidFill>
          </p:spPr>
        </p:sp>
        <p:sp>
          <p:nvSpPr>
            <p:cNvPr id="15" name="Text 13"/>
            <p:cNvSpPr/>
            <p:nvPr/>
          </p:nvSpPr>
          <p:spPr>
            <a:xfrm>
              <a:off x="1779" y="4789"/>
              <a:ext cx="10405" cy="35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230" dirty="0">
                  <a:solidFill>
                    <a:srgbClr val="E5E7EB">
                      <a:alpha val="90000"/>
                    </a:srgbClr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Vue3 (前端界面)</a:t>
              </a:r>
              <a:endParaRPr lang="en-US" sz="16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1389" y="5251"/>
              <a:ext cx="216" cy="246"/>
            </a:xfrm>
            <a:custGeom>
              <a:avLst/>
              <a:gdLst/>
              <a:ahLst/>
              <a:cxnLst/>
              <a:rect l="l" t="t" r="r" b="b"/>
              <a:pathLst>
                <a:path w="136957" h="156523">
                  <a:moveTo>
                    <a:pt x="136957" y="62915"/>
                  </a:moveTo>
                  <a:cubicBezTo>
                    <a:pt x="132433" y="65911"/>
                    <a:pt x="127236" y="68326"/>
                    <a:pt x="121825" y="70252"/>
                  </a:cubicBezTo>
                  <a:cubicBezTo>
                    <a:pt x="107456" y="75388"/>
                    <a:pt x="88594" y="78261"/>
                    <a:pt x="68479" y="78261"/>
                  </a:cubicBezTo>
                  <a:cubicBezTo>
                    <a:pt x="48363" y="78261"/>
                    <a:pt x="29470" y="75357"/>
                    <a:pt x="15133" y="70252"/>
                  </a:cubicBezTo>
                  <a:cubicBezTo>
                    <a:pt x="9752" y="68326"/>
                    <a:pt x="4524" y="65911"/>
                    <a:pt x="0" y="62915"/>
                  </a:cubicBezTo>
                  <a:lnTo>
                    <a:pt x="0" y="88044"/>
                  </a:lnTo>
                  <a:cubicBezTo>
                    <a:pt x="0" y="101556"/>
                    <a:pt x="30663" y="112501"/>
                    <a:pt x="68479" y="112501"/>
                  </a:cubicBezTo>
                  <a:cubicBezTo>
                    <a:pt x="106295" y="112501"/>
                    <a:pt x="136957" y="101556"/>
                    <a:pt x="136957" y="88044"/>
                  </a:cubicBezTo>
                  <a:lnTo>
                    <a:pt x="136957" y="62915"/>
                  </a:lnTo>
                  <a:close/>
                  <a:moveTo>
                    <a:pt x="136957" y="39131"/>
                  </a:moveTo>
                  <a:lnTo>
                    <a:pt x="136957" y="24457"/>
                  </a:lnTo>
                  <a:cubicBezTo>
                    <a:pt x="136957" y="10944"/>
                    <a:pt x="106295" y="0"/>
                    <a:pt x="68479" y="0"/>
                  </a:cubicBezTo>
                  <a:cubicBezTo>
                    <a:pt x="30663" y="0"/>
                    <a:pt x="0" y="10944"/>
                    <a:pt x="0" y="24457"/>
                  </a:cubicBezTo>
                  <a:lnTo>
                    <a:pt x="0" y="39131"/>
                  </a:lnTo>
                  <a:cubicBezTo>
                    <a:pt x="0" y="52643"/>
                    <a:pt x="30663" y="63587"/>
                    <a:pt x="68479" y="63587"/>
                  </a:cubicBezTo>
                  <a:cubicBezTo>
                    <a:pt x="106295" y="63587"/>
                    <a:pt x="136957" y="52643"/>
                    <a:pt x="136957" y="39131"/>
                  </a:cubicBezTo>
                  <a:close/>
                  <a:moveTo>
                    <a:pt x="121825" y="119165"/>
                  </a:moveTo>
                  <a:cubicBezTo>
                    <a:pt x="107487" y="124270"/>
                    <a:pt x="88625" y="127175"/>
                    <a:pt x="68479" y="127175"/>
                  </a:cubicBezTo>
                  <a:cubicBezTo>
                    <a:pt x="48332" y="127175"/>
                    <a:pt x="29470" y="124270"/>
                    <a:pt x="15133" y="119165"/>
                  </a:cubicBezTo>
                  <a:cubicBezTo>
                    <a:pt x="9752" y="117239"/>
                    <a:pt x="4524" y="114824"/>
                    <a:pt x="0" y="111828"/>
                  </a:cubicBezTo>
                  <a:lnTo>
                    <a:pt x="0" y="132066"/>
                  </a:lnTo>
                  <a:cubicBezTo>
                    <a:pt x="0" y="145578"/>
                    <a:pt x="30663" y="156523"/>
                    <a:pt x="68479" y="156523"/>
                  </a:cubicBezTo>
                  <a:cubicBezTo>
                    <a:pt x="106295" y="156523"/>
                    <a:pt x="136957" y="145578"/>
                    <a:pt x="136957" y="132066"/>
                  </a:cubicBezTo>
                  <a:lnTo>
                    <a:pt x="136957" y="111828"/>
                  </a:lnTo>
                  <a:cubicBezTo>
                    <a:pt x="132433" y="114824"/>
                    <a:pt x="127236" y="117239"/>
                    <a:pt x="121825" y="119165"/>
                  </a:cubicBezTo>
                  <a:close/>
                </a:path>
              </a:pathLst>
            </a:custGeom>
            <a:solidFill>
              <a:srgbClr val="4F9A94"/>
            </a:solidFill>
          </p:spPr>
        </p:sp>
        <p:sp>
          <p:nvSpPr>
            <p:cNvPr id="17" name="Text 15"/>
            <p:cNvSpPr/>
            <p:nvPr/>
          </p:nvSpPr>
          <p:spPr>
            <a:xfrm>
              <a:off x="1779" y="5212"/>
              <a:ext cx="10405" cy="35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230" dirty="0">
                  <a:solidFill>
                    <a:srgbClr val="E5E7EB">
                      <a:alpha val="90000"/>
                    </a:srgbClr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3 个数据库实例</a:t>
              </a:r>
              <a:r>
                <a:rPr lang="zh-CN" altLang="en-US" sz="1230" dirty="0">
                  <a:solidFill>
                    <a:srgbClr val="E5E7EB">
                      <a:alpha val="90000"/>
                    </a:srgbClr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加一个同步</a:t>
              </a:r>
              <a:r>
                <a:rPr lang="zh-CN" altLang="en-US" sz="1230" dirty="0">
                  <a:solidFill>
                    <a:srgbClr val="E5E7EB">
                      <a:alpha val="90000"/>
                    </a:srgbClr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容器</a:t>
              </a:r>
              <a:endParaRPr lang="zh-CN" altLang="en-US" sz="1230" dirty="0">
                <a:solidFill>
                  <a:srgbClr val="E5E7EB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endParaRPr>
            </a:p>
          </p:txBody>
        </p:sp>
      </p:grpSp>
      <p:pic>
        <p:nvPicPr>
          <p:cNvPr id="77" name="图片 76" descr="微信图片_20260104084318_286_1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75830" y="4034790"/>
            <a:ext cx="8650605" cy="4734560"/>
          </a:xfrm>
          <a:prstGeom prst="rect">
            <a:avLst/>
          </a:prstGeom>
        </p:spPr>
      </p:pic>
      <p:grpSp>
        <p:nvGrpSpPr>
          <p:cNvPr id="80" name="组合 79"/>
          <p:cNvGrpSpPr/>
          <p:nvPr/>
        </p:nvGrpSpPr>
        <p:grpSpPr>
          <a:xfrm>
            <a:off x="8293735" y="1612900"/>
            <a:ext cx="7546340" cy="2280920"/>
            <a:chOff x="739" y="2535"/>
            <a:chExt cx="11884" cy="3592"/>
          </a:xfrm>
        </p:grpSpPr>
        <p:sp>
          <p:nvSpPr>
            <p:cNvPr id="81" name="Shape 3"/>
            <p:cNvSpPr/>
            <p:nvPr/>
          </p:nvSpPr>
          <p:spPr>
            <a:xfrm>
              <a:off x="739" y="2535"/>
              <a:ext cx="11884" cy="3592"/>
            </a:xfrm>
            <a:custGeom>
              <a:avLst/>
              <a:gdLst/>
              <a:ahLst/>
              <a:cxnLst/>
              <a:rect l="l" t="t" r="r" b="b"/>
              <a:pathLst>
                <a:path w="7546630" h="2280759">
                  <a:moveTo>
                    <a:pt x="0" y="0"/>
                  </a:moveTo>
                  <a:lnTo>
                    <a:pt x="7457179" y="0"/>
                  </a:lnTo>
                  <a:cubicBezTo>
                    <a:pt x="7506581" y="0"/>
                    <a:pt x="7546630" y="40049"/>
                    <a:pt x="7546630" y="89451"/>
                  </a:cubicBezTo>
                  <a:lnTo>
                    <a:pt x="7546630" y="2191308"/>
                  </a:lnTo>
                  <a:cubicBezTo>
                    <a:pt x="7546630" y="2240711"/>
                    <a:pt x="7506581" y="2280759"/>
                    <a:pt x="7457179" y="2280759"/>
                  </a:cubicBezTo>
                  <a:lnTo>
                    <a:pt x="0" y="22807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4A5C">
                <a:alpha val="30196"/>
              </a:srgbClr>
            </a:solidFill>
          </p:spPr>
        </p:sp>
        <p:sp>
          <p:nvSpPr>
            <p:cNvPr id="82" name="Shape 4"/>
            <p:cNvSpPr/>
            <p:nvPr/>
          </p:nvSpPr>
          <p:spPr>
            <a:xfrm>
              <a:off x="739" y="2535"/>
              <a:ext cx="70" cy="3592"/>
            </a:xfrm>
            <a:custGeom>
              <a:avLst/>
              <a:gdLst/>
              <a:ahLst/>
              <a:cxnLst/>
              <a:rect l="l" t="t" r="r" b="b"/>
              <a:pathLst>
                <a:path w="44721" h="2280759">
                  <a:moveTo>
                    <a:pt x="0" y="0"/>
                  </a:moveTo>
                  <a:lnTo>
                    <a:pt x="44721" y="0"/>
                  </a:lnTo>
                  <a:lnTo>
                    <a:pt x="44721" y="2280759"/>
                  </a:lnTo>
                  <a:lnTo>
                    <a:pt x="0" y="22807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9A94"/>
            </a:solidFill>
          </p:spPr>
        </p:sp>
        <p:sp>
          <p:nvSpPr>
            <p:cNvPr id="83" name="Shape 5"/>
            <p:cNvSpPr/>
            <p:nvPr/>
          </p:nvSpPr>
          <p:spPr>
            <a:xfrm>
              <a:off x="1136" y="2852"/>
              <a:ext cx="370" cy="423"/>
            </a:xfrm>
            <a:custGeom>
              <a:avLst/>
              <a:gdLst/>
              <a:ahLst/>
              <a:cxnLst/>
              <a:rect l="l" t="t" r="r" b="b"/>
              <a:pathLst>
                <a:path w="234784" h="268325">
                  <a:moveTo>
                    <a:pt x="33541" y="16770"/>
                  </a:moveTo>
                  <a:cubicBezTo>
                    <a:pt x="15041" y="16770"/>
                    <a:pt x="0" y="31811"/>
                    <a:pt x="0" y="50311"/>
                  </a:cubicBezTo>
                  <a:lnTo>
                    <a:pt x="0" y="83851"/>
                  </a:lnTo>
                  <a:cubicBezTo>
                    <a:pt x="0" y="102351"/>
                    <a:pt x="15041" y="117392"/>
                    <a:pt x="33541" y="117392"/>
                  </a:cubicBezTo>
                  <a:lnTo>
                    <a:pt x="201243" y="117392"/>
                  </a:lnTo>
                  <a:cubicBezTo>
                    <a:pt x="219743" y="117392"/>
                    <a:pt x="234784" y="102351"/>
                    <a:pt x="234784" y="83851"/>
                  </a:cubicBezTo>
                  <a:lnTo>
                    <a:pt x="234784" y="50311"/>
                  </a:lnTo>
                  <a:cubicBezTo>
                    <a:pt x="234784" y="31811"/>
                    <a:pt x="219743" y="16770"/>
                    <a:pt x="201243" y="16770"/>
                  </a:cubicBezTo>
                  <a:lnTo>
                    <a:pt x="33541" y="16770"/>
                  </a:lnTo>
                  <a:close/>
                  <a:moveTo>
                    <a:pt x="146740" y="54503"/>
                  </a:moveTo>
                  <a:cubicBezTo>
                    <a:pt x="153682" y="54503"/>
                    <a:pt x="159318" y="60139"/>
                    <a:pt x="159318" y="67081"/>
                  </a:cubicBezTo>
                  <a:cubicBezTo>
                    <a:pt x="159318" y="74023"/>
                    <a:pt x="153682" y="79659"/>
                    <a:pt x="146740" y="79659"/>
                  </a:cubicBezTo>
                  <a:cubicBezTo>
                    <a:pt x="139798" y="79659"/>
                    <a:pt x="134162" y="74023"/>
                    <a:pt x="134162" y="67081"/>
                  </a:cubicBezTo>
                  <a:cubicBezTo>
                    <a:pt x="134162" y="60139"/>
                    <a:pt x="139798" y="54503"/>
                    <a:pt x="146740" y="54503"/>
                  </a:cubicBezTo>
                  <a:close/>
                  <a:moveTo>
                    <a:pt x="176088" y="67081"/>
                  </a:moveTo>
                  <a:cubicBezTo>
                    <a:pt x="176088" y="60139"/>
                    <a:pt x="181724" y="54503"/>
                    <a:pt x="188666" y="54503"/>
                  </a:cubicBezTo>
                  <a:cubicBezTo>
                    <a:pt x="195608" y="54503"/>
                    <a:pt x="201243" y="60139"/>
                    <a:pt x="201243" y="67081"/>
                  </a:cubicBezTo>
                  <a:cubicBezTo>
                    <a:pt x="201243" y="74023"/>
                    <a:pt x="195608" y="79659"/>
                    <a:pt x="188666" y="79659"/>
                  </a:cubicBezTo>
                  <a:cubicBezTo>
                    <a:pt x="181724" y="79659"/>
                    <a:pt x="176088" y="74023"/>
                    <a:pt x="176088" y="67081"/>
                  </a:cubicBezTo>
                  <a:close/>
                  <a:moveTo>
                    <a:pt x="33541" y="150933"/>
                  </a:moveTo>
                  <a:cubicBezTo>
                    <a:pt x="15041" y="150933"/>
                    <a:pt x="0" y="165973"/>
                    <a:pt x="0" y="184473"/>
                  </a:cubicBezTo>
                  <a:lnTo>
                    <a:pt x="0" y="218014"/>
                  </a:lnTo>
                  <a:cubicBezTo>
                    <a:pt x="0" y="236513"/>
                    <a:pt x="15041" y="251554"/>
                    <a:pt x="33541" y="251554"/>
                  </a:cubicBezTo>
                  <a:lnTo>
                    <a:pt x="201243" y="251554"/>
                  </a:lnTo>
                  <a:cubicBezTo>
                    <a:pt x="219743" y="251554"/>
                    <a:pt x="234784" y="236513"/>
                    <a:pt x="234784" y="218014"/>
                  </a:cubicBezTo>
                  <a:lnTo>
                    <a:pt x="234784" y="184473"/>
                  </a:lnTo>
                  <a:cubicBezTo>
                    <a:pt x="234784" y="165973"/>
                    <a:pt x="219743" y="150933"/>
                    <a:pt x="201243" y="150933"/>
                  </a:cubicBezTo>
                  <a:lnTo>
                    <a:pt x="33541" y="150933"/>
                  </a:lnTo>
                  <a:close/>
                  <a:moveTo>
                    <a:pt x="146740" y="188666"/>
                  </a:moveTo>
                  <a:cubicBezTo>
                    <a:pt x="153682" y="188666"/>
                    <a:pt x="159318" y="194302"/>
                    <a:pt x="159318" y="201243"/>
                  </a:cubicBezTo>
                  <a:cubicBezTo>
                    <a:pt x="159318" y="208185"/>
                    <a:pt x="153682" y="213821"/>
                    <a:pt x="146740" y="213821"/>
                  </a:cubicBezTo>
                  <a:cubicBezTo>
                    <a:pt x="139798" y="213821"/>
                    <a:pt x="134162" y="208185"/>
                    <a:pt x="134162" y="201243"/>
                  </a:cubicBezTo>
                  <a:cubicBezTo>
                    <a:pt x="134162" y="194302"/>
                    <a:pt x="139798" y="188666"/>
                    <a:pt x="146740" y="188666"/>
                  </a:cubicBezTo>
                  <a:close/>
                  <a:moveTo>
                    <a:pt x="176088" y="201243"/>
                  </a:moveTo>
                  <a:cubicBezTo>
                    <a:pt x="176088" y="194302"/>
                    <a:pt x="181724" y="188666"/>
                    <a:pt x="188666" y="188666"/>
                  </a:cubicBezTo>
                  <a:cubicBezTo>
                    <a:pt x="195608" y="188666"/>
                    <a:pt x="201243" y="194302"/>
                    <a:pt x="201243" y="201243"/>
                  </a:cubicBezTo>
                  <a:cubicBezTo>
                    <a:pt x="201243" y="208185"/>
                    <a:pt x="195608" y="213821"/>
                    <a:pt x="188666" y="213821"/>
                  </a:cubicBezTo>
                  <a:cubicBezTo>
                    <a:pt x="181724" y="213821"/>
                    <a:pt x="176088" y="208185"/>
                    <a:pt x="176088" y="201243"/>
                  </a:cubicBezTo>
                  <a:close/>
                </a:path>
              </a:pathLst>
            </a:custGeom>
            <a:solidFill>
              <a:srgbClr val="4F9A94"/>
            </a:solidFill>
          </p:spPr>
        </p:sp>
        <p:sp>
          <p:nvSpPr>
            <p:cNvPr id="84" name="Text 6"/>
            <p:cNvSpPr/>
            <p:nvPr/>
          </p:nvSpPr>
          <p:spPr>
            <a:xfrm>
              <a:off x="1796" y="2817"/>
              <a:ext cx="1585" cy="49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760" b="1" dirty="0">
                  <a:solidFill>
                    <a:srgbClr val="E5E7EB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运行</a:t>
              </a:r>
              <a:r>
                <a:rPr lang="zh-CN" altLang="en-US" sz="1760" b="1" dirty="0">
                  <a:solidFill>
                    <a:srgbClr val="E5E7EB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设备</a:t>
              </a:r>
              <a:endParaRPr lang="zh-CN" altLang="en-US" sz="1760" b="1" dirty="0">
                <a:solidFill>
                  <a:srgbClr val="E5E7E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endParaRPr>
            </a:p>
          </p:txBody>
        </p:sp>
        <p:sp>
          <p:nvSpPr>
            <p:cNvPr id="85" name="Shape 7"/>
            <p:cNvSpPr/>
            <p:nvPr/>
          </p:nvSpPr>
          <p:spPr>
            <a:xfrm>
              <a:off x="1056" y="3521"/>
              <a:ext cx="11286" cy="2324"/>
            </a:xfrm>
            <a:custGeom>
              <a:avLst/>
              <a:gdLst/>
              <a:ahLst/>
              <a:cxnLst/>
              <a:rect l="l" t="t" r="r" b="b"/>
              <a:pathLst>
                <a:path w="7166503" h="1475785">
                  <a:moveTo>
                    <a:pt x="89447" y="0"/>
                  </a:moveTo>
                  <a:lnTo>
                    <a:pt x="7077056" y="0"/>
                  </a:lnTo>
                  <a:cubicBezTo>
                    <a:pt x="7126456" y="0"/>
                    <a:pt x="7166503" y="40047"/>
                    <a:pt x="7166503" y="89447"/>
                  </a:cubicBezTo>
                  <a:lnTo>
                    <a:pt x="7166503" y="1386338"/>
                  </a:lnTo>
                  <a:cubicBezTo>
                    <a:pt x="7166503" y="1435738"/>
                    <a:pt x="7126456" y="1475785"/>
                    <a:pt x="7077056" y="1475785"/>
                  </a:cubicBezTo>
                  <a:lnTo>
                    <a:pt x="89447" y="1475785"/>
                  </a:lnTo>
                  <a:cubicBezTo>
                    <a:pt x="40047" y="1475785"/>
                    <a:pt x="0" y="1435738"/>
                    <a:pt x="0" y="1386338"/>
                  </a:cubicBezTo>
                  <a:lnTo>
                    <a:pt x="0" y="89447"/>
                  </a:lnTo>
                  <a:cubicBezTo>
                    <a:pt x="0" y="40080"/>
                    <a:pt x="40080" y="0"/>
                    <a:pt x="89447" y="0"/>
                  </a:cubicBezTo>
                  <a:close/>
                </a:path>
              </a:pathLst>
            </a:custGeom>
            <a:solidFill>
              <a:srgbClr val="1A1D21">
                <a:alpha val="70196"/>
              </a:srgbClr>
            </a:solidFill>
          </p:spPr>
        </p:sp>
        <p:sp>
          <p:nvSpPr>
            <p:cNvPr id="88" name="Shape 10"/>
            <p:cNvSpPr/>
            <p:nvPr/>
          </p:nvSpPr>
          <p:spPr>
            <a:xfrm>
              <a:off x="1358" y="3853"/>
              <a:ext cx="277" cy="246"/>
            </a:xfrm>
            <a:custGeom>
              <a:avLst/>
              <a:gdLst/>
              <a:ahLst/>
              <a:cxnLst/>
              <a:rect l="l" t="t" r="r" b="b"/>
              <a:pathLst>
                <a:path w="176088" h="156523">
                  <a:moveTo>
                    <a:pt x="110300" y="367"/>
                  </a:moveTo>
                  <a:cubicBezTo>
                    <a:pt x="105103" y="-1131"/>
                    <a:pt x="99692" y="1895"/>
                    <a:pt x="98194" y="7092"/>
                  </a:cubicBezTo>
                  <a:lnTo>
                    <a:pt x="59063" y="144050"/>
                  </a:lnTo>
                  <a:cubicBezTo>
                    <a:pt x="57565" y="149247"/>
                    <a:pt x="60591" y="154658"/>
                    <a:pt x="65788" y="156156"/>
                  </a:cubicBezTo>
                  <a:cubicBezTo>
                    <a:pt x="70985" y="157654"/>
                    <a:pt x="76397" y="154627"/>
                    <a:pt x="77894" y="149430"/>
                  </a:cubicBezTo>
                  <a:lnTo>
                    <a:pt x="117025" y="12473"/>
                  </a:lnTo>
                  <a:cubicBezTo>
                    <a:pt x="118523" y="7276"/>
                    <a:pt x="115497" y="1865"/>
                    <a:pt x="110300" y="367"/>
                  </a:cubicBezTo>
                  <a:close/>
                  <a:moveTo>
                    <a:pt x="130048" y="41974"/>
                  </a:moveTo>
                  <a:cubicBezTo>
                    <a:pt x="126227" y="45795"/>
                    <a:pt x="126227" y="52001"/>
                    <a:pt x="130048" y="55822"/>
                  </a:cubicBezTo>
                  <a:lnTo>
                    <a:pt x="152487" y="78261"/>
                  </a:lnTo>
                  <a:lnTo>
                    <a:pt x="130048" y="100700"/>
                  </a:lnTo>
                  <a:cubicBezTo>
                    <a:pt x="126227" y="104522"/>
                    <a:pt x="126227" y="110728"/>
                    <a:pt x="130048" y="114549"/>
                  </a:cubicBezTo>
                  <a:cubicBezTo>
                    <a:pt x="133870" y="118370"/>
                    <a:pt x="140076" y="118370"/>
                    <a:pt x="143897" y="114549"/>
                  </a:cubicBezTo>
                  <a:lnTo>
                    <a:pt x="173245" y="85201"/>
                  </a:lnTo>
                  <a:cubicBezTo>
                    <a:pt x="177066" y="81380"/>
                    <a:pt x="177066" y="75174"/>
                    <a:pt x="173245" y="71352"/>
                  </a:cubicBezTo>
                  <a:lnTo>
                    <a:pt x="143897" y="42004"/>
                  </a:lnTo>
                  <a:cubicBezTo>
                    <a:pt x="140076" y="38183"/>
                    <a:pt x="133870" y="38183"/>
                    <a:pt x="130048" y="42004"/>
                  </a:cubicBezTo>
                  <a:close/>
                  <a:moveTo>
                    <a:pt x="46070" y="41974"/>
                  </a:moveTo>
                  <a:cubicBezTo>
                    <a:pt x="42249" y="38152"/>
                    <a:pt x="36043" y="38152"/>
                    <a:pt x="32222" y="41974"/>
                  </a:cubicBezTo>
                  <a:lnTo>
                    <a:pt x="2874" y="71322"/>
                  </a:lnTo>
                  <a:cubicBezTo>
                    <a:pt x="-948" y="75143"/>
                    <a:pt x="-948" y="81349"/>
                    <a:pt x="2874" y="85170"/>
                  </a:cubicBezTo>
                  <a:lnTo>
                    <a:pt x="32222" y="114518"/>
                  </a:lnTo>
                  <a:cubicBezTo>
                    <a:pt x="36043" y="118340"/>
                    <a:pt x="42249" y="118340"/>
                    <a:pt x="46070" y="114518"/>
                  </a:cubicBezTo>
                  <a:cubicBezTo>
                    <a:pt x="49892" y="110697"/>
                    <a:pt x="49892" y="104491"/>
                    <a:pt x="46070" y="100670"/>
                  </a:cubicBezTo>
                  <a:lnTo>
                    <a:pt x="23631" y="78261"/>
                  </a:lnTo>
                  <a:lnTo>
                    <a:pt x="46040" y="55822"/>
                  </a:lnTo>
                  <a:cubicBezTo>
                    <a:pt x="49861" y="52001"/>
                    <a:pt x="49861" y="45795"/>
                    <a:pt x="46040" y="41974"/>
                  </a:cubicBezTo>
                  <a:close/>
                </a:path>
              </a:pathLst>
            </a:custGeom>
            <a:solidFill>
              <a:srgbClr val="4F9A94"/>
            </a:solidFill>
          </p:spPr>
        </p:sp>
        <p:sp>
          <p:nvSpPr>
            <p:cNvPr id="89" name="Text 11"/>
            <p:cNvSpPr/>
            <p:nvPr/>
          </p:nvSpPr>
          <p:spPr>
            <a:xfrm>
              <a:off x="1860" y="3783"/>
              <a:ext cx="10405" cy="35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zh-CN" altLang="en-US" sz="1230" dirty="0">
                  <a:solidFill>
                    <a:srgbClr val="E5E7EB">
                      <a:alpha val="90000"/>
                    </a:srgbClr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支持移动端、</a:t>
              </a:r>
              <a:r>
                <a:rPr lang="en-US" altLang="zh-CN" sz="1230" dirty="0">
                  <a:solidFill>
                    <a:srgbClr val="E5E7EB">
                      <a:alpha val="90000"/>
                    </a:srgbClr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PC</a:t>
              </a:r>
              <a:r>
                <a:rPr lang="zh-CN" altLang="en-US" sz="1230" dirty="0">
                  <a:solidFill>
                    <a:srgbClr val="E5E7EB">
                      <a:alpha val="90000"/>
                    </a:srgbClr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端</a:t>
              </a:r>
              <a:r>
                <a:rPr lang="zh-CN" altLang="en-US" sz="1230" dirty="0">
                  <a:solidFill>
                    <a:srgbClr val="E5E7EB">
                      <a:alpha val="90000"/>
                    </a:srgbClr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访问</a:t>
              </a:r>
              <a:endParaRPr lang="zh-CN" altLang="en-US" sz="1230" dirty="0">
                <a:solidFill>
                  <a:srgbClr val="E5E7EB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endParaRPr>
            </a:p>
          </p:txBody>
        </p:sp>
      </p:grpSp>
      <p:pic>
        <p:nvPicPr>
          <p:cNvPr id="94" name="图片 93" descr="微信图片_20260104085225_288_1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7705" y="4159250"/>
            <a:ext cx="2346960" cy="46101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cbc09d651851c799bb13a908c77e60e84cb62be0.jpg"/>
          <p:cNvPicPr>
            <a:picLocks noChangeAspect="1"/>
          </p:cNvPicPr>
          <p:nvPr/>
        </p:nvPicPr>
        <p:blipFill>
          <a:blip r:embed="rId1">
            <a:alphaModFix amt="30000"/>
          </a:blip>
          <a:srcRect t="21875" b="21875"/>
          <a:stretch>
            <a:fillRect/>
          </a:stretch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3D4A5C">
                  <a:alpha val="80000"/>
                </a:srgbClr>
              </a:gs>
              <a:gs pos="100000">
                <a:srgbClr val="1A1D21">
                  <a:alpha val="90000"/>
                </a:srgbClr>
              </a:gs>
            </a:gsLst>
            <a:lin ang="2700000" scaled="1"/>
          </a:gradFill>
        </p:spPr>
      </p:sp>
      <p:sp>
        <p:nvSpPr>
          <p:cNvPr id="4" name="Shape 1"/>
          <p:cNvSpPr/>
          <p:nvPr/>
        </p:nvSpPr>
        <p:spPr>
          <a:xfrm>
            <a:off x="7670712" y="850540"/>
            <a:ext cx="101600" cy="1625600"/>
          </a:xfrm>
          <a:custGeom>
            <a:avLst/>
            <a:gdLst/>
            <a:ahLst/>
            <a:cxnLst/>
            <a:rect l="l" t="t" r="r" b="b"/>
            <a:pathLst>
              <a:path w="101600" h="1625600">
                <a:moveTo>
                  <a:pt x="0" y="0"/>
                </a:moveTo>
                <a:lnTo>
                  <a:pt x="101600" y="0"/>
                </a:lnTo>
                <a:lnTo>
                  <a:pt x="101600" y="1625600"/>
                </a:lnTo>
                <a:lnTo>
                  <a:pt x="0" y="1625600"/>
                </a:lnTo>
                <a:lnTo>
                  <a:pt x="0" y="0"/>
                </a:lnTo>
                <a:close/>
              </a:path>
            </a:pathLst>
          </a:custGeom>
          <a:solidFill>
            <a:srgbClr val="4F9A94"/>
          </a:solidFill>
        </p:spPr>
      </p:sp>
      <p:sp>
        <p:nvSpPr>
          <p:cNvPr id="5" name="Shape 2"/>
          <p:cNvSpPr/>
          <p:nvPr/>
        </p:nvSpPr>
        <p:spPr>
          <a:xfrm>
            <a:off x="8077112" y="1053740"/>
            <a:ext cx="101600" cy="1219200"/>
          </a:xfrm>
          <a:custGeom>
            <a:avLst/>
            <a:gdLst/>
            <a:ahLst/>
            <a:cxnLst/>
            <a:rect l="l" t="t" r="r" b="b"/>
            <a:pathLst>
              <a:path w="101600" h="1219200">
                <a:moveTo>
                  <a:pt x="0" y="0"/>
                </a:moveTo>
                <a:lnTo>
                  <a:pt x="101600" y="0"/>
                </a:lnTo>
                <a:lnTo>
                  <a:pt x="101600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6B7280"/>
          </a:solidFill>
        </p:spPr>
      </p:sp>
      <p:sp>
        <p:nvSpPr>
          <p:cNvPr id="6" name="Shape 3"/>
          <p:cNvSpPr/>
          <p:nvPr/>
        </p:nvSpPr>
        <p:spPr>
          <a:xfrm>
            <a:off x="8483512" y="850540"/>
            <a:ext cx="101600" cy="1625600"/>
          </a:xfrm>
          <a:custGeom>
            <a:avLst/>
            <a:gdLst/>
            <a:ahLst/>
            <a:cxnLst/>
            <a:rect l="l" t="t" r="r" b="b"/>
            <a:pathLst>
              <a:path w="101600" h="1625600">
                <a:moveTo>
                  <a:pt x="0" y="0"/>
                </a:moveTo>
                <a:lnTo>
                  <a:pt x="101600" y="0"/>
                </a:lnTo>
                <a:lnTo>
                  <a:pt x="101600" y="1625600"/>
                </a:lnTo>
                <a:lnTo>
                  <a:pt x="0" y="1625600"/>
                </a:lnTo>
                <a:lnTo>
                  <a:pt x="0" y="0"/>
                </a:lnTo>
                <a:close/>
              </a:path>
            </a:pathLst>
          </a:custGeom>
          <a:solidFill>
            <a:srgbClr val="4F9A94"/>
          </a:solidFill>
        </p:spPr>
      </p:sp>
      <p:sp>
        <p:nvSpPr>
          <p:cNvPr id="7" name="Text 4"/>
          <p:cNvSpPr/>
          <p:nvPr/>
        </p:nvSpPr>
        <p:spPr>
          <a:xfrm>
            <a:off x="4754651" y="2780940"/>
            <a:ext cx="6743700" cy="1219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9600" b="1" dirty="0">
                <a:solidFill>
                  <a:srgbClr val="E5E7E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致谢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945151" y="4304940"/>
            <a:ext cx="6362700" cy="749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3600" dirty="0">
                <a:solidFill>
                  <a:srgbClr val="E5E7EB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感谢各位老师的聆听！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618023" y="5871979"/>
            <a:ext cx="3019778" cy="1749778"/>
          </a:xfrm>
          <a:custGeom>
            <a:avLst/>
            <a:gdLst/>
            <a:ahLst/>
            <a:cxnLst/>
            <a:rect l="l" t="t" r="r" b="b"/>
            <a:pathLst>
              <a:path w="3019778" h="1749778">
                <a:moveTo>
                  <a:pt x="101592" y="0"/>
                </a:moveTo>
                <a:lnTo>
                  <a:pt x="2918186" y="0"/>
                </a:lnTo>
                <a:cubicBezTo>
                  <a:pt x="2974293" y="0"/>
                  <a:pt x="3019778" y="45484"/>
                  <a:pt x="3019778" y="101592"/>
                </a:cubicBezTo>
                <a:lnTo>
                  <a:pt x="3019778" y="1648186"/>
                </a:lnTo>
                <a:cubicBezTo>
                  <a:pt x="3019778" y="1704293"/>
                  <a:pt x="2974293" y="1749778"/>
                  <a:pt x="2918186" y="1749778"/>
                </a:cubicBezTo>
                <a:lnTo>
                  <a:pt x="101592" y="1749778"/>
                </a:lnTo>
                <a:cubicBezTo>
                  <a:pt x="45484" y="1749778"/>
                  <a:pt x="0" y="1704293"/>
                  <a:pt x="0" y="1648186"/>
                </a:cubicBezTo>
                <a:lnTo>
                  <a:pt x="0" y="101592"/>
                </a:lnTo>
                <a:cubicBezTo>
                  <a:pt x="0" y="45522"/>
                  <a:pt x="45522" y="0"/>
                  <a:pt x="101592" y="0"/>
                </a:cubicBezTo>
                <a:close/>
              </a:path>
            </a:pathLst>
          </a:custGeom>
          <a:solidFill>
            <a:srgbClr val="3D4A5C">
              <a:alpha val="40000"/>
            </a:srgbClr>
          </a:solidFill>
          <a:ln w="22578">
            <a:solidFill>
              <a:srgbClr val="4F9A9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086512" y="6188075"/>
            <a:ext cx="20828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800" b="1" dirty="0">
                <a:solidFill>
                  <a:srgbClr val="4F9A9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Q &amp; 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175412" y="6950075"/>
            <a:ext cx="1905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6B728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欢迎提问与交流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234520" y="7994997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57150" y="0"/>
                </a:moveTo>
                <a:cubicBezTo>
                  <a:pt x="49247" y="0"/>
                  <a:pt x="42863" y="6385"/>
                  <a:pt x="42863" y="14288"/>
                </a:cubicBezTo>
                <a:lnTo>
                  <a:pt x="42863" y="28575"/>
                </a:lnTo>
                <a:lnTo>
                  <a:pt x="28575" y="28575"/>
                </a:lnTo>
                <a:cubicBezTo>
                  <a:pt x="12814" y="28575"/>
                  <a:pt x="0" y="41389"/>
                  <a:pt x="0" y="57150"/>
                </a:cubicBezTo>
                <a:lnTo>
                  <a:pt x="0" y="78581"/>
                </a:lnTo>
                <a:lnTo>
                  <a:pt x="200025" y="78581"/>
                </a:lnTo>
                <a:lnTo>
                  <a:pt x="200025" y="57150"/>
                </a:lnTo>
                <a:cubicBezTo>
                  <a:pt x="200025" y="41389"/>
                  <a:pt x="187211" y="28575"/>
                  <a:pt x="171450" y="28575"/>
                </a:cubicBezTo>
                <a:lnTo>
                  <a:pt x="157163" y="28575"/>
                </a:lnTo>
                <a:lnTo>
                  <a:pt x="157163" y="14288"/>
                </a:lnTo>
                <a:cubicBezTo>
                  <a:pt x="157163" y="6385"/>
                  <a:pt x="150778" y="0"/>
                  <a:pt x="142875" y="0"/>
                </a:cubicBezTo>
                <a:cubicBezTo>
                  <a:pt x="134972" y="0"/>
                  <a:pt x="128588" y="6385"/>
                  <a:pt x="128588" y="14288"/>
                </a:cubicBezTo>
                <a:lnTo>
                  <a:pt x="128588" y="28575"/>
                </a:lnTo>
                <a:lnTo>
                  <a:pt x="71438" y="28575"/>
                </a:lnTo>
                <a:lnTo>
                  <a:pt x="71438" y="14288"/>
                </a:lnTo>
                <a:cubicBezTo>
                  <a:pt x="71438" y="6385"/>
                  <a:pt x="65053" y="0"/>
                  <a:pt x="57150" y="0"/>
                </a:cubicBezTo>
                <a:close/>
                <a:moveTo>
                  <a:pt x="0" y="100013"/>
                </a:moveTo>
                <a:lnTo>
                  <a:pt x="0" y="185738"/>
                </a:lnTo>
                <a:cubicBezTo>
                  <a:pt x="0" y="201498"/>
                  <a:pt x="12814" y="214313"/>
                  <a:pt x="28575" y="214313"/>
                </a:cubicBezTo>
                <a:lnTo>
                  <a:pt x="171450" y="214313"/>
                </a:lnTo>
                <a:cubicBezTo>
                  <a:pt x="187211" y="214313"/>
                  <a:pt x="200025" y="201498"/>
                  <a:pt x="200025" y="185738"/>
                </a:cubicBezTo>
                <a:lnTo>
                  <a:pt x="200025" y="100013"/>
                </a:lnTo>
                <a:lnTo>
                  <a:pt x="0" y="100013"/>
                </a:lnTo>
                <a:close/>
              </a:path>
            </a:pathLst>
          </a:custGeom>
          <a:solidFill>
            <a:srgbClr val="4F9A94"/>
          </a:solidFill>
        </p:spPr>
      </p:sp>
      <p:sp>
        <p:nvSpPr>
          <p:cNvPr id="16" name="Text 13"/>
          <p:cNvSpPr/>
          <p:nvPr/>
        </p:nvSpPr>
        <p:spPr>
          <a:xfrm>
            <a:off x="7518682" y="7931497"/>
            <a:ext cx="15621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6B728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2025年1月4日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ags/tag1.xml><?xml version="1.0" encoding="utf-8"?>
<p:tagLst xmlns:p="http://schemas.openxmlformats.org/presentationml/2006/main">
  <p:tag name="KSO_WM_UNIT_INDEX" val="6"/>
  <p:tag name="KSO_WM_UNIT_TYPE" val="j"/>
  <p:tag name="KSO_WM_BEAUTIFY_FLAG" val="#wm#"/>
</p:tagLst>
</file>

<file path=ppt/tags/tag2.xml><?xml version="1.0" encoding="utf-8"?>
<p:tagLst xmlns:p="http://schemas.openxmlformats.org/presentationml/2006/main">
  <p:tag name="KSO_WM_UNIT_INDEX" val="6"/>
  <p:tag name="KSO_WM_UNIT_TYPE" val="j"/>
  <p:tag name="KSO_WM_BEAUTIFY_FLAG" val="#wm#"/>
</p:tagLst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4542</Words>
  <Application>WPS 演示</Application>
  <PresentationFormat>On-screen Show (16:9)</PresentationFormat>
  <Paragraphs>527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7" baseType="lpstr">
      <vt:lpstr>Arial</vt:lpstr>
      <vt:lpstr>宋体</vt:lpstr>
      <vt:lpstr>Wingdings</vt:lpstr>
      <vt:lpstr>Liter</vt:lpstr>
      <vt:lpstr>Segoe Print</vt:lpstr>
      <vt:lpstr>Liter</vt:lpstr>
      <vt:lpstr>Liter</vt:lpstr>
      <vt:lpstr>MiSans</vt:lpstr>
      <vt:lpstr>MiSans</vt:lpstr>
      <vt:lpstr>MingLiU-ExtB</vt:lpstr>
      <vt:lpstr>Calibri</vt:lpstr>
      <vt:lpstr>微软雅黑</vt:lpstr>
      <vt:lpstr>Arial Unicode MS</vt:lpstr>
      <vt:lpstr>等线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异构多活分布式数据库同步与冲突处理系统</dc:title>
  <dc:creator>Kimi</dc:creator>
  <dc:subject>异构多活分布式数据库同步与冲突处理系统</dc:subject>
  <cp:lastModifiedBy>东海</cp:lastModifiedBy>
  <cp:revision>18</cp:revision>
  <dcterms:created xsi:type="dcterms:W3CDTF">2026-01-03T18:54:00Z</dcterms:created>
  <dcterms:modified xsi:type="dcterms:W3CDTF">2026-01-04T01:08:41Z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异构多活分布式数据库同步与冲突处理系统","ContentProducer":"001191110108MACG2KBH8F10000","ProduceID":"19b84b75-5cb2-8c74-8000-00009bef2e9c","ReservedCode1":"","ContentPropagator":"001191110108MACG2KBH8F20000","PropagateID":"19b84b75-5cb2-8c74-8000-00009bef2e9c","ReservedCode2":""}</vt:lpwstr>
  </property>
  <property fmtid="{D5CDD505-2E9C-101B-9397-08002B2CF9AE}" pid="3" name="ICV">
    <vt:lpwstr>2E944009E59C446CBC9E570E7106DC1A_12</vt:lpwstr>
  </property>
  <property fmtid="{D5CDD505-2E9C-101B-9397-08002B2CF9AE}" pid="4" name="KSOProductBuildVer">
    <vt:lpwstr>2052-12.1.0.24034</vt:lpwstr>
  </property>
</Properties>
</file>